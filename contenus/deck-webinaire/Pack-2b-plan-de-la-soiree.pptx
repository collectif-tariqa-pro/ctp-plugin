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CONSIGNE — ne pas conserver cette page dans le deck final.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 les durées à l'oral, elles ne sont pas sur la slide : environ 25 minutes pour le cadre, une heure pour les six axes, 25 minutes pour les compétences, 15 pour la méthode. Les gens se perdent moins quand ils savent combien de temps dure chaque partie. Et précise tout de suite que la partie 2 est celle où ils vont noter le plus de choses.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52500" y="762000"/>
            <a:ext cx="10287000" cy="952500"/>
          </a:xfrm>
          <a:prstGeom prst="rect">
            <a:avLst/>
          </a:prstGeom>
          <a:noFill/>
        </p:spPr>
        <p:txBody>
          <a:bodyPr wrap="square" lIns="0" rIns="0" tIns="0" bIns="0" anchor="t">
            <a:spAutoFit/>
          </a:bodyPr>
          <a:lstStyle/>
          <a:p>
            <a:pPr algn="l"/>
            <a:r>
              <a:rPr sz="1600" b="1" i="0">
                <a:solidFill>
                  <a:srgbClr val="141414"/>
                </a:solidFill>
                <a:latin typeface="Poppins"/>
              </a:rPr>
              <a:t>À INSÉRER DANS TON DECK</a:t>
            </a:r>
          </a:p>
        </p:txBody>
      </p:sp>
      <p:sp>
        <p:nvSpPr>
          <p:cNvPr id="4" name="TextBox 3"/>
          <p:cNvSpPr txBox="1"/>
          <p:nvPr/>
        </p:nvSpPr>
        <p:spPr>
          <a:xfrm>
            <a:off x="952500" y="1587500"/>
            <a:ext cx="10287000" cy="1397000"/>
          </a:xfrm>
          <a:prstGeom prst="rect">
            <a:avLst/>
          </a:prstGeom>
          <a:noFill/>
        </p:spPr>
        <p:txBody>
          <a:bodyPr wrap="square" lIns="0" rIns="0" tIns="0" bIns="0" anchor="t">
            <a:spAutoFit/>
          </a:bodyPr>
          <a:lstStyle/>
          <a:p>
            <a:pPr algn="l">
              <a:lnSpc>
                <a:spcPct val="106000"/>
              </a:lnSpc>
            </a:pPr>
            <a:r>
              <a:rPr sz="4200" b="1" i="1">
                <a:solidFill>
                  <a:srgbClr val="141414"/>
                </a:solidFill>
                <a:latin typeface="Archivo"/>
              </a:rPr>
              <a:t>PLAN DE LA SOIRÉE</a:t>
            </a:r>
          </a:p>
        </p:txBody>
      </p:sp>
      <p:sp>
        <p:nvSpPr>
          <p:cNvPr id="5" name="Rectangle 4"/>
          <p:cNvSpPr/>
          <p:nvPr/>
        </p:nvSpPr>
        <p:spPr>
          <a:xfrm>
            <a:off x="952500" y="3175000"/>
            <a:ext cx="1651000" cy="508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2500" y="3556000"/>
            <a:ext cx="10287000" cy="2095500"/>
          </a:xfrm>
          <a:prstGeom prst="rect">
            <a:avLst/>
          </a:prstGeom>
          <a:noFill/>
        </p:spPr>
        <p:txBody>
          <a:bodyPr wrap="square" lIns="0" rIns="0" tIns="0" bIns="0" anchor="t">
            <a:spAutoFit/>
          </a:bodyPr>
          <a:lstStyle/>
          <a:p>
            <a:pPr algn="l">
              <a:spcAft>
                <a:spcPts val="300"/>
              </a:spcAft>
            </a:pPr>
            <a:r>
              <a:rPr sz="1500" b="1" i="0">
                <a:solidFill>
                  <a:srgbClr val="141414"/>
                </a:solidFill>
                <a:latin typeface="Poppins"/>
              </a:rPr>
              <a:t>REMPLACE</a:t>
            </a:r>
          </a:p>
          <a:p>
            <a:pPr algn="l">
              <a:lnSpc>
                <a:spcPct val="134000"/>
              </a:lnSpc>
              <a:spcAft>
                <a:spcPts val="1300"/>
              </a:spcAft>
            </a:pPr>
            <a:r>
              <a:rPr sz="1900" b="0" i="0">
                <a:solidFill>
                  <a:srgbClr val="141414"/>
                </a:solidFill>
                <a:latin typeface="Poppins"/>
              </a:rPr>
              <a:t>la slide « QUATRE PARTIES » du pack 2 — celle avec les quatre descriptions</a:t>
            </a:r>
          </a:p>
          <a:p>
            <a:pPr algn="l">
              <a:spcAft>
                <a:spcPts val="300"/>
              </a:spcAft>
            </a:pPr>
            <a:r>
              <a:rPr sz="1500" b="1" i="0">
                <a:solidFill>
                  <a:srgbClr val="141414"/>
                </a:solidFill>
                <a:latin typeface="Poppins"/>
              </a:rPr>
              <a:t>LA SLIDE TITRE</a:t>
            </a:r>
          </a:p>
          <a:p>
            <a:pPr algn="l">
              <a:lnSpc>
                <a:spcPct val="134000"/>
              </a:lnSpc>
              <a:spcAft>
                <a:spcPts val="1300"/>
              </a:spcAft>
            </a:pPr>
            <a:r>
              <a:rPr sz="1900" b="0" i="0">
                <a:solidFill>
                  <a:srgbClr val="141414"/>
                </a:solidFill>
                <a:latin typeface="Poppins"/>
              </a:rPr>
              <a:t>« LE PLAN DE LA SOIRÉE » qui la précède ne change pas, garde-la</a:t>
            </a:r>
          </a:p>
        </p:txBody>
      </p:sp>
      <p:sp>
        <p:nvSpPr>
          <p:cNvPr id="7" name="TextBox 6"/>
          <p:cNvSpPr txBox="1"/>
          <p:nvPr/>
        </p:nvSpPr>
        <p:spPr>
          <a:xfrm>
            <a:off x="952500" y="5905500"/>
            <a:ext cx="10287000" cy="444500"/>
          </a:xfrm>
          <a:prstGeom prst="rect">
            <a:avLst/>
          </a:prstGeom>
          <a:noFill/>
        </p:spPr>
        <p:txBody>
          <a:bodyPr wrap="square" lIns="0" rIns="0" tIns="0" bIns="0" anchor="t">
            <a:spAutoFit/>
          </a:bodyPr>
          <a:lstStyle/>
          <a:p>
            <a:pPr algn="l"/>
            <a:r>
              <a:rPr sz="1400" b="0" i="1">
                <a:solidFill>
                  <a:srgbClr val="141414"/>
                </a:solidFill>
                <a:latin typeface="Poppins"/>
              </a:rPr>
              <a:t>La slide qui suit remplace l'ancienne. Cette page-ci ne va pas dans le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812800" y="812800"/>
            <a:ext cx="10566400" cy="698500"/>
          </a:xfrm>
          <a:prstGeom prst="rect">
            <a:avLst/>
          </a:prstGeom>
          <a:noFill/>
        </p:spPr>
        <p:txBody>
          <a:bodyPr wrap="square" lIns="0" rIns="0" tIns="0" bIns="0" anchor="t">
            <a:spAutoFit/>
          </a:bodyPr>
          <a:lstStyle/>
          <a:p>
            <a:pPr algn="l">
              <a:lnSpc>
                <a:spcPct val="114000"/>
              </a:lnSpc>
            </a:pPr>
            <a:r>
              <a:rPr sz="2000" b="1" i="1">
                <a:solidFill>
                  <a:srgbClr val="FFFFFF"/>
                </a:solidFill>
                <a:latin typeface="Archivo"/>
              </a:rPr>
              <a:t>CE SOIR, EN QUATRE PARTIES</a:t>
            </a:r>
          </a:p>
        </p:txBody>
      </p:sp>
      <p:sp>
        <p:nvSpPr>
          <p:cNvPr id="4" name="Rectangle 3"/>
          <p:cNvSpPr/>
          <p:nvPr/>
        </p:nvSpPr>
        <p:spPr>
          <a:xfrm>
            <a:off x="812800" y="1879600"/>
            <a:ext cx="1143000" cy="25400"/>
          </a:xfrm>
          <a:prstGeom prst="rect">
            <a:avLst/>
          </a:prstGeom>
          <a:solidFill>
            <a:srgbClr val="E3A9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12800" y="2222500"/>
            <a:ext cx="10566400" cy="3822700"/>
          </a:xfrm>
          <a:prstGeom prst="rect">
            <a:avLst/>
          </a:prstGeom>
          <a:noFill/>
        </p:spPr>
        <p:txBody>
          <a:bodyPr wrap="square" lIns="0" rIns="0" tIns="0" bIns="0" anchor="t">
            <a:spAutoFit/>
          </a:bodyPr>
          <a:lstStyle/>
          <a:p>
            <a:pPr algn="l">
              <a:lnSpc>
                <a:spcPct val="142000"/>
              </a:lnSpc>
              <a:spcAft>
                <a:spcPts val="900"/>
              </a:spcAft>
            </a:pPr>
            <a:r>
              <a:rPr sz="1850" b="0" i="0">
                <a:solidFill>
                  <a:srgbClr val="FFFFFF"/>
                </a:solidFill>
                <a:latin typeface="Poppins"/>
              </a:rPr>
              <a:t>1. POSER LE CADRE — ce que notre dîn dit du business, et pourquoi vérifier le halal ne suffit pas</a:t>
            </a:r>
          </a:p>
          <a:p>
            <a:pPr algn="l">
              <a:lnSpc>
                <a:spcPct val="142000"/>
              </a:lnSpc>
              <a:spcAft>
                <a:spcPts val="900"/>
              </a:spcAft>
            </a:pPr>
            <a:r>
              <a:rPr sz="1850" b="0" i="0">
                <a:solidFill>
                  <a:srgbClr val="FFFFFF"/>
                </a:solidFill>
                <a:latin typeface="Poppins"/>
              </a:rPr>
              <a:t>2. LES SIX AXES — ton prix, ton concurrent, ton client, ta croissance, ton associé</a:t>
            </a:r>
          </a:p>
          <a:p>
            <a:pPr algn="l">
              <a:lnSpc>
                <a:spcPct val="142000"/>
              </a:lnSpc>
              <a:spcAft>
                <a:spcPts val="900"/>
              </a:spcAft>
            </a:pPr>
            <a:r>
              <a:rPr sz="1850" b="0" i="0">
                <a:solidFill>
                  <a:srgbClr val="FFFFFF"/>
                </a:solidFill>
                <a:latin typeface="Poppins"/>
              </a:rPr>
              <a:t>3. LES COMPÉTENCES — marketing digital, vente, dîn, intelligence artificielle</a:t>
            </a:r>
          </a:p>
          <a:p>
            <a:pPr algn="l">
              <a:lnSpc>
                <a:spcPct val="142000"/>
              </a:lnSpc>
              <a:spcAft>
                <a:spcPts val="900"/>
              </a:spcAft>
            </a:pPr>
            <a:r>
              <a:rPr sz="1850" b="0" i="0">
                <a:solidFill>
                  <a:srgbClr val="FFFFFF"/>
                </a:solidFill>
                <a:latin typeface="Poppins"/>
              </a:rPr>
              <a:t>4. LA MÉTHODE — comment on travaille tout ça, étape par étape, au Collectif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