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CONSIGNE — ne pas conserver cette page dans le deck final.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Poser la slide lentement. C'est le pivot de l'axe : un tableau de bord ne modélise que le connu. Tout ce qui arrive par une porte que tu n'avais pas dessinée n'a, par construction, aucune ligne où s'inscrire.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À NE PAS SURINTERPRÉTER EN DIRECT. La condition posée par le verset est la taqwa, la crainte de Dieu — ce n'est pas « arrête de mesurer ». Le verset ne dit pas que mesurer est mauvais. Ce qu'il établit, c'est que la source de la subsistance n'est pas enfermée dans ce que tu sais prévoir. Dis-le dans ce sens-là, sinon un auditeur attentif aura raison de tiquer. À faire valider par Oussama avant le direct.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Enchaîner directement sur l'action de l'axe : ajoute une ligne non chiffrable, et place-la en premier. Ce n'est pas de la décoration — c'est la seule façon de garder une place pour ce que le tableau ne sait pas voir.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2500" y="762000"/>
            <a:ext cx="10287000" cy="952500"/>
          </a:xfrm>
          <a:prstGeom prst="rect">
            <a:avLst/>
          </a:prstGeom>
          <a:noFill/>
        </p:spPr>
        <p:txBody>
          <a:bodyPr wrap="square" lIns="0" rIns="0" tIns="0" bIns="0" anchor="t">
            <a:spAutoFit/>
          </a:bodyPr>
          <a:lstStyle/>
          <a:p>
            <a:pPr algn="l"/>
            <a:r>
              <a:rPr sz="1600" b="1" i="0">
                <a:solidFill>
                  <a:srgbClr val="141414"/>
                </a:solidFill>
                <a:latin typeface="Poppins"/>
              </a:rPr>
              <a:t>À INSÉRER DANS TON DECK</a:t>
            </a:r>
          </a:p>
        </p:txBody>
      </p:sp>
      <p:sp>
        <p:nvSpPr>
          <p:cNvPr id="4" name="TextBox 3"/>
          <p:cNvSpPr txBox="1"/>
          <p:nvPr/>
        </p:nvSpPr>
        <p:spPr>
          <a:xfrm>
            <a:off x="952500" y="1587500"/>
            <a:ext cx="10287000" cy="1397000"/>
          </a:xfrm>
          <a:prstGeom prst="rect">
            <a:avLst/>
          </a:prstGeom>
          <a:noFill/>
        </p:spPr>
        <p:txBody>
          <a:bodyPr wrap="square" lIns="0" rIns="0" tIns="0" bIns="0" anchor="t">
            <a:spAutoFit/>
          </a:bodyPr>
          <a:lstStyle/>
          <a:p>
            <a:pPr algn="l">
              <a:lnSpc>
                <a:spcPct val="106000"/>
              </a:lnSpc>
            </a:pPr>
            <a:r>
              <a:rPr sz="3900" b="1" i="1">
                <a:solidFill>
                  <a:srgbClr val="141414"/>
                </a:solidFill>
                <a:latin typeface="Archivo"/>
              </a:rPr>
              <a:t>AT-TALAQ 65:2-3</a:t>
            </a:r>
          </a:p>
        </p:txBody>
      </p:sp>
      <p:sp>
        <p:nvSpPr>
          <p:cNvPr id="5" name="Rectangle 4"/>
          <p:cNvSpPr/>
          <p:nvPr/>
        </p:nvSpPr>
        <p:spPr>
          <a:xfrm>
            <a:off x="952500" y="3175000"/>
            <a:ext cx="1651000" cy="508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3556000"/>
            <a:ext cx="10287000" cy="2095500"/>
          </a:xfrm>
          <a:prstGeom prst="rect">
            <a:avLst/>
          </a:prstGeom>
          <a:noFill/>
        </p:spPr>
        <p:txBody>
          <a:bodyPr wrap="square" lIns="0" rIns="0" tIns="0" bIns="0" anchor="t">
            <a:spAutoFit/>
          </a:bodyPr>
          <a:lstStyle/>
          <a:p>
            <a:pPr algn="l">
              <a:spcAft>
                <a:spcPts val="300"/>
              </a:spcAft>
            </a:pPr>
            <a:r>
              <a:rPr sz="1500" b="1" i="0">
                <a:solidFill>
                  <a:srgbClr val="141414"/>
                </a:solidFill>
                <a:latin typeface="Poppins"/>
              </a:rPr>
              <a:t>APRÈS ta slide</a:t>
            </a:r>
          </a:p>
          <a:p>
            <a:pPr algn="l">
              <a:lnSpc>
                <a:spcPct val="134000"/>
              </a:lnSpc>
              <a:spcAft>
                <a:spcPts val="1300"/>
              </a:spcAft>
            </a:pPr>
            <a:r>
              <a:rPr sz="1900" b="0" i="0">
                <a:solidFill>
                  <a:srgbClr val="141414"/>
                </a:solidFill>
                <a:latin typeface="Poppins"/>
              </a:rPr>
              <a:t>du verset at-Takāthur « LA COURSE AU “PLUS” VOUS A DISTRAITS… »</a:t>
            </a:r>
          </a:p>
          <a:p>
            <a:pPr algn="l">
              <a:spcAft>
                <a:spcPts val="300"/>
              </a:spcAft>
            </a:pPr>
            <a:r>
              <a:rPr sz="1500" b="1" i="0">
                <a:solidFill>
                  <a:srgbClr val="141414"/>
                </a:solidFill>
                <a:latin typeface="Poppins"/>
              </a:rPr>
              <a:t>AVANT ta slide</a:t>
            </a:r>
          </a:p>
          <a:p>
            <a:pPr algn="l">
              <a:lnSpc>
                <a:spcPct val="134000"/>
              </a:lnSpc>
              <a:spcAft>
                <a:spcPts val="1300"/>
              </a:spcAft>
            </a:pPr>
            <a:r>
              <a:rPr sz="1900" b="0" i="0">
                <a:solidFill>
                  <a:srgbClr val="141414"/>
                </a:solidFill>
                <a:latin typeface="Poppins"/>
              </a:rPr>
              <a:t>« QUAND EST-CE QUE TU AS GAGNÉ ? »</a:t>
            </a:r>
          </a:p>
          <a:p>
            <a:pPr algn="l">
              <a:spcAft>
                <a:spcPts val="300"/>
              </a:spcAft>
            </a:pPr>
            <a:r>
              <a:rPr sz="1500" b="1" i="0">
                <a:solidFill>
                  <a:srgbClr val="141414"/>
                </a:solidFill>
                <a:latin typeface="Poppins"/>
              </a:rPr>
              <a:t>POURQUOI LÀ</a:t>
            </a:r>
          </a:p>
          <a:p>
            <a:pPr algn="l">
              <a:lnSpc>
                <a:spcPct val="134000"/>
              </a:lnSpc>
              <a:spcAft>
                <a:spcPts val="1300"/>
              </a:spcAft>
            </a:pPr>
            <a:r>
              <a:rPr sz="1900" b="0" i="0">
                <a:solidFill>
                  <a:srgbClr val="141414"/>
                </a:solidFill>
                <a:latin typeface="Poppins"/>
              </a:rPr>
              <a:t>les deux versets se répondent : l'un sur le piège de compter,</a:t>
            </a:r>
          </a:p>
          <a:p>
            <a:pPr algn="l">
              <a:spcAft>
                <a:spcPts val="300"/>
              </a:spcAft>
            </a:pPr>
            <a:r>
              <a:rPr sz="1500" b="1" i="0">
                <a:solidFill>
                  <a:srgbClr val="141414"/>
                </a:solidFill>
                <a:latin typeface="Poppins"/>
              </a:rPr>
              <a:t/>
            </a:r>
          </a:p>
          <a:p>
            <a:pPr algn="l">
              <a:lnSpc>
                <a:spcPct val="134000"/>
              </a:lnSpc>
              <a:spcAft>
                <a:spcPts val="1300"/>
              </a:spcAft>
            </a:pPr>
            <a:r>
              <a:rPr sz="1900" b="0" i="0">
                <a:solidFill>
                  <a:srgbClr val="141414"/>
                </a:solidFill>
                <a:latin typeface="Poppins"/>
              </a:rPr>
              <a:t>l'autre sur ce qui arrive hors de tout calcul.</a:t>
            </a:r>
          </a:p>
        </p:txBody>
      </p:sp>
      <p:sp>
        <p:nvSpPr>
          <p:cNvPr id="7" name="TextBox 6"/>
          <p:cNvSpPr txBox="1"/>
          <p:nvPr/>
        </p:nvSpPr>
        <p:spPr>
          <a:xfrm>
            <a:off x="952500" y="5905500"/>
            <a:ext cx="10287000" cy="444500"/>
          </a:xfrm>
          <a:prstGeom prst="rect">
            <a:avLst/>
          </a:prstGeom>
          <a:noFill/>
        </p:spPr>
        <p:txBody>
          <a:bodyPr wrap="square" lIns="0" rIns="0" tIns="0" bIns="0" anchor="t">
            <a:spAutoFit/>
          </a:bodyPr>
          <a:lstStyle/>
          <a:p>
            <a:pPr algn="l"/>
            <a:r>
              <a:rPr sz="1400" b="0" i="1">
                <a:solidFill>
                  <a:srgbClr val="141414"/>
                </a:solidFill>
                <a:latin typeface="Poppins"/>
              </a:rPr>
              <a:t>Les 3 slides qui suivent forment le bloc. Cette page-ci ne va pas dans le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Si tu ne comptes que ce qui se compte,</a:t>
            </a:r>
          </a:p>
          <a:p>
            <a:pPr algn="ctr">
              <a:lnSpc>
                <a:spcPct val="134000"/>
              </a:lnSpc>
              <a:spcAft>
                <a:spcPts val="900"/>
              </a:spcAft>
            </a:pPr>
            <a:r>
              <a:rPr sz="2600" b="0" i="0">
                <a:solidFill>
                  <a:srgbClr val="FFFFFF"/>
                </a:solidFill>
                <a:latin typeface="Poppins"/>
              </a:rPr>
              <a:t>tu ne verras venir</a:t>
            </a:r>
          </a:p>
          <a:p>
            <a:pPr algn="ctr">
              <a:lnSpc>
                <a:spcPct val="134000"/>
              </a:lnSpc>
              <a:spcAft>
                <a:spcPts val="900"/>
              </a:spcAft>
            </a:pPr>
            <a:r>
              <a:rPr sz="2600" b="0" i="0">
                <a:solidFill>
                  <a:srgbClr val="E3A94F"/>
                </a:solidFill>
                <a:latin typeface="Poppins"/>
              </a:rPr>
              <a:t>que ce que tu avais déjà prévu.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 ET QUICONQUE CRAINT ALLAH, IL LUI DONNERA UNE ISSUE, ET LUI ACCORDERA SA SUBSISTANCE D'OÙ IL NE S'Y ATTEND PAS. »</a:t>
            </a:r>
          </a:p>
          <a:p>
            <a:pPr algn="ctr">
              <a:spcAft>
                <a:spcPts val="1700"/>
              </a:spcAft>
            </a:pPr>
            <a:r>
              <a:rPr sz="1400" b="0" i="1">
                <a:solidFill>
                  <a:srgbClr val="E3A94F"/>
                </a:solidFill>
                <a:latin typeface="Poppins"/>
              </a:rPr>
              <a:t>— Sourate At-Talaq, 65:2-3 —</a:t>
            </a:r>
          </a:p>
          <a:p>
            <a:pPr algn="ctr">
              <a:lnSpc>
                <a:spcPct val="170000"/>
              </a:lnSpc>
              <a:spcAft>
                <a:spcPts val="500"/>
              </a:spcAft>
            </a:pPr>
            <a:r>
              <a:rPr sz="2300" b="0" i="0">
                <a:solidFill>
                  <a:srgbClr val="FFFFFF"/>
                </a:solidFill>
                <a:latin typeface="Noto Naskh Arabic"/>
              </a:rPr>
              <a:t>﴿ وَمَن يَتَّقِ اللَّهَ يَجْعَل لَّهُ مَخْرَجًا ۝ وَيَرْزُقْهُ مِنْ حَيْثُ لَا يَحْتَسِبُ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Ton tableau de bord n'a pas de colonne</a:t>
            </a:r>
          </a:p>
          <a:p>
            <a:pPr algn="ctr">
              <a:lnSpc>
                <a:spcPct val="134000"/>
              </a:lnSpc>
              <a:spcAft>
                <a:spcPts val="900"/>
              </a:spcAft>
            </a:pPr>
            <a:r>
              <a:rPr sz="2600" b="0" i="0">
                <a:solidFill>
                  <a:srgbClr val="E3A94F"/>
                </a:solidFill>
                <a:latin typeface="Poppins"/>
              </a:rPr>
              <a:t>pour ce qui vient d'où tu ne l'attendais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