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CONSIGNE — ne pas conserver cette page dans le deck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verset que cite le Dr Chauki Lazhar sur l'interdépendance. Attention au mot سخريا : il désigne ici le fait de prendre l'autre à son service, l'entraide fonctionnelle — pas la moquerie. C'est la lecture retenue par les traducteurs classiques, Hamidullah compris. Chaîne et traduction à faire confirmer par Oussama avant le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FACULTATIF — slide d'ouverture, à placer AVANT le verset si tu veux poser la question au chat. Pourquoi est-ce que personne, jamais, n'a toutes les compétences, tout le capital, tout le réseau ? Les réponses parleront de hasard, de chance, d'injustice. Le verset répond autre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FACULTATIF. Insister sur la deuxième ligne. C'est contre-intuitif et c'est tout le poids du verset : l'inégalité des dotations est décrite comme intentionnelle, et sa fonction est de rendre les gens nécessaires les uns aux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FACULTATIF. Le dire calmement : c'est la traduction du verset en une phrase que tout le monde comprend. Enchaîner sur : l'interdépendance n'est pas un accident du système, c'est le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FACULTATIF. Enchaîner sur le hadith « la Main d'Allah est avec le groupe ». Et rappeler que le Prophète ﷺ avait un associé, avait des compagnons, et pratiquait la choura — il demandait l'avis des autres malgré la révélation.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762000"/>
            <a:ext cx="10287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Poppins"/>
              </a:rPr>
              <a:t>À INSÉRER DANS TON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524000"/>
            <a:ext cx="1028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700" b="1" i="1">
                <a:solidFill>
                  <a:srgbClr val="141414"/>
                </a:solidFill>
                <a:latin typeface="Archivo"/>
              </a:rPr>
              <a:t>AZ-ZUKHRUF 43:32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3048000"/>
            <a:ext cx="1651000" cy="50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3429000"/>
            <a:ext cx="10287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1414"/>
                </a:solidFill>
                <a:latin typeface="Poppins"/>
              </a:rPr>
              <a:t>LA SLIDE DEMANDÉE</a:t>
            </a:r>
          </a:p>
          <a:p>
            <a:pPr algn="l">
              <a:lnSpc>
                <a:spcPct val="132000"/>
              </a:lnSpc>
              <a:spcAft>
                <a:spcPts val="1100"/>
              </a:spcAft>
            </a:pPr>
            <a:r>
              <a:rPr sz="1800" b="0" i="0">
                <a:solidFill>
                  <a:srgbClr val="141414"/>
                </a:solidFill>
                <a:latin typeface="Poppins"/>
              </a:rPr>
              <a:t>c'est la suivante, page 2 : le verset.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1414"/>
                </a:solidFill>
                <a:latin typeface="Poppins"/>
              </a:rPr>
              <a:t>APRÈS ta slide</a:t>
            </a:r>
          </a:p>
          <a:p>
            <a:pPr algn="l">
              <a:lnSpc>
                <a:spcPct val="132000"/>
              </a:lnSpc>
              <a:spcAft>
                <a:spcPts val="1100"/>
              </a:spcAft>
            </a:pPr>
            <a:r>
              <a:rPr sz="1800" b="0" i="0">
                <a:solidFill>
                  <a:srgbClr val="141414"/>
                </a:solidFill>
                <a:latin typeface="Poppins"/>
              </a:rPr>
              <a:t>« CE QUE L'ABONDANCE PERMET » — Ibn ʿAwf et le tiers de Médine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1414"/>
                </a:solidFill>
                <a:latin typeface="Poppins"/>
              </a:rPr>
              <a:t>AVANT ta slide</a:t>
            </a:r>
          </a:p>
          <a:p>
            <a:pPr algn="l">
              <a:lnSpc>
                <a:spcPct val="132000"/>
              </a:lnSpc>
              <a:spcAft>
                <a:spcPts val="1100"/>
              </a:spcAft>
            </a:pPr>
            <a:r>
              <a:rPr sz="1800" b="0" i="0">
                <a:solidFill>
                  <a:srgbClr val="141414"/>
                </a:solidFill>
                <a:latin typeface="Poppins"/>
              </a:rPr>
              <a:t>« يَدُ اللَّهِ مَعَ الْجَمَاعَةِ / La Main d'Allah est avec le groupe »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41414"/>
                </a:solidFill>
                <a:latin typeface="Poppins"/>
              </a:rPr>
              <a:t>LES PAGES 3 À 6</a:t>
            </a:r>
          </a:p>
          <a:p>
            <a:pPr algn="l">
              <a:lnSpc>
                <a:spcPct val="132000"/>
              </a:lnSpc>
              <a:spcAft>
                <a:spcPts val="1100"/>
              </a:spcAft>
            </a:pPr>
            <a:r>
              <a:rPr sz="1800" b="0" i="0">
                <a:solidFill>
                  <a:srgbClr val="141414"/>
                </a:solidFill>
                <a:latin typeface="Poppins"/>
              </a:rPr>
              <a:t>sont facultatives : elles déplient le verset si tu veux y passer du temps.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5937250"/>
            <a:ext cx="10287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41414"/>
                </a:solidFill>
                <a:latin typeface="Poppins"/>
              </a:rPr>
              <a:t>Prends la page 2 seule, ou le bloc entier. Cette page-ci ne va pas dans le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1500"/>
              </a:spcAft>
            </a:pPr>
            <a:r>
              <a:rPr sz="2400" b="1" i="0">
                <a:solidFill>
                  <a:srgbClr val="FFFFFF"/>
                </a:solidFill>
                <a:latin typeface="Oswald"/>
              </a:rPr>
              <a:t>« C'EST NOUS QUI AVONS RÉPARTI ENTRE EUX LEUR SUBSISTANCE DANS LA VIE PRÉSENTE, ET NOUS AVONS ÉLEVÉ EN GRADES LES UNS AU-DESSUS DES AUTRES, AFIN QUE LES UNS PRENNENT LES AUTRES À LEUR SERVICE. »</a:t>
            </a:r>
          </a:p>
          <a:p>
            <a:pPr algn="ctr">
              <a:spcAft>
                <a:spcPts val="1700"/>
              </a:spcAft>
            </a:pPr>
            <a:r>
              <a:rPr sz="1400" b="0" i="1">
                <a:solidFill>
                  <a:srgbClr val="E3A94F"/>
                </a:solidFill>
                <a:latin typeface="Poppins"/>
              </a:rPr>
              <a:t>— Sourate az-Zukhruf, 43:32 —</a:t>
            </a:r>
          </a:p>
          <a:p>
            <a:pPr algn="ctr">
              <a:lnSpc>
                <a:spcPct val="170000"/>
              </a:lnSpc>
              <a:spcAft>
                <a:spcPts val="500"/>
              </a:spcAft>
            </a:pPr>
            <a:r>
              <a:rPr sz="2300" b="0" i="0">
                <a:solidFill>
                  <a:srgbClr val="FFFFFF"/>
                </a:solidFill>
                <a:latin typeface="Noto Naskh Arabic"/>
              </a:rPr>
              <a:t>﴿ وَرَفَعْنَا بَعْضَهُمْ فَوْقَ بَعْضٍ دَرَجَاتٍ لِّيَتَّخِذَ بَعْضُهُم بَعْضًا سُخْرِيًّا 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5000" b="1" i="1">
                <a:solidFill>
                  <a:srgbClr val="FFFFFF"/>
                </a:solidFill>
                <a:latin typeface="Archivo"/>
              </a:rPr>
              <a:t>POURQUOI PERSONNE</a:t>
            </a:r>
          </a:p>
          <a:p>
            <a:pPr algn="ctr">
              <a:lnSpc>
                <a:spcPct val="106000"/>
              </a:lnSpc>
            </a:pPr>
            <a:r>
              <a:rPr sz="5000" b="1" i="1">
                <a:solidFill>
                  <a:srgbClr val="FFFFFF"/>
                </a:solidFill>
                <a:latin typeface="Archivo"/>
              </a:rPr>
              <a:t>N'A TOUT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LIRE CE QU'IL DIT EXACTEMENT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Il ne dit pas : soyez solidaires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Il dit que les dotations sont INÉGALES — et que c'est voulu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Et il donne la raison : pour que les uns prennent les autres à leur service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L'inégalité n'est pas un défaut du monde. C'est une fonction.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Si tu avais tout,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tu n'aurais besoin de personne.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Et personne n'aurait besoin de toi.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Alors le self-made man n'est pas seulement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une erreur de fait.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C'est une négation de la fonction de l'inégalité.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