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CONSIGNE — ne pas conserver cette page dans le deck final.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Poser la question franchement, en regardant la caméra. C'est la question que tout le monde se pose depuis le début de l'axe et que personne n'ose formuler. Si tu ne la poses pas toi-même, le public entendra tout le reste comme une condamnation du profit.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se sous-vendre trahit la valeur qu'on apporte, appauvrit l'entrepreneur, et finit par priver ses clients d'un service qui n'existera plus. Il ne faut pas se complexer avec l'argent gagné honnêtement.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Ménager le suspense : le public s'attend à un reproche.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Compagnon du Prophète ﷺ. Le récit est rapporté par al-Bukhârî. Prendre le temps de le raconter comme une histoire, pas comme une référence.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ligne est à vérifier dans sa formulation exacte (« لو اشترى التراب لربح فيه ») — à faire confirmer par Oussama avant le direct. Elle est magnifique mais ne la cite pas comme texte si le doute subsiste : dis simplement « on rapporte que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un temps. C'est la réponse à la question posée quatre slides plus haut.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Formulation de l'invocation à faire valider par Oussama : plusieurs versions circulent. Le point qui compte et qui ne fait pas débat : l'invocation porte sur le COMMERCE, sur l'opération — pas sur le montant obtenu. Il n'a pas été félicité d'avoir gagné un dinar. Il a été béni dans sa manière de commercer.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Enchaîner directement sur ta slide suivante : « C'est l'opération qui est bénie. L'acte d'échanger. Pas le solde.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2500" y="762000"/>
            <a:ext cx="10287000" cy="952500"/>
          </a:xfrm>
          <a:prstGeom prst="rect">
            <a:avLst/>
          </a:prstGeom>
          <a:noFill/>
        </p:spPr>
        <p:txBody>
          <a:bodyPr wrap="square" lIns="0" rIns="0" tIns="0" bIns="0" anchor="t">
            <a:spAutoFit/>
          </a:bodyPr>
          <a:lstStyle/>
          <a:p>
            <a:pPr algn="l"/>
            <a:r>
              <a:rPr sz="1600" b="1" i="0">
                <a:solidFill>
                  <a:srgbClr val="141414"/>
                </a:solidFill>
                <a:latin typeface="Poppins"/>
              </a:rPr>
              <a:t>À INSÉRER DANS TON DECK</a:t>
            </a:r>
          </a:p>
        </p:txBody>
      </p:sp>
      <p:sp>
        <p:nvSpPr>
          <p:cNvPr id="4" name="TextBox 3"/>
          <p:cNvSpPr txBox="1"/>
          <p:nvPr/>
        </p:nvSpPr>
        <p:spPr>
          <a:xfrm>
            <a:off x="952500" y="1524000"/>
            <a:ext cx="10287000" cy="1270000"/>
          </a:xfrm>
          <a:prstGeom prst="rect">
            <a:avLst/>
          </a:prstGeom>
          <a:noFill/>
        </p:spPr>
        <p:txBody>
          <a:bodyPr wrap="square" lIns="0" rIns="0" tIns="0" bIns="0" anchor="t">
            <a:spAutoFit/>
          </a:bodyPr>
          <a:lstStyle/>
          <a:p>
            <a:pPr algn="l">
              <a:lnSpc>
                <a:spcPct val="106000"/>
              </a:lnSpc>
            </a:pPr>
            <a:r>
              <a:rPr sz="3700" b="1" i="1">
                <a:solidFill>
                  <a:srgbClr val="141414"/>
                </a:solidFill>
                <a:latin typeface="Archivo"/>
              </a:rPr>
              <a:t>ʿURWA AL-BĀRIQĪ, VERSION LONGUE</a:t>
            </a:r>
          </a:p>
        </p:txBody>
      </p:sp>
      <p:sp>
        <p:nvSpPr>
          <p:cNvPr id="5" name="Rectangle 4"/>
          <p:cNvSpPr/>
          <p:nvPr/>
        </p:nvSpPr>
        <p:spPr>
          <a:xfrm>
            <a:off x="952500" y="3048000"/>
            <a:ext cx="1651000" cy="508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500" y="3429000"/>
            <a:ext cx="10287000" cy="2286000"/>
          </a:xfrm>
          <a:prstGeom prst="rect">
            <a:avLst/>
          </a:prstGeom>
          <a:noFill/>
        </p:spPr>
        <p:txBody>
          <a:bodyPr wrap="square" lIns="0" rIns="0" tIns="0" bIns="0" anchor="t">
            <a:spAutoFit/>
          </a:bodyPr>
          <a:lstStyle/>
          <a:p>
            <a:pPr algn="l">
              <a:spcAft>
                <a:spcPts val="300"/>
              </a:spcAft>
            </a:pPr>
            <a:r>
              <a:rPr sz="1500" b="1" i="0">
                <a:solidFill>
                  <a:srgbClr val="141414"/>
                </a:solidFill>
                <a:latin typeface="Poppins"/>
              </a:rPr>
              <a:t>REMPLACE</a:t>
            </a:r>
          </a:p>
          <a:p>
            <a:pPr algn="l">
              <a:lnSpc>
                <a:spcPct val="132000"/>
              </a:lnSpc>
              <a:spcAft>
                <a:spcPts val="1100"/>
              </a:spcAft>
            </a:pPr>
            <a:r>
              <a:rPr sz="1800" b="0" i="0">
                <a:solidFill>
                  <a:srgbClr val="141414"/>
                </a:solidFill>
                <a:latin typeface="Poppins"/>
              </a:rPr>
              <a:t>ta slide « ʿURWA AL-BĀRIQĪ » et sa liste de quatre lignes</a:t>
            </a:r>
          </a:p>
          <a:p>
            <a:pPr algn="l">
              <a:spcAft>
                <a:spcPts val="300"/>
              </a:spcAft>
            </a:pPr>
            <a:r>
              <a:rPr sz="1500" b="1" i="0">
                <a:solidFill>
                  <a:srgbClr val="141414"/>
                </a:solidFill>
                <a:latin typeface="Poppins"/>
              </a:rPr>
              <a:t>DONC APRÈS</a:t>
            </a:r>
          </a:p>
          <a:p>
            <a:pPr algn="l">
              <a:lnSpc>
                <a:spcPct val="132000"/>
              </a:lnSpc>
              <a:spcAft>
                <a:spcPts val="1100"/>
              </a:spcAft>
            </a:pPr>
            <a:r>
              <a:rPr sz="1800" b="0" i="0">
                <a:solidFill>
                  <a:srgbClr val="141414"/>
                </a:solidFill>
                <a:latin typeface="Poppins"/>
              </a:rPr>
              <a:t>« QUE DIEU FASSE MISÉRICORDE À L'HOMME INDULGENT… »</a:t>
            </a:r>
          </a:p>
          <a:p>
            <a:pPr algn="l">
              <a:spcAft>
                <a:spcPts val="300"/>
              </a:spcAft>
            </a:pPr>
            <a:r>
              <a:rPr sz="1500" b="1" i="0">
                <a:solidFill>
                  <a:srgbClr val="141414"/>
                </a:solidFill>
                <a:latin typeface="Poppins"/>
              </a:rPr>
              <a:t>ET AVANT</a:t>
            </a:r>
          </a:p>
          <a:p>
            <a:pPr algn="l">
              <a:lnSpc>
                <a:spcPct val="132000"/>
              </a:lnSpc>
              <a:spcAft>
                <a:spcPts val="1100"/>
              </a:spcAft>
            </a:pPr>
            <a:r>
              <a:rPr sz="1800" b="0" i="0">
                <a:solidFill>
                  <a:srgbClr val="141414"/>
                </a:solidFill>
                <a:latin typeface="Poppins"/>
              </a:rPr>
              <a:t>« C'est l'opération qui est bénie. L'acte d'échanger. Pas le solde. »</a:t>
            </a:r>
          </a:p>
          <a:p>
            <a:pPr algn="l">
              <a:spcAft>
                <a:spcPts val="300"/>
              </a:spcAft>
            </a:pPr>
            <a:r>
              <a:rPr sz="1500" b="1" i="0">
                <a:solidFill>
                  <a:srgbClr val="141414"/>
                </a:solidFill>
                <a:latin typeface="Poppins"/>
              </a:rPr>
              <a:t>CELLE-LÀ</a:t>
            </a:r>
          </a:p>
          <a:p>
            <a:pPr algn="l">
              <a:lnSpc>
                <a:spcPct val="132000"/>
              </a:lnSpc>
              <a:spcAft>
                <a:spcPts val="1100"/>
              </a:spcAft>
            </a:pPr>
            <a:r>
              <a:rPr sz="1800" b="0" i="0">
                <a:solidFill>
                  <a:srgbClr val="141414"/>
                </a:solidFill>
                <a:latin typeface="Poppins"/>
              </a:rPr>
              <a:t>tu la gardes : elle clôt le bloc.</a:t>
            </a:r>
          </a:p>
        </p:txBody>
      </p:sp>
      <p:sp>
        <p:nvSpPr>
          <p:cNvPr id="7" name="TextBox 6"/>
          <p:cNvSpPr txBox="1"/>
          <p:nvPr/>
        </p:nvSpPr>
        <p:spPr>
          <a:xfrm>
            <a:off x="952500" y="5937250"/>
            <a:ext cx="10287000" cy="444500"/>
          </a:xfrm>
          <a:prstGeom prst="rect">
            <a:avLst/>
          </a:prstGeom>
          <a:noFill/>
        </p:spPr>
        <p:txBody>
          <a:bodyPr wrap="square" lIns="0" rIns="0" tIns="0" bIns="0" anchor="t">
            <a:spAutoFit/>
          </a:bodyPr>
          <a:lstStyle/>
          <a:p>
            <a:pPr algn="l"/>
            <a:r>
              <a:rPr sz="1400" b="0" i="1">
                <a:solidFill>
                  <a:srgbClr val="141414"/>
                </a:solidFill>
                <a:latin typeface="Poppins"/>
              </a:rPr>
              <a:t>Les 7 slides qui suivent forment le bloc. Cette page-ci ne va pas dans le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3900" b="1" i="1">
                <a:solidFill>
                  <a:srgbClr val="FFFFFF"/>
                </a:solidFill>
                <a:latin typeface="Archivo"/>
              </a:rPr>
              <a:t>EST-CE QU'IL Y A UN PROBLÈME</a:t>
            </a:r>
          </a:p>
          <a:p>
            <a:pPr algn="ctr">
              <a:lnSpc>
                <a:spcPct val="106000"/>
              </a:lnSpc>
            </a:pPr>
            <a:r>
              <a:rPr sz="3900" b="1" i="1">
                <a:solidFill>
                  <a:srgbClr val="FFFFFF"/>
                </a:solidFill>
                <a:latin typeface="Archivo"/>
              </a:rPr>
              <a:t>À BIEN MARGER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CE QU'ON N'EST PAS EN TRAIN DE DIRE</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CFCFCF"/>
                </a:solidFill>
                <a:latin typeface="Poppins"/>
              </a:rPr>
              <a:t>❌ Que le profit serait suspect</a:t>
            </a:r>
          </a:p>
          <a:p>
            <a:pPr algn="l">
              <a:lnSpc>
                <a:spcPct val="142000"/>
              </a:lnSpc>
              <a:spcAft>
                <a:spcPts val="900"/>
              </a:spcAft>
            </a:pPr>
            <a:r>
              <a:rPr sz="1850" b="0" i="0">
                <a:solidFill>
                  <a:srgbClr val="CFCFCF"/>
                </a:solidFill>
                <a:latin typeface="Poppins"/>
              </a:rPr>
              <a:t>❌ Qu'il faudrait vendre au prix coûtant</a:t>
            </a:r>
          </a:p>
          <a:p>
            <a:pPr algn="l">
              <a:lnSpc>
                <a:spcPct val="142000"/>
              </a:lnSpc>
              <a:spcAft>
                <a:spcPts val="900"/>
              </a:spcAft>
            </a:pPr>
            <a:r>
              <a:rPr sz="1850" b="0" i="0">
                <a:solidFill>
                  <a:srgbClr val="CFCFCF"/>
                </a:solidFill>
                <a:latin typeface="Poppins"/>
              </a:rPr>
              <a:t>❌ Qu'une grosse marge serait un péché</a:t>
            </a:r>
          </a:p>
          <a:p>
            <a:pPr algn="l">
              <a:lnSpc>
                <a:spcPct val="142000"/>
              </a:lnSpc>
              <a:spcAft>
                <a:spcPts val="900"/>
              </a:spcAft>
            </a:pPr>
            <a:r>
              <a:rPr sz="1850" b="0" i="0">
                <a:solidFill>
                  <a:srgbClr val="E3A94F"/>
                </a:solidFill>
                <a:latin typeface="Poppins"/>
              </a:rPr>
              <a:t>👉 Rien de tout ça. Le profit est licite, et le commerce est un chemin noble.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Alors prenons quelqu'un</a:t>
            </a:r>
          </a:p>
          <a:p>
            <a:pPr algn="ctr">
              <a:lnSpc>
                <a:spcPct val="134000"/>
              </a:lnSpc>
              <a:spcAft>
                <a:spcPts val="900"/>
              </a:spcAft>
            </a:pPr>
            <a:r>
              <a:rPr sz="2600" b="0" i="0">
                <a:solidFill>
                  <a:srgbClr val="FFFFFF"/>
                </a:solidFill>
                <a:latin typeface="Poppins"/>
              </a:rPr>
              <a:t>qui a doublé sa mise en une seule opération.</a:t>
            </a:r>
          </a:p>
          <a:p>
            <a:pPr algn="ctr">
              <a:lnSpc>
                <a:spcPct val="134000"/>
              </a:lnSpc>
              <a:spcAft>
                <a:spcPts val="900"/>
              </a:spcAft>
            </a:pPr>
            <a:r>
              <a:rPr sz="2600" b="0" i="0">
                <a:solidFill>
                  <a:srgbClr val="E3A94F"/>
                </a:solidFill>
                <a:latin typeface="Poppins"/>
              </a:rPr>
              <a:t>Et regardons ce que le Prophète ﷺ lui a dit.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06000"/>
              </a:lnSpc>
            </a:pPr>
            <a:r>
              <a:rPr sz="5000" b="1" i="1">
                <a:solidFill>
                  <a:srgbClr val="FFFFFF"/>
                </a:solidFill>
                <a:latin typeface="Archivo"/>
              </a:rPr>
              <a:t>ʿURWA IBN AL-JAʿD</a:t>
            </a:r>
          </a:p>
          <a:p>
            <a:pPr algn="ctr">
              <a:lnSpc>
                <a:spcPct val="106000"/>
              </a:lnSpc>
            </a:pPr>
            <a:r>
              <a:rPr sz="5000" b="1" i="1">
                <a:solidFill>
                  <a:srgbClr val="FFFFFF"/>
                </a:solidFill>
                <a:latin typeface="Archivo"/>
              </a:rPr>
              <a:t>AL-BĀRIQĪ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UN DINAR, ET CE QU'IL EN A FAIT</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600" b="0" i="0">
                <a:solidFill>
                  <a:srgbClr val="FFFFFF"/>
                </a:solidFill>
                <a:latin typeface="Poppins"/>
              </a:rPr>
              <a:t>Le Prophète ﷺ lui confie un dinar pour lui acheter une bête</a:t>
            </a:r>
          </a:p>
          <a:p>
            <a:pPr algn="l">
              <a:lnSpc>
                <a:spcPct val="142000"/>
              </a:lnSpc>
              <a:spcAft>
                <a:spcPts val="900"/>
              </a:spcAft>
            </a:pPr>
            <a:r>
              <a:rPr sz="1600" b="0" i="0">
                <a:solidFill>
                  <a:srgbClr val="FFFFFF"/>
                </a:solidFill>
                <a:latin typeface="Poppins"/>
              </a:rPr>
              <a:t>Il en achète deux pour ce même dinar</a:t>
            </a:r>
          </a:p>
          <a:p>
            <a:pPr algn="l">
              <a:lnSpc>
                <a:spcPct val="142000"/>
              </a:lnSpc>
              <a:spcAft>
                <a:spcPts val="900"/>
              </a:spcAft>
            </a:pPr>
            <a:r>
              <a:rPr sz="1600" b="0" i="0">
                <a:solidFill>
                  <a:srgbClr val="FFFFFF"/>
                </a:solidFill>
                <a:latin typeface="Poppins"/>
              </a:rPr>
              <a:t>Il en revend une, sur place, pour un dinar</a:t>
            </a:r>
          </a:p>
          <a:p>
            <a:pPr algn="l">
              <a:lnSpc>
                <a:spcPct val="142000"/>
              </a:lnSpc>
              <a:spcAft>
                <a:spcPts val="900"/>
              </a:spcAft>
            </a:pPr>
            <a:r>
              <a:rPr sz="1600" b="0" i="0">
                <a:solidFill>
                  <a:srgbClr val="FFFFFF"/>
                </a:solidFill>
                <a:latin typeface="Poppins"/>
              </a:rPr>
              <a:t>Il revient avec la bête demandée — et le dinar intact</a:t>
            </a:r>
          </a:p>
          <a:p>
            <a:pPr algn="l">
              <a:lnSpc>
                <a:spcPct val="142000"/>
              </a:lnSpc>
              <a:spcAft>
                <a:spcPts val="900"/>
              </a:spcAft>
            </a:pPr>
            <a:r>
              <a:rPr sz="1600" b="0" i="0">
                <a:solidFill>
                  <a:srgbClr val="FFFFFF"/>
                </a:solidFill>
                <a:latin typeface="Poppins"/>
              </a:rPr>
              <a:t>On rapporte qu'ensuite, s'il avait acheté de la poussière, il y aurait fait du profit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Cent pour cent de marge.</a:t>
            </a:r>
          </a:p>
          <a:p>
            <a:pPr algn="ctr">
              <a:lnSpc>
                <a:spcPct val="134000"/>
              </a:lnSpc>
              <a:spcAft>
                <a:spcPts val="900"/>
              </a:spcAft>
            </a:pPr>
            <a:r>
              <a:rPr sz="2600" b="0" i="0">
                <a:solidFill>
                  <a:srgbClr val="FFFFFF"/>
                </a:solidFill>
                <a:latin typeface="Poppins"/>
              </a:rPr>
              <a:t>En une seule transaction.</a:t>
            </a:r>
          </a:p>
          <a:p>
            <a:pPr algn="ctr">
              <a:lnSpc>
                <a:spcPct val="134000"/>
              </a:lnSpc>
              <a:spcAft>
                <a:spcPts val="900"/>
              </a:spcAft>
            </a:pPr>
            <a:r>
              <a:rPr sz="2600" b="0" i="0">
                <a:solidFill>
                  <a:srgbClr val="E3A94F"/>
                </a:solidFill>
                <a:latin typeface="Poppins"/>
              </a:rPr>
              <a:t>Et il n'a pas été repris.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18000"/>
              </a:lnSpc>
              <a:spcAft>
                <a:spcPts val="1500"/>
              </a:spcAft>
            </a:pPr>
            <a:r>
              <a:rPr sz="3000" b="1" i="0">
                <a:solidFill>
                  <a:srgbClr val="FFFFFF"/>
                </a:solidFill>
                <a:latin typeface="Oswald"/>
              </a:rPr>
              <a:t>« QUE DIEU TE BÉNISSE DANS LA TRANSACTION DE TA MAIN DROITE. »</a:t>
            </a:r>
          </a:p>
          <a:p>
            <a:pPr algn="ctr">
              <a:spcAft>
                <a:spcPts val="1700"/>
              </a:spcAft>
            </a:pPr>
            <a:r>
              <a:rPr sz="1400" b="0" i="1">
                <a:solidFill>
                  <a:srgbClr val="E3A94F"/>
                </a:solidFill>
                <a:latin typeface="Poppins"/>
              </a:rPr>
              <a:t>— L'invocation du Prophète ﷺ pour ʿUrwa · rapporté par al-Bukhârî —</a:t>
            </a:r>
          </a:p>
          <a:p>
            <a:pPr algn="ctr">
              <a:lnSpc>
                <a:spcPct val="170000"/>
              </a:lnSpc>
              <a:spcAft>
                <a:spcPts val="500"/>
              </a:spcAft>
            </a:pPr>
            <a:r>
              <a:rPr sz="2300" b="0" i="0">
                <a:solidFill>
                  <a:srgbClr val="FFFFFF"/>
                </a:solidFill>
                <a:latin typeface="Noto Naskh Arabic"/>
              </a:rPr>
              <a:t>« بَارَكَ اللَّهُ لَكَ فِي صَفْقَةِ يَمِينِكَ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5232400"/>
          </a:xfrm>
          <a:prstGeom prst="rect">
            <a:avLst/>
          </a:prstGeom>
          <a:noFill/>
        </p:spPr>
        <p:txBody>
          <a:bodyPr wrap="square" lIns="0" rIns="0" tIns="0" bIns="0" anchor="ctr">
            <a:spAutoFit/>
          </a:bodyPr>
          <a:lstStyle/>
          <a:p>
            <a:pPr algn="ctr">
              <a:lnSpc>
                <a:spcPct val="134000"/>
              </a:lnSpc>
              <a:spcAft>
                <a:spcPts val="900"/>
              </a:spcAft>
            </a:pPr>
            <a:r>
              <a:rPr sz="2600" b="0" i="0">
                <a:solidFill>
                  <a:srgbClr val="FFFFFF"/>
                </a:solidFill>
                <a:latin typeface="Poppins"/>
              </a:rPr>
              <a:t>Ce n'est pas le gain qui est béni.</a:t>
            </a:r>
          </a:p>
          <a:p>
            <a:pPr algn="ctr">
              <a:lnSpc>
                <a:spcPct val="134000"/>
              </a:lnSpc>
              <a:spcAft>
                <a:spcPts val="900"/>
              </a:spcAft>
            </a:pPr>
            <a:r>
              <a:rPr sz="2600" b="0" i="0">
                <a:solidFill>
                  <a:srgbClr val="E3A94F"/>
                </a:solidFill>
                <a:latin typeface="Poppins"/>
              </a:rPr>
              <a:t>C'est la façon dont il a été fait.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