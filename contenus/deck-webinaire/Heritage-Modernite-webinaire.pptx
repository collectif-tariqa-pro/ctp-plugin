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d'attente et d'ouverture. 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franchement et sans gêne. Le quiz porte sur les six axes, trois questions, les bonnes réponses gagnent. Annoncer aussi le cadeau des présents.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vraiment le chat répondre, une minute, sans commenter. La plupart des réponses vont parler de halal et de haram. C'est exactement le point de départ dont on a besoin.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faire répondre les trois, en direct. Ne pas corriger. Les réponses arrivent vite, elles arrivent toutes seules, et elles se ressemblent toutes. C'est ça qu'il faut montrer.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vient de Thomas Kuhn, qui décrit ce qu'une communauté scientifique tient pour évident sans jamais le discuter. Analogie des lunettes : tu ne les vois pas, tu vois avec. Et un paradigme contient toujours quatre choses — une idée de ce qu'est un humain, de ce pour quoi il est là, de ce qui a de la valeur, et de ce qui reste à la fin.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chat. Qui a jugé quelqu'un sur son nombre d'abonnés cette semaine ? Ce ne sont pas des techniques. Ce sont des réponses à la question « qu'est-ce qui donne de la valeur à une vie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la valeur d'une mission se mesurait à l'audience, ce serait faux de l'affirmer. Donc la valeur se mesure ailleurs. Applique : la publication qui n'a pas marché ne dit rien de toi. Le concurrent qui a dix fois ton audience n'a pas dix fois ta valeur — il a dix fois ton audience.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ajouter Chauki Lazhar — jusqu'à la modernité, les changements du réel étaient micro : un objet nouveau, un contrat nouveau. Aujourd'hui ils sont structurels : des modèles entiers, différents dans leur vision du monde.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 rythme. Pour chacun : une situation que tu as vécue, ce que le modèle dominant en dit avec ses références, ce que notre héritage en dit avec ses sources, et une action concrète pour lundi.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chat. Solde, ventes de la nuit, vues, abonnés, messages. Laisser défiler sans commenter. Puis : ce que tu regardes en premier, c'est ce que tu sers.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leurs techniques marchent, on en utilise. Le problème n'est pas la technique. C'est ce qu'elle suppose sur ce qu'est une vie réussie.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système dit ce qu'il met au centre par le mot qu'il choisit pour se nommer. Et ce qu'il oppose à ça porte un nom chez lui : une économie de la fitra, où c'est l'humain qui est au centre, pas le capital.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texte qui établit l'entrepreneuriat comme un chemin — un parmi d'autres, et celui-ci est le tien. Donc la question n'est pas « comment faire entrer mon business dans le halal », c'est « comment marche-t-on correctement sur ce chemin-là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couper le contresens tout de suite. On ne demande à personne de gagner moins. La piété n'est pas la pauvreté. Ce qui change n'est pas le montant : c'est le rang qu'il occupe, et ce qu'on en fait.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faire vraiment. Que chacun ouvre son Notion, son tableur, son carnet. Le silence fait le travail.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takāthur désigne l'accumulation comparative. Pas le fait d'avoir : le fait d'en vouloir plus que. C'est exactement le mécanisme du benchmark. Et le Coran le qualifie de distraction.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couper la dérive naturelle de cet axe. « Donc on peut être médiocre du moment qu'on est honnête. » Non. Orienté commandement veut dire exécuter MIEUX, pas moins. L'ihsân fait partie de l'ordre reçu. Ce n'est pas un permis de bâcler, c'est une exigence de plus.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indicateur d'état spirituel qui se vérifie dans un relevé bancaire. On en cherche rarement d'aussi concret, et il ne peut pas être simulé longtemps.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moments. Le troisième est le plus exigeant : l'indulgence est demandée y compris quand tu es le créancier, c'est-à-dire quand tu es dans ton bon droit.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Ibn ʿAwf, encore, en donne l'illustration — il ne recommence pas par un gros coup, il recommence par du beurre et du fromage. Petites marges, beaucoup de rotations. Il fait tourner.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première est une vertu, la seconde une négligence. Se sous-vendre trahit la valeur qu'on apporte, appauvrit l'entrepreneur, et finit par priver ses clients d'un service qui n'existera plus.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Ibn Khaldoun nomme le problème exactement : une rémunération sans risque. Et la conséquence opératoire : celui qui prend une part du profit prend une part de la perte. Sinon ce n'est pas un associé, c'est un créancier déguisé. Mudâraba, mushâraka — ce ne sont pas des curiosités historiques, ce sont les structures qui rendent l'association honnête. PRUDENCE : on ne tranche aucune divergence entre écoles ce soir, et on ne qualifie aucun montage précis.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phrase qui devrait être affichée dans tous les cours de business plan. Il existe un mode croisière — rentable, autofinancé, sans dette, un rythme qu'on tient encore dans deux ans. Ce n'est pas un lot de consolation. Et il existe un mode croissance, qui coûte, et qui se décide en connaissance de cause.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n'est pas une critique de l'ambition. C'est la description clinique d'un appétit qui ne se referme jamais par satisfaction.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l'objectif avoué devient le monopole. Casser les prix, étouffer, verrouiller, racheter. L'école du requin a ses manuels et ses héros.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exactement la séquence qui conduit un commerçant honnête à faire, un jour de tension, quelque chose qu'il n'aurait jamais fait.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des pratiques de croissance parfaitement courantes, enseignées dans des formations qu'on achète. Elles sont nommées et proscrites depuis quatorze siècles. Ce ne sont pas des principes vagues d'éthique : ce sont des règles techniques avec des noms.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Prophète ﷺ a refusé de fixer les prix quand on le lui a demandé. La propriété est protégée. Le profit est licite. L'islam n'est pas anti-marché. Il est anti-nuisance.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répondre. Laisser le chat répondre. Beaucoup diront oui, et beaucoup l'ont fait.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ne sont pas des critiques extérieures. Ce sont les gens qui construisent ces produits qui le disent eux-mêmes. Personne ne peut dire qu'on caricature.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objection à traiter. « Alors qui décide à la place des gens ? » Personne, et surtout pas nous. Il s'agit de reconnaître que le vendeur porte une part de la responsabilité de l'échange et ne peut pas la transférer entièrement en faisant signer quelque chose. C'est une exigence sur soi, pas un pouvoir sur l'autre.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premiers couvrent l'essentiel des pratiques discutables du marché. Le quatrième est un droit que presque personne n'utilise, et l'accepter est tenu pour une vertu. Un entrepreneur qui l'inscrit dans ses conditions signale qu'il n'a pas besoin de retenir ses clients pour vivre.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appliqué ici, ça devient une question très concrète — est-ce que tu voudrais qu'on te vende ceci, à ce moment-là, dans cet état ? Si la réponse est non, le fait que ce soit rentable ne change rien.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 créneau est ton message. Ton format est ton message. Ton modèle de prix est ton message. Le contenu dit une chose, le dispositif en enseigne une autre — et c'est le dispositif qui gagne, parce qu'il agit tous les jours, sans qu'on le remarque.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l'outil qu'on emporte ce soir. Court, retenable, et il ne demande aucune compétence religieuse pour être employé.</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questions avant chaque mécanique. Est-ce que c'est vrai ? Est-ce que ça sert vraiment CETTE personne-là ? Deux oui : tu peux pousser fort. Un seul non : on jette.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texte qui conclut sur une certitude est un argumentaire. Un texte qui conclut sur un inventaire est un document de travail. C'est une invitation : ces chantiers sont collectifs.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réponses dans le chat, les trois premiers bons gagnent. C'est aussi la meilleure révision possible — ils reformulent eux-mêmes les trois choses qu'on voulait qu'ils retiennent.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déjà existante dans tes decks — tu peux reprendre la tienne.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952500"/>
            <a:ext cx="10566400" cy="1206500"/>
          </a:xfrm>
          <a:prstGeom prst="rect">
            <a:avLst/>
          </a:prstGeom>
          <a:noFill/>
        </p:spPr>
        <p:txBody>
          <a:bodyPr wrap="square" lIns="0" rIns="0" tIns="0" bIns="0" anchor="ctr">
            <a:spAutoFit/>
          </a:bodyPr>
          <a:lstStyle/>
          <a:p>
            <a:pPr algn="ctr">
              <a:spcAft>
                <a:spcPts val="900"/>
              </a:spcAft>
            </a:pPr>
            <a:r>
              <a:rPr sz="1800" b="1" i="1">
                <a:solidFill>
                  <a:srgbClr val="FFFFFF"/>
                </a:solidFill>
                <a:latin typeface="Poppins"/>
              </a:rPr>
              <a:t>MARHABA</a:t>
            </a:r>
          </a:p>
          <a:p>
            <a:pPr algn="ctr">
              <a:spcAft>
                <a:spcPts val="400"/>
              </a:spcAft>
            </a:pPr>
            <a:r>
              <a:rPr sz="1550" b="0" i="1">
                <a:solidFill>
                  <a:srgbClr val="FFFFFF"/>
                </a:solidFill>
                <a:latin typeface="Poppins"/>
              </a:rPr>
              <a:t>🕐 LE WEBINAIRE commence à 20h incha Allah !</a:t>
            </a:r>
          </a:p>
          <a:p>
            <a:pPr algn="ctr"/>
            <a:r>
              <a:rPr sz="1550" b="0" i="1">
                <a:solidFill>
                  <a:srgbClr val="FFFFFF"/>
                </a:solidFill>
                <a:latin typeface="Poppins"/>
              </a:rPr>
              <a:t>🦊 N'oubliez pas de prendre des notes, vous risquez</a:t>
            </a:r>
          </a:p>
          <a:p>
            <a:pPr algn="ctr"/>
            <a:r>
              <a:rPr sz="1550" b="0" i="1">
                <a:solidFill>
                  <a:srgbClr val="FFFFFF"/>
                </a:solidFill>
                <a:latin typeface="Poppins"/>
              </a:rPr>
              <a:t>d'apprendre des choses inchaAllah</a:t>
            </a:r>
          </a:p>
        </p:txBody>
      </p:sp>
      <p:sp>
        <p:nvSpPr>
          <p:cNvPr id="4" name="Rectangle 3"/>
          <p:cNvSpPr/>
          <p:nvPr/>
        </p:nvSpPr>
        <p:spPr>
          <a:xfrm>
            <a:off x="2349500" y="2540000"/>
            <a:ext cx="74930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03500" y="2590800"/>
            <a:ext cx="6985000" cy="1803400"/>
          </a:xfrm>
          <a:prstGeom prst="rect">
            <a:avLst/>
          </a:prstGeom>
          <a:noFill/>
        </p:spPr>
        <p:txBody>
          <a:bodyPr wrap="square" lIns="0" rIns="0" tIns="0" bIns="0" anchor="ctr">
            <a:spAutoFit/>
          </a:bodyPr>
          <a:lstStyle/>
          <a:p>
            <a:pPr algn="ctr">
              <a:lnSpc>
                <a:spcPct val="100000"/>
              </a:lnSpc>
            </a:pPr>
            <a:r>
              <a:rPr sz="5900" b="1" i="1">
                <a:solidFill>
                  <a:srgbClr val="131313"/>
                </a:solidFill>
                <a:latin typeface="Archivo"/>
              </a:rPr>
              <a:t>H</a:t>
            </a:r>
            <a:r>
              <a:rPr sz="5900" b="1" i="1">
                <a:solidFill>
                  <a:srgbClr val="131313"/>
                </a:solidFill>
                <a:latin typeface="Archivo"/>
              </a:rPr>
              <a:t>É</a:t>
            </a:r>
            <a:r>
              <a:rPr sz="5900" b="1" i="1">
                <a:solidFill>
                  <a:srgbClr val="131313"/>
                </a:solidFill>
                <a:latin typeface="Archivo"/>
              </a:rPr>
              <a:t>R</a:t>
            </a:r>
            <a:r>
              <a:rPr sz="5900" b="1" i="1">
                <a:solidFill>
                  <a:srgbClr val="2A2316"/>
                </a:solidFill>
                <a:latin typeface="Archivo"/>
              </a:rPr>
              <a:t>I</a:t>
            </a:r>
            <a:r>
              <a:rPr sz="5900" b="1" i="1">
                <a:solidFill>
                  <a:srgbClr val="423419"/>
                </a:solidFill>
                <a:latin typeface="Archivo"/>
              </a:rPr>
              <a:t>T</a:t>
            </a:r>
            <a:r>
              <a:rPr sz="5900" b="1" i="1">
                <a:solidFill>
                  <a:srgbClr val="59441D"/>
                </a:solidFill>
                <a:latin typeface="Archivo"/>
              </a:rPr>
              <a:t>A</a:t>
            </a:r>
            <a:r>
              <a:rPr sz="5900" b="1" i="1">
                <a:solidFill>
                  <a:srgbClr val="715420"/>
                </a:solidFill>
                <a:latin typeface="Archivo"/>
              </a:rPr>
              <a:t>G</a:t>
            </a:r>
            <a:r>
              <a:rPr sz="5900" b="1" i="1">
                <a:solidFill>
                  <a:srgbClr val="886524"/>
                </a:solidFill>
                <a:latin typeface="Archivo"/>
              </a:rPr>
              <a:t>E</a:t>
            </a:r>
            <a:r>
              <a:rPr sz="5900" b="1" i="1">
                <a:solidFill>
                  <a:srgbClr val="A07527"/>
                </a:solidFill>
                <a:latin typeface="Archivo"/>
              </a:rPr>
              <a:t> </a:t>
            </a:r>
            <a:r>
              <a:rPr sz="5900" b="1" i="1">
                <a:solidFill>
                  <a:srgbClr val="B8862B"/>
                </a:solidFill>
                <a:latin typeface="Archivo"/>
              </a:rPr>
              <a:t>&amp;</a:t>
            </a:r>
          </a:p>
          <a:p>
            <a:pPr algn="ctr">
              <a:lnSpc>
                <a:spcPct val="100000"/>
              </a:lnSpc>
            </a:pPr>
            <a:r>
              <a:rPr sz="5900" b="1" i="1">
                <a:solidFill>
                  <a:srgbClr val="131313"/>
                </a:solidFill>
                <a:latin typeface="Archivo"/>
              </a:rPr>
              <a:t>M</a:t>
            </a:r>
            <a:r>
              <a:rPr sz="5900" b="1" i="1">
                <a:solidFill>
                  <a:srgbClr val="131313"/>
                </a:solidFill>
                <a:latin typeface="Archivo"/>
              </a:rPr>
              <a:t>O</a:t>
            </a:r>
            <a:r>
              <a:rPr sz="5900" b="1" i="1">
                <a:solidFill>
                  <a:srgbClr val="191713"/>
                </a:solidFill>
                <a:latin typeface="Archivo"/>
              </a:rPr>
              <a:t>D</a:t>
            </a:r>
            <a:r>
              <a:rPr sz="5900" b="1" i="1">
                <a:solidFill>
                  <a:srgbClr val="332917"/>
                </a:solidFill>
                <a:latin typeface="Archivo"/>
              </a:rPr>
              <a:t>E</a:t>
            </a:r>
            <a:r>
              <a:rPr sz="5900" b="1" i="1">
                <a:solidFill>
                  <a:srgbClr val="4E3C1B"/>
                </a:solidFill>
                <a:latin typeface="Archivo"/>
              </a:rPr>
              <a:t>R</a:t>
            </a:r>
            <a:r>
              <a:rPr sz="5900" b="1" i="1">
                <a:solidFill>
                  <a:srgbClr val="684E1F"/>
                </a:solidFill>
                <a:latin typeface="Archivo"/>
              </a:rPr>
              <a:t>N</a:t>
            </a:r>
            <a:r>
              <a:rPr sz="5900" b="1" i="1">
                <a:solidFill>
                  <a:srgbClr val="836123"/>
                </a:solidFill>
                <a:latin typeface="Archivo"/>
              </a:rPr>
              <a:t>I</a:t>
            </a:r>
            <a:r>
              <a:rPr sz="5900" b="1" i="1">
                <a:solidFill>
                  <a:srgbClr val="9D7327"/>
                </a:solidFill>
                <a:latin typeface="Archivo"/>
              </a:rPr>
              <a:t>T</a:t>
            </a:r>
            <a:r>
              <a:rPr sz="5900" b="1" i="1">
                <a:solidFill>
                  <a:srgbClr val="B8862B"/>
                </a:solidFill>
                <a:latin typeface="Archivo"/>
              </a:rPr>
              <a:t>É</a:t>
            </a:r>
          </a:p>
        </p:txBody>
      </p:sp>
      <p:sp>
        <p:nvSpPr>
          <p:cNvPr id="6" name="TextBox 5"/>
          <p:cNvSpPr txBox="1"/>
          <p:nvPr/>
        </p:nvSpPr>
        <p:spPr>
          <a:xfrm>
            <a:off x="812800" y="4673600"/>
            <a:ext cx="10566400" cy="381000"/>
          </a:xfrm>
          <a:prstGeom prst="rect">
            <a:avLst/>
          </a:prstGeom>
          <a:noFill/>
        </p:spPr>
        <p:txBody>
          <a:bodyPr wrap="square" lIns="0" rIns="0" tIns="0" bIns="0" anchor="ctr">
            <a:spAutoFit/>
          </a:bodyPr>
          <a:lstStyle/>
          <a:p>
            <a:pPr algn="ctr"/>
            <a:r>
              <a:rPr sz="1400" b="0" i="0">
                <a:solidFill>
                  <a:srgbClr val="CFCFCF"/>
                </a:solidFill>
                <a:latin typeface="Poppins"/>
              </a:rPr>
              <a:t>Zaki Chairi  ·  Oussama Jammal  ·  24 septembre 2026</a:t>
            </a:r>
          </a:p>
        </p:txBody>
      </p:sp>
      <p:sp>
        <p:nvSpPr>
          <p:cNvPr id="7" name="TextBox 6"/>
          <p:cNvSpPr txBox="1"/>
          <p:nvPr/>
        </p:nvSpPr>
        <p:spPr>
          <a:xfrm>
            <a:off x="812800" y="5588000"/>
            <a:ext cx="10566400" cy="698500"/>
          </a:xfrm>
          <a:prstGeom prst="rect">
            <a:avLst/>
          </a:prstGeom>
          <a:noFill/>
        </p:spPr>
        <p:txBody>
          <a:bodyPr wrap="square" lIns="0" rIns="0" tIns="0" bIns="0" anchor="ctr">
            <a:spAutoFit/>
          </a:bodyPr>
          <a:lstStyle/>
          <a:p>
            <a:pPr algn="ctr"/>
            <a:r>
              <a:rPr sz="2000" b="1" i="0">
                <a:solidFill>
                  <a:srgbClr val="E3A94F"/>
                </a:solidFill>
                <a:latin typeface="Archivo"/>
              </a:rPr>
              <a:t>TARIQA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N'OUBLIEZ PAS DE PRENDRE DES NOTES, VOUS RISQUEZ D'APPRENDRE DES CHOSES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inchaAllah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3100" b="1" i="1">
                <a:solidFill>
                  <a:srgbClr val="FFFFFF"/>
                </a:solidFill>
                <a:latin typeface="Archivo"/>
              </a:rPr>
              <a:t>HÉRITAGE &amp; MODERNITÉ</a:t>
            </a:r>
          </a:p>
          <a:p>
            <a:pPr algn="ctr">
              <a:lnSpc>
                <a:spcPct val="106000"/>
              </a:lnSpc>
            </a:pPr>
            <a:r>
              <a:rPr sz="3100" b="1" i="1">
                <a:solidFill>
                  <a:srgbClr val="FFFFFF"/>
                </a:solidFill>
                <a:latin typeface="Archivo"/>
              </a:rPr>
              <a:t>LE PARADIGME DE L'ENTREPRENEUR MUSULMAN</a:t>
            </a:r>
          </a:p>
          <a:p>
            <a:pPr algn="ctr">
              <a:lnSpc>
                <a:spcPct val="106000"/>
              </a:lnSpc>
            </a:pPr>
            <a:r>
              <a:rPr sz="3100" b="1" i="1">
                <a:solidFill>
                  <a:srgbClr val="FFFFFF"/>
                </a:solidFill>
                <a:latin typeface="Archivo"/>
              </a:rPr>
              <a:t>ZAKI CHAIRI · OUSSAMA JAMMAL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POURQUOI CE TITRE ?</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HÉRITAGE — ce que quatorze siècles de commerce musulman ont déjà dit</a:t>
            </a:r>
          </a:p>
          <a:p>
            <a:pPr algn="l">
              <a:lnSpc>
                <a:spcPct val="142000"/>
              </a:lnSpc>
              <a:spcAft>
                <a:spcPts val="900"/>
              </a:spcAft>
            </a:pPr>
            <a:r>
              <a:rPr sz="1850" b="0" i="0">
                <a:solidFill>
                  <a:srgbClr val="FFFFFF"/>
                </a:solidFill>
                <a:latin typeface="Poppins"/>
              </a:rPr>
              <a:t>et que presque personne ne t'a jamais transmis</a:t>
            </a:r>
          </a:p>
          <a:p>
            <a:pPr algn="l">
              <a:lnSpc>
                <a:spcPct val="142000"/>
              </a:lnSpc>
              <a:spcAft>
                <a:spcPts val="900"/>
              </a:spcAft>
            </a:pPr>
            <a:r>
              <a:rPr sz="1850" b="0" i="0">
                <a:solidFill>
                  <a:srgbClr val="FFFFFF"/>
                </a:solidFill>
                <a:latin typeface="Poppins"/>
              </a:rPr>
              <a:t>MODERNITÉ — le tunnel, le closing, le scale, les ads, le personal branding</a:t>
            </a:r>
          </a:p>
          <a:p>
            <a:pPr algn="l">
              <a:lnSpc>
                <a:spcPct val="142000"/>
              </a:lnSpc>
              <a:spcAft>
                <a:spcPts val="900"/>
              </a:spcAft>
            </a:pPr>
            <a:r>
              <a:rPr sz="1850" b="0" i="0">
                <a:solidFill>
                  <a:srgbClr val="FFFFFF"/>
                </a:solidFill>
                <a:latin typeface="Poppins"/>
              </a:rPr>
              <a:t>Ce soir : comment on tient les deux sans trahir ni l'un ni l'autre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REJOIGNEZ LE GROUPE WHATSAPP DU LIVE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 partager des cadeaux exclusifs</a:t>
            </a:r>
          </a:p>
          <a:p>
            <a:pPr algn="l">
              <a:lnSpc>
                <a:spcPct val="142000"/>
              </a:lnSpc>
              <a:spcAft>
                <a:spcPts val="900"/>
              </a:spcAft>
            </a:pPr>
            <a:r>
              <a:rPr sz="1850" b="0" i="0">
                <a:solidFill>
                  <a:srgbClr val="FFFFFF"/>
                </a:solidFill>
                <a:latin typeface="Poppins"/>
              </a:rPr>
              <a:t>📚 envoyer les ressources mentionnées</a:t>
            </a:r>
          </a:p>
          <a:p>
            <a:pPr algn="l">
              <a:lnSpc>
                <a:spcPct val="142000"/>
              </a:lnSpc>
              <a:spcAft>
                <a:spcPts val="900"/>
              </a:spcAft>
            </a:pPr>
            <a:r>
              <a:rPr sz="1850" b="0" i="0">
                <a:solidFill>
                  <a:srgbClr val="FFFFFF"/>
                </a:solidFill>
                <a:latin typeface="Poppins"/>
              </a:rPr>
              <a:t>🎯 vous aider à passer à l'action après le webinaire</a:t>
            </a:r>
          </a:p>
          <a:p>
            <a:pPr algn="l">
              <a:lnSpc>
                <a:spcPct val="142000"/>
              </a:lnSpc>
              <a:spcAft>
                <a:spcPts val="900"/>
              </a:spcAft>
            </a:pPr>
            <a:r>
              <a:rPr sz="1850" b="0" i="0">
                <a:solidFill>
                  <a:srgbClr val="FFFFFF"/>
                </a:solidFill>
                <a:latin typeface="Poppins"/>
              </a:rPr>
              <a:t>🤝 garder le lien avec le Collectif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CE SOIR, TU REPARS AVEC TROIS CHOSES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1️⃣ LA RÉPONSE À UNE QUESTION QUE PERSONNE NE POSE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Qu'est-ce que l'islam dit du business ?</a:t>
            </a:r>
          </a:p>
          <a:p>
            <a:pPr algn="l">
              <a:lnSpc>
                <a:spcPct val="142000"/>
              </a:lnSpc>
              <a:spcAft>
                <a:spcPts val="900"/>
              </a:spcAft>
            </a:pPr>
            <a:r>
              <a:rPr sz="1850" b="0" i="0">
                <a:solidFill>
                  <a:srgbClr val="FFFFFF"/>
                </a:solidFill>
                <a:latin typeface="Poppins"/>
              </a:rPr>
              <a:t>Pas de ton produit. Pas de ton financement.</a:t>
            </a:r>
          </a:p>
          <a:p>
            <a:pPr algn="l">
              <a:lnSpc>
                <a:spcPct val="142000"/>
              </a:lnSpc>
              <a:spcAft>
                <a:spcPts val="900"/>
              </a:spcAft>
            </a:pPr>
            <a:r>
              <a:rPr sz="1850" b="0" i="0">
                <a:solidFill>
                  <a:srgbClr val="FFFFFF"/>
                </a:solidFill>
                <a:latin typeface="Poppins"/>
              </a:rPr>
              <a:t>Du business lui-même : à quoi il sert, quand il est réussi, ce qu'il te demande.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2️⃣ SIX DÉCISIONS QUE TU AS PRISES CETTE SEMAINE SANS T'EN RENDRE COMPTE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Ton prix · ton concurrent · ton client · ta croissance</a:t>
            </a:r>
          </a:p>
          <a:p>
            <a:pPr algn="l">
              <a:lnSpc>
                <a:spcPct val="142000"/>
              </a:lnSpc>
              <a:spcAft>
                <a:spcPts val="900"/>
              </a:spcAft>
            </a:pPr>
            <a:r>
              <a:rPr sz="1850" b="0" i="0">
                <a:solidFill>
                  <a:srgbClr val="FFFFFF"/>
                </a:solidFill>
                <a:latin typeface="Poppins"/>
              </a:rPr>
              <a:t>Ton associé · ce que tu comptes le lundi matin</a:t>
            </a:r>
          </a:p>
          <a:p>
            <a:pPr algn="l">
              <a:lnSpc>
                <a:spcPct val="142000"/>
              </a:lnSpc>
              <a:spcAft>
                <a:spcPts val="900"/>
              </a:spcAft>
            </a:pPr>
            <a:r>
              <a:rPr sz="1850" b="0" i="0">
                <a:solidFill>
                  <a:srgbClr val="E3A94F"/>
                </a:solidFill>
                <a:latin typeface="Poppins"/>
              </a:rPr>
              <a:t>👉 Et qui a décidé à ta 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3️⃣ UN TEST DE TROIS QUESTIONS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Tu le sors devant n'importe quelle formation, n'importe quelle technique de vente,</a:t>
            </a:r>
          </a:p>
          <a:p>
            <a:pPr algn="l">
              <a:lnSpc>
                <a:spcPct val="142000"/>
              </a:lnSpc>
              <a:spcAft>
                <a:spcPts val="900"/>
              </a:spcAft>
            </a:pPr>
            <a:r>
              <a:rPr sz="1850" b="0" i="0">
                <a:solidFill>
                  <a:srgbClr val="FFFFFF"/>
                </a:solidFill>
                <a:latin typeface="Poppins"/>
              </a:rPr>
              <a:t>n'importe quel outil qu'on te vend</a:t>
            </a:r>
          </a:p>
          <a:p>
            <a:pPr algn="l">
              <a:lnSpc>
                <a:spcPct val="142000"/>
              </a:lnSpc>
              <a:spcAft>
                <a:spcPts val="900"/>
              </a:spcAft>
            </a:pPr>
            <a:r>
              <a:rPr sz="1850" b="0" i="0">
                <a:solidFill>
                  <a:srgbClr val="FFFFFF"/>
                </a:solidFill>
                <a:latin typeface="Poppins"/>
              </a:rPr>
              <a:t>Il tient en une ligne et tu l'utilises dès lundi</a:t>
            </a:r>
          </a:p>
          <a:p>
            <a:pPr algn="l">
              <a:lnSpc>
                <a:spcPct val="142000"/>
              </a:lnSpc>
              <a:spcAft>
                <a:spcPts val="900"/>
              </a:spcAft>
            </a:pPr>
            <a:r>
              <a:rPr sz="1850" b="0" i="0">
                <a:solidFill>
                  <a:srgbClr val="FFFFFF"/>
                </a:solidFill>
                <a:latin typeface="Poppins"/>
              </a:rPr>
              <a:t>Tu n'as besoin d'aucune compétence religieuse pour t'en servir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Et à la fin : un QUIZ.</a:t>
            </a:r>
          </a:p>
          <a:p>
            <a:pPr algn="ctr">
              <a:lnSpc>
                <a:spcPct val="134000"/>
              </a:lnSpc>
              <a:spcAft>
                <a:spcPts val="900"/>
              </a:spcAft>
            </a:pPr>
            <a:r>
              <a:rPr sz="2600" b="0" i="0">
                <a:solidFill>
                  <a:srgbClr val="FFFFFF"/>
                </a:solidFill>
                <a:latin typeface="Poppins"/>
              </a:rPr>
              <a:t>Avec des cadeaux pour ceux qui répondent.</a:t>
            </a:r>
          </a:p>
          <a:p>
            <a:pPr algn="ctr">
              <a:lnSpc>
                <a:spcPct val="134000"/>
              </a:lnSpc>
              <a:spcAft>
                <a:spcPts val="900"/>
              </a:spcAft>
            </a:pPr>
            <a:r>
              <a:rPr sz="2600" b="0" i="0">
                <a:solidFill>
                  <a:srgbClr val="E3A94F"/>
                </a:solidFill>
                <a:latin typeface="Poppins"/>
              </a:rPr>
              <a:t>Donc reste jusqu'au bout inchaAllah.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3900" b="1" i="1">
                <a:solidFill>
                  <a:srgbClr val="FFFFFF"/>
                </a:solidFill>
                <a:latin typeface="Archivo"/>
              </a:rPr>
              <a:t>CADEAU POUR LES PRÉSENTS À LA FIN DU LIVE INCHAALLAH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2032000"/>
            <a:ext cx="10566400" cy="762000"/>
          </a:xfrm>
          <a:prstGeom prst="rect">
            <a:avLst/>
          </a:prstGeom>
          <a:noFill/>
        </p:spPr>
        <p:txBody>
          <a:bodyPr wrap="square" lIns="0" rIns="0" tIns="0" bIns="0" anchor="b">
            <a:spAutoFit/>
          </a:bodyPr>
          <a:lstStyle/>
          <a:p>
            <a:pPr algn="l"/>
            <a:r>
              <a:rPr sz="1700" b="1" i="0">
                <a:solidFill>
                  <a:srgbClr val="E3A94F"/>
                </a:solidFill>
                <a:latin typeface="Poppins"/>
              </a:rPr>
              <a:t>PARTIE 1</a:t>
            </a:r>
          </a:p>
        </p:txBody>
      </p:sp>
      <p:sp>
        <p:nvSpPr>
          <p:cNvPr id="4" name="TextBox 3"/>
          <p:cNvSpPr txBox="1"/>
          <p:nvPr/>
        </p:nvSpPr>
        <p:spPr>
          <a:xfrm>
            <a:off x="812800" y="2870200"/>
            <a:ext cx="10566400" cy="1651000"/>
          </a:xfrm>
          <a:prstGeom prst="rect">
            <a:avLst/>
          </a:prstGeom>
          <a:noFill/>
        </p:spPr>
        <p:txBody>
          <a:bodyPr wrap="square" lIns="0" rIns="0" tIns="0" bIns="0" anchor="t">
            <a:spAutoFit/>
          </a:bodyPr>
          <a:lstStyle/>
          <a:p>
            <a:pPr algn="l">
              <a:lnSpc>
                <a:spcPct val="104000"/>
              </a:lnSpc>
            </a:pPr>
            <a:r>
              <a:rPr sz="5500" b="1" i="1">
                <a:solidFill>
                  <a:srgbClr val="FFFFFF"/>
                </a:solidFill>
                <a:latin typeface="Archivo"/>
              </a:rPr>
              <a:t>POSER LE CADRE</a:t>
            </a:r>
          </a:p>
        </p:txBody>
      </p:sp>
      <p:sp>
        <p:nvSpPr>
          <p:cNvPr id="5" name="Rectangle 4"/>
          <p:cNvSpPr/>
          <p:nvPr/>
        </p:nvSpPr>
        <p:spPr>
          <a:xfrm>
            <a:off x="812800" y="4699000"/>
            <a:ext cx="1905000" cy="3175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Une question simple.</a:t>
            </a:r>
          </a:p>
          <a:p>
            <a:pPr algn="ctr">
              <a:lnSpc>
                <a:spcPct val="134000"/>
              </a:lnSpc>
              <a:spcAft>
                <a:spcPts val="900"/>
              </a:spcAft>
            </a:pPr>
            <a:r>
              <a:rPr sz="2600" b="0" i="0">
                <a:solidFill>
                  <a:srgbClr val="E3A94F"/>
                </a:solidFill>
                <a:latin typeface="Poppins"/>
              </a:rPr>
              <a:t>Et je veux vraiment que tu y répondes dans le chat.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3900" b="1" i="1">
                <a:solidFill>
                  <a:srgbClr val="FFFFFF"/>
                </a:solidFill>
                <a:latin typeface="Archivo"/>
              </a:rPr>
              <a:t>QUELLE EST LA VISION DE L'ISLAM</a:t>
            </a:r>
          </a:p>
          <a:p>
            <a:pPr algn="ctr">
              <a:lnSpc>
                <a:spcPct val="106000"/>
              </a:lnSpc>
            </a:pPr>
            <a:r>
              <a:rPr sz="3900" b="1" i="1">
                <a:solidFill>
                  <a:srgbClr val="FFFFFF"/>
                </a:solidFill>
                <a:latin typeface="Archivo"/>
              </a:rPr>
              <a:t>SUR L'ENTREPRENEURIAT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4300" b="1" i="1">
                <a:solidFill>
                  <a:srgbClr val="FFFFFF"/>
                </a:solidFill>
                <a:latin typeface="Archivo"/>
              </a:rPr>
              <a:t>EST-CE QUE TU T'ES DÉJÀ POSÉ CETTE QUESTION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CE N'EST PAS CETTE QUESTION-LÀ</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CFCFCF"/>
                </a:solidFill>
                <a:latin typeface="Poppins"/>
              </a:rPr>
              <a:t>❌ Est-ce que mon produit est halal ?</a:t>
            </a:r>
          </a:p>
          <a:p>
            <a:pPr algn="l">
              <a:lnSpc>
                <a:spcPct val="142000"/>
              </a:lnSpc>
              <a:spcAft>
                <a:spcPts val="900"/>
              </a:spcAft>
            </a:pPr>
            <a:r>
              <a:rPr sz="1850" b="0" i="0">
                <a:solidFill>
                  <a:srgbClr val="CFCFCF"/>
                </a:solidFill>
                <a:latin typeface="Poppins"/>
              </a:rPr>
              <a:t>❌ Est-ce que mon financement est halal ?</a:t>
            </a:r>
          </a:p>
          <a:p>
            <a:pPr algn="l">
              <a:lnSpc>
                <a:spcPct val="142000"/>
              </a:lnSpc>
              <a:spcAft>
                <a:spcPts val="900"/>
              </a:spcAft>
            </a:pPr>
            <a:r>
              <a:rPr sz="1850" b="0" i="0">
                <a:solidFill>
                  <a:srgbClr val="CFCFCF"/>
                </a:solidFill>
                <a:latin typeface="Poppins"/>
              </a:rPr>
              <a:t>❌ Est-ce que ma publicité est halal ?</a:t>
            </a:r>
          </a:p>
          <a:p>
            <a:pPr algn="l">
              <a:lnSpc>
                <a:spcPct val="142000"/>
              </a:lnSpc>
              <a:spcAft>
                <a:spcPts val="900"/>
              </a:spcAft>
            </a:pPr>
            <a:r>
              <a:rPr sz="1850" b="0" i="0">
                <a:solidFill>
                  <a:srgbClr val="E3A94F"/>
                </a:solidFill>
                <a:latin typeface="Poppins"/>
              </a:rPr>
              <a:t>👉 C'est la question d'avant. Celle que personne ne pose.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On a tous appris à vérifier le comment.</a:t>
            </a:r>
          </a:p>
          <a:p>
            <a:pPr algn="ctr">
              <a:lnSpc>
                <a:spcPct val="134000"/>
              </a:lnSpc>
              <a:spcAft>
                <a:spcPts val="900"/>
              </a:spcAft>
            </a:pPr>
            <a:r>
              <a:rPr sz="2600" b="0" i="0">
                <a:solidFill>
                  <a:srgbClr val="E3A94F"/>
                </a:solidFill>
                <a:latin typeface="Poppins"/>
              </a:rPr>
              <a:t>Personne ne nous a appris à vérifier le vers quoi.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628140" y="2884170"/>
            <a:ext cx="893572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18640" y="2884170"/>
            <a:ext cx="855472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T</a:t>
            </a:r>
            <a:r>
              <a:rPr sz="6600" b="1" i="1">
                <a:solidFill>
                  <a:srgbClr val="131313"/>
                </a:solidFill>
                <a:latin typeface="Archivo"/>
              </a:rPr>
              <a:t>R</a:t>
            </a:r>
            <a:r>
              <a:rPr sz="6600" b="1" i="1">
                <a:solidFill>
                  <a:srgbClr val="131313"/>
                </a:solidFill>
                <a:latin typeface="Archivo"/>
              </a:rPr>
              <a:t>O</a:t>
            </a:r>
            <a:r>
              <a:rPr sz="6600" b="1" i="1">
                <a:solidFill>
                  <a:srgbClr val="131313"/>
                </a:solidFill>
                <a:latin typeface="Archivo"/>
              </a:rPr>
              <a:t>I</a:t>
            </a:r>
            <a:r>
              <a:rPr sz="6600" b="1" i="1">
                <a:solidFill>
                  <a:srgbClr val="1C1914"/>
                </a:solidFill>
                <a:latin typeface="Archivo"/>
              </a:rPr>
              <a:t>S</a:t>
            </a:r>
            <a:r>
              <a:rPr sz="6600" b="1" i="1">
                <a:solidFill>
                  <a:srgbClr val="2A2316"/>
                </a:solidFill>
                <a:latin typeface="Archivo"/>
              </a:rPr>
              <a:t> </a:t>
            </a:r>
            <a:r>
              <a:rPr sz="6600" b="1" i="1">
                <a:solidFill>
                  <a:srgbClr val="392D18"/>
                </a:solidFill>
                <a:latin typeface="Archivo"/>
              </a:rPr>
              <a:t>S</a:t>
            </a:r>
            <a:r>
              <a:rPr sz="6600" b="1" i="1">
                <a:solidFill>
                  <a:srgbClr val="47371A"/>
                </a:solidFill>
                <a:latin typeface="Archivo"/>
              </a:rPr>
              <a:t>I</a:t>
            </a:r>
            <a:r>
              <a:rPr sz="6600" b="1" i="1">
                <a:solidFill>
                  <a:srgbClr val="55411C"/>
                </a:solidFill>
                <a:latin typeface="Archivo"/>
              </a:rPr>
              <a:t>T</a:t>
            </a:r>
            <a:r>
              <a:rPr sz="6600" b="1" i="1">
                <a:solidFill>
                  <a:srgbClr val="634B1E"/>
                </a:solidFill>
                <a:latin typeface="Archivo"/>
              </a:rPr>
              <a:t>U</a:t>
            </a:r>
            <a:r>
              <a:rPr sz="6600" b="1" i="1">
                <a:solidFill>
                  <a:srgbClr val="715420"/>
                </a:solidFill>
                <a:latin typeface="Archivo"/>
              </a:rPr>
              <a:t>A</a:t>
            </a:r>
            <a:r>
              <a:rPr sz="6600" b="1" i="1">
                <a:solidFill>
                  <a:srgbClr val="7F5E22"/>
                </a:solidFill>
                <a:latin typeface="Archivo"/>
              </a:rPr>
              <a:t>T</a:t>
            </a:r>
            <a:r>
              <a:rPr sz="6600" b="1" i="1">
                <a:solidFill>
                  <a:srgbClr val="8D6824"/>
                </a:solidFill>
                <a:latin typeface="Archivo"/>
              </a:rPr>
              <a:t>I</a:t>
            </a:r>
            <a:r>
              <a:rPr sz="6600" b="1" i="1">
                <a:solidFill>
                  <a:srgbClr val="9B7226"/>
                </a:solidFill>
                <a:latin typeface="Archivo"/>
              </a:rPr>
              <a:t>O</a:t>
            </a:r>
            <a:r>
              <a:rPr sz="6600" b="1" i="1">
                <a:solidFill>
                  <a:srgbClr val="A97C28"/>
                </a:solidFill>
                <a:latin typeface="Archivo"/>
              </a:rPr>
              <a:t>N</a:t>
            </a:r>
            <a:r>
              <a:rPr sz="6600" b="1" i="1">
                <a:solidFill>
                  <a:srgbClr val="B8862B"/>
                </a:solidFill>
                <a:latin typeface="Archivo"/>
              </a:rPr>
              <a: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RÉPONDS VITE, SANS RÉFLÉCHIR</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1. Un concurrent ouvre la même offre que toi, à moitié prix, à deux rues.</a:t>
            </a:r>
          </a:p>
          <a:p>
            <a:pPr algn="l">
              <a:lnSpc>
                <a:spcPct val="142000"/>
              </a:lnSpc>
              <a:spcAft>
                <a:spcPts val="900"/>
              </a:spcAft>
            </a:pPr>
            <a:r>
              <a:rPr sz="1850" b="0" i="0">
                <a:solidFill>
                  <a:srgbClr val="FFFFFF"/>
                </a:solidFill>
                <a:latin typeface="Poppins"/>
              </a:rPr>
              <a:t>Première réaction ?</a:t>
            </a:r>
          </a:p>
          <a:p>
            <a:pPr algn="l">
              <a:lnSpc>
                <a:spcPct val="142000"/>
              </a:lnSpc>
              <a:spcAft>
                <a:spcPts val="900"/>
              </a:spcAft>
            </a:pPr>
            <a:r>
              <a:rPr sz="1850" b="0" i="0">
                <a:solidFill>
                  <a:srgbClr val="FFFFFF"/>
                </a:solidFill>
                <a:latin typeface="Poppins"/>
              </a:rPr>
              <a:t>2. Tu as fait 3 000 € ce mois-ci au lieu de 10 000. Qu'est-ce que tu te dis de toi ?</a:t>
            </a:r>
          </a:p>
          <a:p>
            <a:pPr algn="l">
              <a:lnSpc>
                <a:spcPct val="142000"/>
              </a:lnSpc>
              <a:spcAft>
                <a:spcPts val="900"/>
              </a:spcAft>
            </a:pPr>
            <a:r>
              <a:rPr sz="1850" b="0" i="0">
                <a:solidFill>
                  <a:srgbClr val="FFFFFF"/>
                </a:solidFill>
                <a:latin typeface="Poppins"/>
              </a:rPr>
              <a:t>3. Ton client t'appelle, ému, pour te dire qu'il va mieux. Tu lui proposes la suite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Tes trois réponses sont venues sans effort.</a:t>
            </a:r>
          </a:p>
          <a:p>
            <a:pPr algn="ctr">
              <a:lnSpc>
                <a:spcPct val="134000"/>
              </a:lnSpc>
              <a:spcAft>
                <a:spcPts val="900"/>
              </a:spcAft>
            </a:pPr>
            <a:r>
              <a:rPr sz="2600" b="0" i="0">
                <a:solidFill>
                  <a:srgbClr val="E3A94F"/>
                </a:solidFill>
                <a:latin typeface="Poppins"/>
              </a:rPr>
              <a:t>Elles viennent toutes du même endroit.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Et cet endroit,</a:t>
            </a:r>
          </a:p>
          <a:p>
            <a:pPr algn="ctr">
              <a:lnSpc>
                <a:spcPct val="134000"/>
              </a:lnSpc>
              <a:spcAft>
                <a:spcPts val="900"/>
              </a:spcAft>
            </a:pPr>
            <a:r>
              <a:rPr sz="2600" b="0" i="0">
                <a:solidFill>
                  <a:srgbClr val="E3A94F"/>
                </a:solidFill>
                <a:latin typeface="Poppins"/>
              </a:rPr>
              <a:t>tu ne l'as pas choisi.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Ç</a:t>
            </a:r>
            <a:r>
              <a:rPr sz="6600" b="1" i="1">
                <a:solidFill>
                  <a:srgbClr val="131313"/>
                </a:solidFill>
                <a:latin typeface="Archivo"/>
              </a:rPr>
              <a:t>A</a:t>
            </a:r>
            <a:r>
              <a:rPr sz="6600" b="1" i="1">
                <a:solidFill>
                  <a:srgbClr val="131313"/>
                </a:solidFill>
                <a:latin typeface="Archivo"/>
              </a:rPr>
              <a:t> </a:t>
            </a:r>
            <a:r>
              <a:rPr sz="6600" b="1" i="1">
                <a:solidFill>
                  <a:srgbClr val="131313"/>
                </a:solidFill>
                <a:latin typeface="Archivo"/>
              </a:rPr>
              <a:t>S</a:t>
            </a:r>
            <a:r>
              <a:rPr sz="6600" b="1" i="1">
                <a:solidFill>
                  <a:srgbClr val="131313"/>
                </a:solidFill>
                <a:latin typeface="Archivo"/>
              </a:rPr>
              <a:t>'</a:t>
            </a:r>
            <a:r>
              <a:rPr sz="6600" b="1" i="1">
                <a:solidFill>
                  <a:srgbClr val="131313"/>
                </a:solidFill>
                <a:latin typeface="Archivo"/>
              </a:rPr>
              <a:t>A</a:t>
            </a:r>
            <a:r>
              <a:rPr sz="6600" b="1" i="1">
                <a:solidFill>
                  <a:srgbClr val="191713"/>
                </a:solidFill>
                <a:latin typeface="Archivo"/>
              </a:rPr>
              <a:t>P</a:t>
            </a:r>
            <a:r>
              <a:rPr sz="6600" b="1" i="1">
                <a:solidFill>
                  <a:srgbClr val="221D15"/>
                </a:solidFill>
                <a:latin typeface="Archivo"/>
              </a:rPr>
              <a:t>P</a:t>
            </a:r>
            <a:r>
              <a:rPr sz="6600" b="1" i="1">
                <a:solidFill>
                  <a:srgbClr val="2A2316"/>
                </a:solidFill>
                <a:latin typeface="Archivo"/>
              </a:rPr>
              <a:t>E</a:t>
            </a:r>
            <a:r>
              <a:rPr sz="6600" b="1" i="1">
                <a:solidFill>
                  <a:srgbClr val="332917"/>
                </a:solidFill>
                <a:latin typeface="Archivo"/>
              </a:rPr>
              <a:t>L</a:t>
            </a:r>
            <a:r>
              <a:rPr sz="6600" b="1" i="1">
                <a:solidFill>
                  <a:srgbClr val="3C2F19"/>
                </a:solidFill>
                <a:latin typeface="Archivo"/>
              </a:rPr>
              <a:t>L</a:t>
            </a:r>
            <a:r>
              <a:rPr sz="6600" b="1" i="1">
                <a:solidFill>
                  <a:srgbClr val="45361A"/>
                </a:solidFill>
                <a:latin typeface="Archivo"/>
              </a:rPr>
              <a:t>E</a:t>
            </a:r>
            <a:r>
              <a:rPr sz="6600" b="1" i="1">
                <a:solidFill>
                  <a:srgbClr val="4E3C1B"/>
                </a:solidFill>
                <a:latin typeface="Archivo"/>
              </a:rPr>
              <a:t> </a:t>
            </a:r>
            <a:r>
              <a:rPr sz="6600" b="1" i="1">
                <a:solidFill>
                  <a:srgbClr val="57421C"/>
                </a:solidFill>
                <a:latin typeface="Archivo"/>
              </a:rPr>
              <a:t>U</a:t>
            </a:r>
            <a:r>
              <a:rPr sz="6600" b="1" i="1">
                <a:solidFill>
                  <a:srgbClr val="5F481E"/>
                </a:solidFill>
                <a:latin typeface="Archivo"/>
              </a:rPr>
              <a:t>N</a:t>
            </a:r>
            <a:r>
              <a:rPr sz="6600" b="1" i="1">
                <a:solidFill>
                  <a:srgbClr val="684E1F"/>
                </a:solidFill>
                <a:latin typeface="Archivo"/>
              </a:rPr>
              <a:t> </a:t>
            </a:r>
            <a:r>
              <a:rPr sz="6600" b="1" i="1">
                <a:solidFill>
                  <a:srgbClr val="715420"/>
                </a:solidFill>
                <a:latin typeface="Archivo"/>
              </a:rPr>
              <a:t>P</a:t>
            </a:r>
            <a:r>
              <a:rPr sz="6600" b="1" i="1">
                <a:solidFill>
                  <a:srgbClr val="7A5A22"/>
                </a:solidFill>
                <a:latin typeface="Archivo"/>
              </a:rPr>
              <a:t>A</a:t>
            </a:r>
            <a:r>
              <a:rPr sz="6600" b="1" i="1">
                <a:solidFill>
                  <a:srgbClr val="836123"/>
                </a:solidFill>
                <a:latin typeface="Archivo"/>
              </a:rPr>
              <a:t>R</a:t>
            </a:r>
            <a:r>
              <a:rPr sz="6600" b="1" i="1">
                <a:solidFill>
                  <a:srgbClr val="8B6724"/>
                </a:solidFill>
                <a:latin typeface="Archivo"/>
              </a:rPr>
              <a:t>A</a:t>
            </a:r>
            <a:r>
              <a:rPr sz="6600" b="1" i="1">
                <a:solidFill>
                  <a:srgbClr val="946D25"/>
                </a:solidFill>
                <a:latin typeface="Archivo"/>
              </a:rPr>
              <a:t>D</a:t>
            </a:r>
            <a:r>
              <a:rPr sz="6600" b="1" i="1">
                <a:solidFill>
                  <a:srgbClr val="9D7327"/>
                </a:solidFill>
                <a:latin typeface="Archivo"/>
              </a:rPr>
              <a:t>I</a:t>
            </a:r>
            <a:r>
              <a:rPr sz="6600" b="1" i="1">
                <a:solidFill>
                  <a:srgbClr val="A67928"/>
                </a:solidFill>
                <a:latin typeface="Archivo"/>
              </a:rPr>
              <a:t>G</a:t>
            </a:r>
            <a:r>
              <a:rPr sz="6600" b="1" i="1">
                <a:solidFill>
                  <a:srgbClr val="AF7F29"/>
                </a:solidFill>
                <a:latin typeface="Archivo"/>
              </a:rPr>
              <a:t>M</a:t>
            </a:r>
            <a:r>
              <a:rPr sz="6600" b="1" i="1">
                <a:solidFill>
                  <a:srgbClr val="B8862B"/>
                </a:solidFill>
                <a:latin typeface="Archivo"/>
              </a:rPr>
              <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UN PARADIGME, C'EST CE AVEC QUOI TU PENSES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Invisible — tu ne le regardes pas, tu regardes à travers</a:t>
            </a:r>
          </a:p>
          <a:p>
            <a:pPr algn="l">
              <a:lnSpc>
                <a:spcPct val="142000"/>
              </a:lnSpc>
              <a:spcAft>
                <a:spcPts val="900"/>
              </a:spcAft>
            </a:pPr>
            <a:r>
              <a:rPr sz="1850" b="0" i="0">
                <a:solidFill>
                  <a:srgbClr val="FFFFFF"/>
                </a:solidFill>
                <a:latin typeface="Poppins"/>
              </a:rPr>
              <a:t>Global — il ne dit pas quoi penser, il dit ce qui compte</a:t>
            </a:r>
          </a:p>
          <a:p>
            <a:pPr algn="l">
              <a:lnSpc>
                <a:spcPct val="142000"/>
              </a:lnSpc>
              <a:spcAft>
                <a:spcPts val="900"/>
              </a:spcAft>
            </a:pPr>
            <a:r>
              <a:rPr sz="1850" b="0" i="0">
                <a:solidFill>
                  <a:srgbClr val="FFFFFF"/>
                </a:solidFill>
                <a:latin typeface="Poppins"/>
              </a:rPr>
              <a:t>Hérité — personne ne t'a demandé ton avis</a:t>
            </a:r>
          </a:p>
          <a:p>
            <a:pPr algn="l">
              <a:lnSpc>
                <a:spcPct val="142000"/>
              </a:lnSpc>
              <a:spcAft>
                <a:spcPts val="900"/>
              </a:spcAft>
            </a:pPr>
            <a:r>
              <a:rPr sz="1850" b="0" i="0">
                <a:solidFill>
                  <a:srgbClr val="FFFFFF"/>
                </a:solidFill>
                <a:latin typeface="Poppins"/>
              </a:rPr>
              <a:t>Résistant — il encaisse les objections sans bouger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Tu en as un.</a:t>
            </a:r>
          </a:p>
          <a:p>
            <a:pPr algn="ctr">
              <a:lnSpc>
                <a:spcPct val="134000"/>
              </a:lnSpc>
              <a:spcAft>
                <a:spcPts val="900"/>
              </a:spcAft>
            </a:pPr>
            <a:r>
              <a:rPr sz="2600" b="0" i="0">
                <a:solidFill>
                  <a:srgbClr val="FFFFFF"/>
                </a:solidFill>
                <a:latin typeface="Poppins"/>
              </a:rPr>
              <a:t>La question n'est pas si.</a:t>
            </a:r>
          </a:p>
          <a:p>
            <a:pPr algn="ctr">
              <a:lnSpc>
                <a:spcPct val="134000"/>
              </a:lnSpc>
              <a:spcAft>
                <a:spcPts val="900"/>
              </a:spcAft>
            </a:pPr>
            <a:r>
              <a:rPr sz="2600" b="0" i="0">
                <a:solidFill>
                  <a:srgbClr val="E3A94F"/>
                </a:solidFill>
                <a:latin typeface="Poppins"/>
              </a:rPr>
              <a:t>La question est lequel.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O</a:t>
            </a:r>
            <a:r>
              <a:rPr sz="6600" b="1" i="1">
                <a:solidFill>
                  <a:srgbClr val="131313"/>
                </a:solidFill>
                <a:latin typeface="Archivo"/>
              </a:rPr>
              <a:t>Ù</a:t>
            </a:r>
            <a:r>
              <a:rPr sz="6600" b="1" i="1">
                <a:solidFill>
                  <a:srgbClr val="131313"/>
                </a:solidFill>
                <a:latin typeface="Archivo"/>
              </a:rPr>
              <a:t> </a:t>
            </a:r>
            <a:r>
              <a:rPr sz="6600" b="1" i="1">
                <a:solidFill>
                  <a:srgbClr val="131313"/>
                </a:solidFill>
                <a:latin typeface="Archivo"/>
              </a:rPr>
              <a:t>I</a:t>
            </a:r>
            <a:r>
              <a:rPr sz="6600" b="1" i="1">
                <a:solidFill>
                  <a:srgbClr val="131313"/>
                </a:solidFill>
                <a:latin typeface="Archivo"/>
              </a:rPr>
              <a:t>L</a:t>
            </a:r>
            <a:r>
              <a:rPr sz="6600" b="1" i="1">
                <a:solidFill>
                  <a:srgbClr val="131313"/>
                </a:solidFill>
                <a:latin typeface="Archivo"/>
              </a:rPr>
              <a:t> </a:t>
            </a:r>
            <a:r>
              <a:rPr sz="6600" b="1" i="1">
                <a:solidFill>
                  <a:srgbClr val="191713"/>
                </a:solidFill>
                <a:latin typeface="Archivo"/>
              </a:rPr>
              <a:t>O</a:t>
            </a:r>
            <a:r>
              <a:rPr sz="6600" b="1" i="1">
                <a:solidFill>
                  <a:srgbClr val="221D15"/>
                </a:solidFill>
                <a:latin typeface="Archivo"/>
              </a:rPr>
              <a:t>P</a:t>
            </a:r>
            <a:r>
              <a:rPr sz="6600" b="1" i="1">
                <a:solidFill>
                  <a:srgbClr val="2A2316"/>
                </a:solidFill>
                <a:latin typeface="Archivo"/>
              </a:rPr>
              <a:t>È</a:t>
            </a:r>
            <a:r>
              <a:rPr sz="6600" b="1" i="1">
                <a:solidFill>
                  <a:srgbClr val="332917"/>
                </a:solidFill>
                <a:latin typeface="Archivo"/>
              </a:rPr>
              <a:t>R</a:t>
            </a:r>
            <a:r>
              <a:rPr sz="6600" b="1" i="1">
                <a:solidFill>
                  <a:srgbClr val="3C2F19"/>
                </a:solidFill>
                <a:latin typeface="Archivo"/>
              </a:rPr>
              <a:t>E</a:t>
            </a:r>
            <a:r>
              <a:rPr sz="6600" b="1" i="1">
                <a:solidFill>
                  <a:srgbClr val="45361A"/>
                </a:solidFill>
                <a:latin typeface="Archivo"/>
              </a:rPr>
              <a:t>,</a:t>
            </a:r>
            <a:r>
              <a:rPr sz="6600" b="1" i="1">
                <a:solidFill>
                  <a:srgbClr val="4E3C1B"/>
                </a:solidFill>
                <a:latin typeface="Archivo"/>
              </a:rPr>
              <a:t> </a:t>
            </a:r>
            <a:r>
              <a:rPr sz="6600" b="1" i="1">
                <a:solidFill>
                  <a:srgbClr val="57421C"/>
                </a:solidFill>
                <a:latin typeface="Archivo"/>
              </a:rPr>
              <a:t>C</a:t>
            </a:r>
            <a:r>
              <a:rPr sz="6600" b="1" i="1">
                <a:solidFill>
                  <a:srgbClr val="5F481E"/>
                </a:solidFill>
                <a:latin typeface="Archivo"/>
              </a:rPr>
              <a:t>O</a:t>
            </a:r>
            <a:r>
              <a:rPr sz="6600" b="1" i="1">
                <a:solidFill>
                  <a:srgbClr val="684E1F"/>
                </a:solidFill>
                <a:latin typeface="Archivo"/>
              </a:rPr>
              <a:t>N</a:t>
            </a:r>
            <a:r>
              <a:rPr sz="6600" b="1" i="1">
                <a:solidFill>
                  <a:srgbClr val="715420"/>
                </a:solidFill>
                <a:latin typeface="Archivo"/>
              </a:rPr>
              <a:t>C</a:t>
            </a:r>
            <a:r>
              <a:rPr sz="6600" b="1" i="1">
                <a:solidFill>
                  <a:srgbClr val="7A5A22"/>
                </a:solidFill>
                <a:latin typeface="Archivo"/>
              </a:rPr>
              <a:t>R</a:t>
            </a:r>
            <a:r>
              <a:rPr sz="6600" b="1" i="1">
                <a:solidFill>
                  <a:srgbClr val="836123"/>
                </a:solidFill>
                <a:latin typeface="Archivo"/>
              </a:rPr>
              <a:t>È</a:t>
            </a:r>
            <a:r>
              <a:rPr sz="6600" b="1" i="1">
                <a:solidFill>
                  <a:srgbClr val="8B6724"/>
                </a:solidFill>
                <a:latin typeface="Archivo"/>
              </a:rPr>
              <a:t>T</a:t>
            </a:r>
            <a:r>
              <a:rPr sz="6600" b="1" i="1">
                <a:solidFill>
                  <a:srgbClr val="946D25"/>
                </a:solidFill>
                <a:latin typeface="Archivo"/>
              </a:rPr>
              <a:t>E</a:t>
            </a:r>
            <a:r>
              <a:rPr sz="6600" b="1" i="1">
                <a:solidFill>
                  <a:srgbClr val="9D7327"/>
                </a:solidFill>
                <a:latin typeface="Archivo"/>
              </a:rPr>
              <a:t>M</a:t>
            </a:r>
            <a:r>
              <a:rPr sz="6600" b="1" i="1">
                <a:solidFill>
                  <a:srgbClr val="A67928"/>
                </a:solidFill>
                <a:latin typeface="Archivo"/>
              </a:rPr>
              <a:t>E</a:t>
            </a:r>
            <a:r>
              <a:rPr sz="6600" b="1" i="1">
                <a:solidFill>
                  <a:srgbClr val="AF7F29"/>
                </a:solidFill>
                <a:latin typeface="Archivo"/>
              </a:rPr>
              <a:t>N</a:t>
            </a:r>
            <a:r>
              <a:rPr sz="6600" b="1" i="1">
                <a:solidFill>
                  <a:srgbClr val="B8862B"/>
                </a:solidFill>
                <a:latin typeface="Archivo"/>
              </a:rPr>
              <a:t>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TROIS CONVICTIONS QUE TU N'AS JAMAIS CHOISIES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La valeur d'une personne se mesure à sa notoriété</a:t>
            </a:r>
          </a:p>
          <a:p>
            <a:pPr algn="l">
              <a:lnSpc>
                <a:spcPct val="142000"/>
              </a:lnSpc>
              <a:spcAft>
                <a:spcPts val="900"/>
              </a:spcAft>
            </a:pPr>
            <a:r>
              <a:rPr sz="1850" b="0" i="0">
                <a:solidFill>
                  <a:srgbClr val="E3A94F"/>
                </a:solidFill>
                <a:latin typeface="Poppins"/>
              </a:rPr>
              <a:t>👉 L'impact se mesure en chiffres</a:t>
            </a:r>
          </a:p>
          <a:p>
            <a:pPr algn="l">
              <a:lnSpc>
                <a:spcPct val="142000"/>
              </a:lnSpc>
              <a:spcAft>
                <a:spcPts val="900"/>
              </a:spcAft>
            </a:pPr>
            <a:r>
              <a:rPr sz="1850" b="0" i="0">
                <a:solidFill>
                  <a:srgbClr val="E3A94F"/>
                </a:solidFill>
                <a:latin typeface="Poppins"/>
              </a:rPr>
              <a:t>👉 « Montre-moi ton chiffre d'affaires et je saurai qui tu es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Il y a eu des prophètes suivis par trois personnes.</a:t>
            </a:r>
          </a:p>
          <a:p>
            <a:pPr algn="ctr">
              <a:lnSpc>
                <a:spcPct val="134000"/>
              </a:lnSpc>
              <a:spcAft>
                <a:spcPts val="900"/>
              </a:spcAft>
            </a:pPr>
            <a:r>
              <a:rPr sz="2600" b="0" i="0">
                <a:solidFill>
                  <a:srgbClr val="FFFFFF"/>
                </a:solidFill>
                <a:latin typeface="Poppins"/>
              </a:rPr>
              <a:t>Certains par deux.</a:t>
            </a:r>
          </a:p>
          <a:p>
            <a:pPr algn="ctr">
              <a:lnSpc>
                <a:spcPct val="134000"/>
              </a:lnSpc>
              <a:spcAft>
                <a:spcPts val="900"/>
              </a:spcAft>
            </a:pPr>
            <a:r>
              <a:rPr sz="2600" b="0" i="0">
                <a:solidFill>
                  <a:srgbClr val="E3A94F"/>
                </a:solidFill>
                <a:latin typeface="Poppins"/>
              </a:rPr>
              <a:t>Certains par personne.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Un prophète sans un seul disciple</a:t>
            </a:r>
          </a:p>
          <a:p>
            <a:pPr algn="ctr">
              <a:lnSpc>
                <a:spcPct val="134000"/>
              </a:lnSpc>
              <a:spcAft>
                <a:spcPts val="900"/>
              </a:spcAft>
            </a:pPr>
            <a:r>
              <a:rPr sz="2600" b="0" i="0">
                <a:solidFill>
                  <a:srgbClr val="E3A94F"/>
                </a:solidFill>
                <a:latin typeface="Poppins"/>
              </a:rPr>
              <a:t>n'est pas un mauvais prophète.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4300" b="1" i="1">
                <a:solidFill>
                  <a:srgbClr val="FFFFFF"/>
                </a:solidFill>
                <a:latin typeface="Archivo"/>
              </a:rPr>
              <a:t>LE RÉSULTAT N'ÉTAIT PAS SON DÉPARTEMENT.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 MAIS MOI J'AI DÉJÀ NETTOYÉ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LE FILTRE</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Il regarde un acte, un seul</a:t>
            </a:r>
          </a:p>
          <a:p>
            <a:pPr algn="l">
              <a:lnSpc>
                <a:spcPct val="140000"/>
              </a:lnSpc>
              <a:spcAft>
                <a:spcPts val="800"/>
              </a:spcAft>
            </a:pPr>
            <a:r>
              <a:rPr sz="1500" b="0" i="0">
                <a:solidFill>
                  <a:srgbClr val="CFCFCF"/>
                </a:solidFill>
                <a:latin typeface="Poppins"/>
              </a:rPr>
              <a:t>Licite ? on garde. Illicite ? on jette</a:t>
            </a:r>
          </a:p>
          <a:p>
            <a:pPr algn="l">
              <a:lnSpc>
                <a:spcPct val="140000"/>
              </a:lnSpc>
              <a:spcAft>
                <a:spcPts val="800"/>
              </a:spcAft>
            </a:pPr>
            <a:r>
              <a:rPr sz="1500" b="0" i="0">
                <a:solidFill>
                  <a:srgbClr val="CFCFCF"/>
                </a:solidFill>
                <a:latin typeface="Poppins"/>
              </a:rPr>
              <a:t>Nécessaire — rien ici ne vise à l'affaiblir</a:t>
            </a:r>
          </a:p>
          <a:p>
            <a:pPr algn="l">
              <a:lnSpc>
                <a:spcPct val="140000"/>
              </a:lnSpc>
              <a:spcAft>
                <a:spcPts val="800"/>
              </a:spcAft>
            </a:pPr>
            <a:r>
              <a:rPr sz="1500" b="0" i="0">
                <a:solidFill>
                  <a:srgbClr val="CFCFCF"/>
                </a:solidFill>
                <a:latin typeface="Poppins"/>
              </a:rPr>
              <a:t>Mais il ne touche jamais au cadre</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LE PARADIGME</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Il produit les actes</a:t>
            </a:r>
          </a:p>
          <a:p>
            <a:pPr algn="l">
              <a:lnSpc>
                <a:spcPct val="140000"/>
              </a:lnSpc>
              <a:spcAft>
                <a:spcPts val="800"/>
              </a:spcAft>
            </a:pPr>
            <a:r>
              <a:rPr sz="1500" b="0" i="0">
                <a:solidFill>
                  <a:srgbClr val="CFCFCF"/>
                </a:solidFill>
                <a:latin typeface="Poppins"/>
              </a:rPr>
              <a:t>Une logique génère des actes indéfiniment</a:t>
            </a:r>
          </a:p>
          <a:p>
            <a:pPr algn="l">
              <a:lnSpc>
                <a:spcPct val="140000"/>
              </a:lnSpc>
              <a:spcAft>
                <a:spcPts val="800"/>
              </a:spcAft>
            </a:pPr>
            <a:r>
              <a:rPr sz="1500" b="0" i="0">
                <a:solidFill>
                  <a:srgbClr val="CFCFCF"/>
                </a:solidFill>
                <a:latin typeface="Poppins"/>
              </a:rPr>
              <a:t>On en filtre un, puis dix, puis cent</a:t>
            </a:r>
          </a:p>
          <a:p>
            <a:pPr algn="l">
              <a:lnSpc>
                <a:spcPct val="140000"/>
              </a:lnSpc>
              <a:spcAft>
                <a:spcPts val="800"/>
              </a:spcAft>
            </a:pPr>
            <a:r>
              <a:rPr sz="1500" b="0" i="0">
                <a:solidFill>
                  <a:srgbClr val="CFCFCF"/>
                </a:solidFill>
                <a:latin typeface="Poppins"/>
              </a:rPr>
              <a:t>La logique, elle, continue</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On a nettoyé le haram.</a:t>
            </a:r>
          </a:p>
          <a:p>
            <a:pPr algn="ctr">
              <a:lnSpc>
                <a:spcPct val="134000"/>
              </a:lnSpc>
              <a:spcAft>
                <a:spcPts val="900"/>
              </a:spcAft>
            </a:pPr>
            <a:r>
              <a:rPr sz="2600" b="0" i="0">
                <a:solidFill>
                  <a:srgbClr val="E3A94F"/>
                </a:solidFill>
                <a:latin typeface="Poppins"/>
              </a:rPr>
              <a:t>On n'a pas touché aux racines.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Tant qu'on ne questionne pas la vision du monde</a:t>
            </a:r>
          </a:p>
          <a:p>
            <a:pPr algn="ctr">
              <a:lnSpc>
                <a:spcPct val="134000"/>
              </a:lnSpc>
              <a:spcAft>
                <a:spcPts val="900"/>
              </a:spcAft>
            </a:pPr>
            <a:r>
              <a:rPr sz="2600" b="0" i="0">
                <a:solidFill>
                  <a:srgbClr val="FFFFFF"/>
                </a:solidFill>
                <a:latin typeface="Poppins"/>
              </a:rPr>
              <a:t>qui a produit un modèle,</a:t>
            </a:r>
          </a:p>
          <a:p>
            <a:pPr algn="ctr">
              <a:lnSpc>
                <a:spcPct val="134000"/>
              </a:lnSpc>
              <a:spcAft>
                <a:spcPts val="900"/>
              </a:spcAft>
            </a:pPr>
            <a:r>
              <a:rPr sz="2600" b="0" i="0">
                <a:solidFill>
                  <a:srgbClr val="E3A94F"/>
                </a:solidFill>
                <a:latin typeface="Poppins"/>
              </a:rPr>
              <a:t>on passe sa vie à corriger ses effets.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ON EST DANS UNE VISION MATÉRIALISTE DANS LA DISCIPLINE ÉCONOMIQUE, MAIS QU'ON IGNORE. »</a:t>
            </a:r>
          </a:p>
          <a:p>
            <a:pPr algn="ctr">
              <a:spcAft>
                <a:spcPts val="1700"/>
              </a:spcAft>
            </a:pPr>
            <a:r>
              <a:rPr sz="1400" b="0" i="1">
                <a:solidFill>
                  <a:srgbClr val="E3A94F"/>
                </a:solidFill>
                <a:latin typeface="Poppins"/>
              </a:rPr>
              <a:t>— Dr Mohamed Talal Lahlou · docteur en sciences économiques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Alors il n'y a rien chez nous ? »</a:t>
            </a:r>
          </a:p>
          <a:p>
            <a:pPr algn="ctr">
              <a:lnSpc>
                <a:spcPct val="134000"/>
              </a:lnSpc>
              <a:spcAft>
                <a:spcPts val="900"/>
              </a:spcAft>
            </a:pPr>
            <a:r>
              <a:rPr sz="2600" b="0" i="0">
                <a:solidFill>
                  <a:srgbClr val="E3A94F"/>
                </a:solidFill>
                <a:latin typeface="Poppins"/>
              </a:rPr>
              <a:t>Si. Énormément.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LE PATRIMOINE EXISTE. IL EST SIMPLEMENT INACCESSIBLE.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Le fiqh al-muʿāmalāt est l'un des domaines les plus travaillés du droit musulman</a:t>
            </a:r>
          </a:p>
          <a:p>
            <a:pPr algn="l">
              <a:lnSpc>
                <a:spcPct val="142000"/>
              </a:lnSpc>
              <a:spcAft>
                <a:spcPts val="900"/>
              </a:spcAft>
            </a:pPr>
            <a:r>
              <a:rPr sz="1850" b="0" i="0">
                <a:solidFill>
                  <a:srgbClr val="FFFFFF"/>
                </a:solidFill>
                <a:latin typeface="Poppins"/>
              </a:rPr>
              <a:t>Des bibliothèques entières sur la vente, la dette, l'association, le prix juste</a:t>
            </a:r>
          </a:p>
          <a:p>
            <a:pPr algn="l">
              <a:lnSpc>
                <a:spcPct val="142000"/>
              </a:lnSpc>
              <a:spcAft>
                <a:spcPts val="900"/>
              </a:spcAft>
            </a:pPr>
            <a:r>
              <a:rPr sz="1850" b="0" i="0">
                <a:solidFill>
                  <a:srgbClr val="FFFFFF"/>
                </a:solidFill>
                <a:latin typeface="Poppins"/>
              </a:rPr>
              <a:t>Mais il s'adresse à des chercheurs</a:t>
            </a:r>
          </a:p>
          <a:p>
            <a:pPr algn="l">
              <a:lnSpc>
                <a:spcPct val="142000"/>
              </a:lnSpc>
              <a:spcAft>
                <a:spcPts val="900"/>
              </a:spcAft>
            </a:pPr>
            <a:r>
              <a:rPr sz="1850" b="0" i="0">
                <a:solidFill>
                  <a:srgbClr val="FFFFFF"/>
                </a:solidFill>
                <a:latin typeface="Poppins"/>
              </a:rPr>
              <a:t>Il ne rencontre jamais quelqu'un qui doit facturer un client vendredi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 n'est pas un vide.</a:t>
            </a:r>
          </a:p>
          <a:p>
            <a:pPr algn="ctr">
              <a:lnSpc>
                <a:spcPct val="134000"/>
              </a:lnSpc>
              <a:spcAft>
                <a:spcPts val="900"/>
              </a:spcAft>
            </a:pPr>
            <a:r>
              <a:rPr sz="2600" b="0" i="0">
                <a:solidFill>
                  <a:srgbClr val="FFFFFF"/>
                </a:solidFill>
                <a:latin typeface="Poppins"/>
              </a:rPr>
              <a:t>C'est un fossé.</a:t>
            </a:r>
          </a:p>
          <a:p>
            <a:pPr algn="ctr">
              <a:lnSpc>
                <a:spcPct val="134000"/>
              </a:lnSpc>
              <a:spcAft>
                <a:spcPts val="900"/>
              </a:spcAft>
            </a:pPr>
            <a:r>
              <a:rPr sz="2600" b="0" i="0">
                <a:solidFill>
                  <a:srgbClr val="E3A94F"/>
                </a:solidFill>
                <a:latin typeface="Poppins"/>
              </a:rPr>
              <a:t>Notre travail, c'est le pont.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622300" y="2884170"/>
            <a:ext cx="109474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2800" y="2884170"/>
            <a:ext cx="105664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O</a:t>
            </a:r>
            <a:r>
              <a:rPr sz="6600" b="1" i="1">
                <a:solidFill>
                  <a:srgbClr val="131313"/>
                </a:solidFill>
                <a:latin typeface="Archivo"/>
              </a:rPr>
              <a:t>N</a:t>
            </a:r>
            <a:r>
              <a:rPr sz="6600" b="1" i="1">
                <a:solidFill>
                  <a:srgbClr val="131313"/>
                </a:solidFill>
                <a:latin typeface="Archivo"/>
              </a:rPr>
              <a:t> </a:t>
            </a:r>
            <a:r>
              <a:rPr sz="6600" b="1" i="1">
                <a:solidFill>
                  <a:srgbClr val="131313"/>
                </a:solidFill>
                <a:latin typeface="Archivo"/>
              </a:rPr>
              <a:t>A</a:t>
            </a:r>
            <a:r>
              <a:rPr sz="6600" b="1" i="1">
                <a:solidFill>
                  <a:srgbClr val="131313"/>
                </a:solidFill>
                <a:latin typeface="Archivo"/>
              </a:rPr>
              <a:t>R</a:t>
            </a:r>
            <a:r>
              <a:rPr sz="6600" b="1" i="1">
                <a:solidFill>
                  <a:srgbClr val="1C1914"/>
                </a:solidFill>
                <a:latin typeface="Archivo"/>
              </a:rPr>
              <a:t>R</a:t>
            </a:r>
            <a:r>
              <a:rPr sz="6600" b="1" i="1">
                <a:solidFill>
                  <a:srgbClr val="272115"/>
                </a:solidFill>
                <a:latin typeface="Archivo"/>
              </a:rPr>
              <a:t>Ê</a:t>
            </a:r>
            <a:r>
              <a:rPr sz="6600" b="1" i="1">
                <a:solidFill>
                  <a:srgbClr val="322817"/>
                </a:solidFill>
                <a:latin typeface="Archivo"/>
              </a:rPr>
              <a:t>T</a:t>
            </a:r>
            <a:r>
              <a:rPr sz="6600" b="1" i="1">
                <a:solidFill>
                  <a:srgbClr val="3D3019"/>
                </a:solidFill>
                <a:latin typeface="Archivo"/>
              </a:rPr>
              <a:t>E</a:t>
            </a:r>
            <a:r>
              <a:rPr sz="6600" b="1" i="1">
                <a:solidFill>
                  <a:srgbClr val="48381A"/>
                </a:solidFill>
                <a:latin typeface="Archivo"/>
              </a:rPr>
              <a:t> </a:t>
            </a:r>
            <a:r>
              <a:rPr sz="6600" b="1" i="1">
                <a:solidFill>
                  <a:srgbClr val="53401C"/>
                </a:solidFill>
                <a:latin typeface="Archivo"/>
              </a:rPr>
              <a:t>L</a:t>
            </a:r>
            <a:r>
              <a:rPr sz="6600" b="1" i="1">
                <a:solidFill>
                  <a:srgbClr val="5E471E"/>
                </a:solidFill>
                <a:latin typeface="Archivo"/>
              </a:rPr>
              <a:t>A</a:t>
            </a:r>
            <a:r>
              <a:rPr sz="6600" b="1" i="1">
                <a:solidFill>
                  <a:srgbClr val="6A4F1F"/>
                </a:solidFill>
                <a:latin typeface="Archivo"/>
              </a:rPr>
              <a:t> </a:t>
            </a:r>
            <a:r>
              <a:rPr sz="6600" b="1" i="1">
                <a:solidFill>
                  <a:srgbClr val="755721"/>
                </a:solidFill>
                <a:latin typeface="Archivo"/>
              </a:rPr>
              <a:t>T</a:t>
            </a:r>
            <a:r>
              <a:rPr sz="6600" b="1" i="1">
                <a:solidFill>
                  <a:srgbClr val="805F22"/>
                </a:solidFill>
                <a:latin typeface="Archivo"/>
              </a:rPr>
              <a:t>H</a:t>
            </a:r>
            <a:r>
              <a:rPr sz="6600" b="1" i="1">
                <a:solidFill>
                  <a:srgbClr val="8B6624"/>
                </a:solidFill>
                <a:latin typeface="Archivo"/>
              </a:rPr>
              <a:t>É</a:t>
            </a:r>
            <a:r>
              <a:rPr sz="6600" b="1" i="1">
                <a:solidFill>
                  <a:srgbClr val="966E26"/>
                </a:solidFill>
                <a:latin typeface="Archivo"/>
              </a:rPr>
              <a:t>O</a:t>
            </a:r>
            <a:r>
              <a:rPr sz="6600" b="1" i="1">
                <a:solidFill>
                  <a:srgbClr val="A17627"/>
                </a:solidFill>
                <a:latin typeface="Archivo"/>
              </a:rPr>
              <a:t>R</a:t>
            </a:r>
            <a:r>
              <a:rPr sz="6600" b="1" i="1">
                <a:solidFill>
                  <a:srgbClr val="AC7E29"/>
                </a:solidFill>
                <a:latin typeface="Archivo"/>
              </a:rPr>
              <a:t>I</a:t>
            </a:r>
            <a:r>
              <a:rPr sz="6600" b="1" i="1">
                <a:solidFill>
                  <a:srgbClr val="B8862B"/>
                </a:solidFill>
                <a:latin typeface="Archivo"/>
              </a:rPr>
              <a: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SIX ENDROITS OÙ ÇA SE VOIT DANS TON AGENDA</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600"/>
              </a:spcAft>
            </a:pPr>
            <a:r>
              <a:rPr sz="1600" b="0" i="0">
                <a:solidFill>
                  <a:srgbClr val="FFFFFF"/>
                </a:solidFill>
                <a:latin typeface="Poppins"/>
              </a:rPr>
              <a:t>1. La finalité — c'est quoi le but du jeu ?</a:t>
            </a:r>
          </a:p>
          <a:p>
            <a:pPr algn="l">
              <a:lnSpc>
                <a:spcPct val="142000"/>
              </a:lnSpc>
              <a:spcAft>
                <a:spcPts val="600"/>
              </a:spcAft>
            </a:pPr>
            <a:r>
              <a:rPr sz="1600" b="0" i="0">
                <a:solidFill>
                  <a:srgbClr val="FFFFFF"/>
                </a:solidFill>
                <a:latin typeface="Poppins"/>
              </a:rPr>
              <a:t>2. La mesure — qu'est-ce que tu comptes le lundi matin ?</a:t>
            </a:r>
          </a:p>
          <a:p>
            <a:pPr algn="l">
              <a:lnSpc>
                <a:spcPct val="142000"/>
              </a:lnSpc>
              <a:spcAft>
                <a:spcPts val="600"/>
              </a:spcAft>
            </a:pPr>
            <a:r>
              <a:rPr sz="1600" b="0" i="0">
                <a:solidFill>
                  <a:srgbClr val="FFFFFF"/>
                </a:solidFill>
                <a:latin typeface="Poppins"/>
              </a:rPr>
              <a:t>3. Le profit et le risque — la marge, ou la transaction ?</a:t>
            </a:r>
          </a:p>
          <a:p>
            <a:pPr algn="l">
              <a:lnSpc>
                <a:spcPct val="142000"/>
              </a:lnSpc>
              <a:spcAft>
                <a:spcPts val="600"/>
              </a:spcAft>
            </a:pPr>
            <a:r>
              <a:rPr sz="1600" b="0" i="0">
                <a:solidFill>
                  <a:srgbClr val="FFFFFF"/>
                </a:solidFill>
                <a:latin typeface="Poppins"/>
              </a:rPr>
              <a:t>4. La croissance et la dette — tu grandis parce que tu veux, ou parce que tu dois ?</a:t>
            </a:r>
          </a:p>
          <a:p>
            <a:pPr algn="l">
              <a:lnSpc>
                <a:spcPct val="142000"/>
              </a:lnSpc>
              <a:spcAft>
                <a:spcPts val="600"/>
              </a:spcAft>
            </a:pPr>
            <a:r>
              <a:rPr sz="1600" b="0" i="0">
                <a:solidFill>
                  <a:srgbClr val="FFFFFF"/>
                </a:solidFill>
                <a:latin typeface="Poppins"/>
              </a:rPr>
              <a:t>5. La concurrence — écraser, ou l'abondance ?</a:t>
            </a:r>
          </a:p>
          <a:p>
            <a:pPr algn="l">
              <a:lnSpc>
                <a:spcPct val="142000"/>
              </a:lnSpc>
              <a:spcAft>
                <a:spcPts val="600"/>
              </a:spcAft>
            </a:pPr>
            <a:r>
              <a:rPr sz="1600" b="0" i="0">
                <a:solidFill>
                  <a:srgbClr val="FFFFFF"/>
                </a:solidFill>
                <a:latin typeface="Poppins"/>
              </a:rPr>
              <a:t>6. Le client et l'effet — « il était d'accord » suffit-il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Et il y en a un qui commande tous les autres.</a:t>
            </a:r>
          </a:p>
          <a:p>
            <a:pPr algn="ctr">
              <a:lnSpc>
                <a:spcPct val="134000"/>
              </a:lnSpc>
              <a:spcAft>
                <a:spcPts val="900"/>
              </a:spcAft>
            </a:pPr>
            <a:r>
              <a:rPr sz="2600" b="0" i="0">
                <a:solidFill>
                  <a:srgbClr val="E3A94F"/>
                </a:solidFill>
                <a:latin typeface="Poppins"/>
              </a:rPr>
              <a:t>On commence par celui-là.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1</a:t>
            </a:r>
          </a:p>
          <a:p>
            <a:pPr algn="ctr">
              <a:lnSpc>
                <a:spcPct val="106000"/>
              </a:lnSpc>
            </a:pPr>
            <a:r>
              <a:rPr sz="5000" b="1" i="1">
                <a:solidFill>
                  <a:srgbClr val="FFFFFF"/>
                </a:solidFill>
                <a:latin typeface="Archivo"/>
              </a:rPr>
              <a:t>LA FINALITÉ</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4300" b="1" i="1">
                <a:solidFill>
                  <a:srgbClr val="FFFFFF"/>
                </a:solidFill>
                <a:latin typeface="Archivo"/>
              </a:rPr>
              <a:t>C'EST QUOI LE BUT DU JEU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Quel est le premier chiffre</a:t>
            </a:r>
          </a:p>
          <a:p>
            <a:pPr algn="ctr">
              <a:lnSpc>
                <a:spcPct val="134000"/>
              </a:lnSpc>
              <a:spcAft>
                <a:spcPts val="900"/>
              </a:spcAft>
            </a:pPr>
            <a:r>
              <a:rPr sz="2600" b="0" i="0">
                <a:solidFill>
                  <a:srgbClr val="E3A94F"/>
                </a:solidFill>
                <a:latin typeface="Poppins"/>
              </a:rPr>
              <a:t>que tu regardes le matin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LA RESPONSABILITÉ SOCIALE DE L'ENTREPRISE, C'EST D'AUGMENTER SES PROFITS. »</a:t>
            </a:r>
          </a:p>
          <a:p>
            <a:pPr algn="ctr">
              <a:spcAft>
                <a:spcPts val="1700"/>
              </a:spcAft>
            </a:pPr>
            <a:r>
              <a:rPr sz="1400" b="0" i="1">
                <a:solidFill>
                  <a:srgbClr val="E3A94F"/>
                </a:solidFill>
                <a:latin typeface="Poppins"/>
              </a:rPr>
              <a:t>— Milton Friedman · New York Times, 1970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ET ÇA N'A JAMAIS CHANGÉ</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Alex Hormozi — une offre si bonne qu'on se sentirait bête de dire non</a:t>
            </a:r>
          </a:p>
          <a:p>
            <a:pPr algn="l">
              <a:lnSpc>
                <a:spcPct val="142000"/>
              </a:lnSpc>
              <a:spcAft>
                <a:spcPts val="900"/>
              </a:spcAft>
            </a:pPr>
            <a:r>
              <a:rPr sz="1850" b="0" i="0">
                <a:solidFill>
                  <a:srgbClr val="FFFFFF"/>
                </a:solidFill>
                <a:latin typeface="Poppins"/>
              </a:rPr>
              <a:t>Grant Cardone — Be obsessed or be average</a:t>
            </a:r>
          </a:p>
          <a:p>
            <a:pPr algn="l">
              <a:lnSpc>
                <a:spcPct val="142000"/>
              </a:lnSpc>
              <a:spcAft>
                <a:spcPts val="900"/>
              </a:spcAft>
            </a:pPr>
            <a:r>
              <a:rPr sz="1850" b="0" i="0">
                <a:solidFill>
                  <a:srgbClr val="FFFFFF"/>
                </a:solidFill>
                <a:latin typeface="Poppins"/>
              </a:rPr>
              <a:t>Robert Kiyosaki — que l'argent travaille pour toi</a:t>
            </a:r>
          </a:p>
          <a:p>
            <a:pPr algn="l">
              <a:lnSpc>
                <a:spcPct val="142000"/>
              </a:lnSpc>
              <a:spcAft>
                <a:spcPts val="900"/>
              </a:spcAft>
            </a:pPr>
            <a:r>
              <a:rPr sz="1850" b="0" i="0">
                <a:solidFill>
                  <a:srgbClr val="FFFFFF"/>
                </a:solidFill>
                <a:latin typeface="Poppins"/>
              </a:rPr>
              <a:t>Le reste — éthique, santé, famille, sommeil — devient une contrainte à optimiser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On l'appelle capitalisme.</a:t>
            </a:r>
          </a:p>
          <a:p>
            <a:pPr algn="ctr">
              <a:lnSpc>
                <a:spcPct val="134000"/>
              </a:lnSpc>
              <a:spcAft>
                <a:spcPts val="900"/>
              </a:spcAft>
            </a:pPr>
            <a:r>
              <a:rPr sz="2600" b="0" i="0">
                <a:solidFill>
                  <a:srgbClr val="E3A94F"/>
                </a:solidFill>
                <a:latin typeface="Poppins"/>
              </a:rPr>
              <a:t>On ne l'appelle pas travaillisme.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INCONSCIEMMENT, CE QUI A LE PLUS DE VALEUR, C'EST LE MATÉRIEL, CE N'EST PAS L'HUMAIN. SI C'ÉTAIT L'HUMAIN, ON L'AURAIT APPELÉ LE TRAVAILLISME, OU L'HUMANISME. »</a:t>
            </a:r>
          </a:p>
          <a:p>
            <a:pPr algn="ctr">
              <a:spcAft>
                <a:spcPts val="1700"/>
              </a:spcAft>
            </a:pPr>
            <a:r>
              <a:rPr sz="1400" b="0" i="1">
                <a:solidFill>
                  <a:srgbClr val="E3A94F"/>
                </a:solidFill>
                <a:latin typeface="Poppins"/>
              </a:rPr>
              <a:t>— Dr Mohamed Talal Lahlou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DIRE "JE NE ME SOUMETS NI À DIEU NI À RIEN D'AUTRE, JE SUIS LIBRE" — ÇA N'EXISTE PAS. »</a:t>
            </a:r>
          </a:p>
          <a:p>
            <a:pPr algn="ctr">
              <a:spcAft>
                <a:spcPts val="1700"/>
              </a:spcAft>
            </a:pPr>
            <a:r>
              <a:rPr sz="1400" b="0" i="1">
                <a:solidFill>
                  <a:srgbClr val="E3A94F"/>
                </a:solidFill>
                <a:latin typeface="Poppins"/>
              </a:rPr>
              <a:t>— Dr Chauki Lazhar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Tu ne choisis pas entre servir et ne pas servir.</a:t>
            </a:r>
          </a:p>
          <a:p>
            <a:pPr algn="ctr">
              <a:lnSpc>
                <a:spcPct val="134000"/>
              </a:lnSpc>
              <a:spcAft>
                <a:spcPts val="900"/>
              </a:spcAft>
            </a:pPr>
            <a:r>
              <a:rPr sz="2600" b="0" i="0">
                <a:solidFill>
                  <a:srgbClr val="E3A94F"/>
                </a:solidFill>
                <a:latin typeface="Poppins"/>
              </a:rPr>
              <a:t>Tu choisis qui tu sers.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LE COMMERÇANT VÉRIDIQUE ET DIGNE DE CONFIANCE SERA AVEC LES PROPHÈTES, LES VÉRIDIQUES ET LES MARTYRS. »</a:t>
            </a:r>
          </a:p>
          <a:p>
            <a:pPr algn="ctr">
              <a:spcAft>
                <a:spcPts val="1700"/>
              </a:spcAft>
            </a:pPr>
            <a:r>
              <a:rPr sz="1400" b="0" i="1">
                <a:solidFill>
                  <a:srgbClr val="E3A94F"/>
                </a:solidFill>
                <a:latin typeface="Poppins"/>
              </a:rPr>
              <a:t>— Jamiʿ at-Tirmidhî 1209 —</a:t>
            </a:r>
          </a:p>
          <a:p>
            <a:pPr algn="ctr">
              <a:lnSpc>
                <a:spcPct val="170000"/>
              </a:lnSpc>
              <a:spcAft>
                <a:spcPts val="500"/>
              </a:spcAft>
            </a:pPr>
            <a:r>
              <a:rPr sz="2300" b="0" i="0">
                <a:solidFill>
                  <a:srgbClr val="FFFFFF"/>
                </a:solidFill>
                <a:latin typeface="Noto Naskh Arabic"/>
              </a:rPr>
              <a:t>« التَّاجِرُ الصَّدُوقُ الْأَمِينُ مَعَ النَّبِيِّينَ وَالصِّدِّيقِينَ وَالشُّهَدَاءِ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ʿ</a:t>
            </a:r>
            <a:r>
              <a:rPr sz="6600" b="1" i="1">
                <a:solidFill>
                  <a:srgbClr val="131313"/>
                </a:solidFill>
                <a:latin typeface="Archivo"/>
              </a:rPr>
              <a:t>A</a:t>
            </a:r>
            <a:r>
              <a:rPr sz="6600" b="1" i="1">
                <a:solidFill>
                  <a:srgbClr val="131313"/>
                </a:solidFill>
                <a:latin typeface="Archivo"/>
              </a:rPr>
              <a:t>B</a:t>
            </a:r>
            <a:r>
              <a:rPr sz="6600" b="1" i="1">
                <a:solidFill>
                  <a:srgbClr val="131313"/>
                </a:solidFill>
                <a:latin typeface="Archivo"/>
              </a:rPr>
              <a:t>D</a:t>
            </a:r>
            <a:r>
              <a:rPr sz="6600" b="1" i="1">
                <a:solidFill>
                  <a:srgbClr val="131313"/>
                </a:solidFill>
                <a:latin typeface="Archivo"/>
              </a:rPr>
              <a:t> </a:t>
            </a:r>
            <a:r>
              <a:rPr sz="6600" b="1" i="1">
                <a:solidFill>
                  <a:srgbClr val="141413"/>
                </a:solidFill>
                <a:latin typeface="Archivo"/>
              </a:rPr>
              <a:t>A</a:t>
            </a:r>
            <a:r>
              <a:rPr sz="6600" b="1" i="1">
                <a:solidFill>
                  <a:srgbClr val="1E1A14"/>
                </a:solidFill>
                <a:latin typeface="Archivo"/>
              </a:rPr>
              <a:t>R</a:t>
            </a:r>
            <a:r>
              <a:rPr sz="6600" b="1" i="1">
                <a:solidFill>
                  <a:srgbClr val="272116"/>
                </a:solidFill>
                <a:latin typeface="Archivo"/>
              </a:rPr>
              <a:t>-</a:t>
            </a:r>
            <a:r>
              <a:rPr sz="6600" b="1" i="1">
                <a:solidFill>
                  <a:srgbClr val="312817"/>
                </a:solidFill>
                <a:latin typeface="Archivo"/>
              </a:rPr>
              <a:t>R</a:t>
            </a:r>
            <a:r>
              <a:rPr sz="6600" b="1" i="1">
                <a:solidFill>
                  <a:srgbClr val="3B2E18"/>
                </a:solidFill>
                <a:latin typeface="Archivo"/>
              </a:rPr>
              <a:t>A</a:t>
            </a:r>
            <a:r>
              <a:rPr sz="6600" b="1" i="1">
                <a:solidFill>
                  <a:srgbClr val="44351A"/>
                </a:solidFill>
                <a:latin typeface="Archivo"/>
              </a:rPr>
              <a:t>H</a:t>
            </a:r>
            <a:r>
              <a:rPr sz="6600" b="1" i="1">
                <a:solidFill>
                  <a:srgbClr val="4E3C1B"/>
                </a:solidFill>
                <a:latin typeface="Archivo"/>
              </a:rPr>
              <a:t>M</a:t>
            </a:r>
            <a:r>
              <a:rPr sz="6600" b="1" i="1">
                <a:solidFill>
                  <a:srgbClr val="57421D"/>
                </a:solidFill>
                <a:latin typeface="Archivo"/>
              </a:rPr>
              <a:t>Ā</a:t>
            </a:r>
            <a:r>
              <a:rPr sz="6600" b="1" i="1">
                <a:solidFill>
                  <a:srgbClr val="61491E"/>
                </a:solidFill>
                <a:latin typeface="Archivo"/>
              </a:rPr>
              <a:t>N</a:t>
            </a:r>
            <a:r>
              <a:rPr sz="6600" b="1" i="1">
                <a:solidFill>
                  <a:srgbClr val="6B501F"/>
                </a:solidFill>
                <a:latin typeface="Archivo"/>
              </a:rPr>
              <a:t> </a:t>
            </a:r>
            <a:r>
              <a:rPr sz="6600" b="1" i="1">
                <a:solidFill>
                  <a:srgbClr val="745721"/>
                </a:solidFill>
                <a:latin typeface="Archivo"/>
              </a:rPr>
              <a:t>I</a:t>
            </a:r>
            <a:r>
              <a:rPr sz="6600" b="1" i="1">
                <a:solidFill>
                  <a:srgbClr val="7E5D22"/>
                </a:solidFill>
                <a:latin typeface="Archivo"/>
              </a:rPr>
              <a:t>B</a:t>
            </a:r>
            <a:r>
              <a:rPr sz="6600" b="1" i="1">
                <a:solidFill>
                  <a:srgbClr val="876424"/>
                </a:solidFill>
                <a:latin typeface="Archivo"/>
              </a:rPr>
              <a:t>N</a:t>
            </a:r>
            <a:r>
              <a:rPr sz="6600" b="1" i="1">
                <a:solidFill>
                  <a:srgbClr val="916B25"/>
                </a:solidFill>
                <a:latin typeface="Archivo"/>
              </a:rPr>
              <a:t> </a:t>
            </a:r>
            <a:r>
              <a:rPr sz="6600" b="1" i="1">
                <a:solidFill>
                  <a:srgbClr val="9B7126"/>
                </a:solidFill>
                <a:latin typeface="Archivo"/>
              </a:rPr>
              <a:t>ʿ</a:t>
            </a:r>
            <a:r>
              <a:rPr sz="6600" b="1" i="1">
                <a:solidFill>
                  <a:srgbClr val="A47828"/>
                </a:solidFill>
                <a:latin typeface="Archivo"/>
              </a:rPr>
              <a:t>A</a:t>
            </a:r>
            <a:r>
              <a:rPr sz="6600" b="1" i="1">
                <a:solidFill>
                  <a:srgbClr val="AE7F29"/>
                </a:solidFill>
                <a:latin typeface="Archivo"/>
              </a:rPr>
              <a:t>W</a:t>
            </a:r>
            <a:r>
              <a:rPr sz="6600" b="1" i="1">
                <a:solidFill>
                  <a:srgbClr val="B8862B"/>
                </a:solidFill>
                <a:latin typeface="Archivo"/>
              </a:rPr>
              <a:t>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IL ARRIVE À MÉDINE APRÈS L'EXIL. IL N'A PLUS RIEN.</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Saʿd ibn ar-Rabīʿ lui propose la moitié de sa fortune</a:t>
            </a:r>
          </a:p>
          <a:p>
            <a:pPr algn="l">
              <a:lnSpc>
                <a:spcPct val="142000"/>
              </a:lnSpc>
              <a:spcAft>
                <a:spcPts val="900"/>
              </a:spcAft>
            </a:pPr>
            <a:r>
              <a:rPr sz="1850" b="0" i="0">
                <a:solidFill>
                  <a:srgbClr val="FFFFFF"/>
                </a:solidFill>
                <a:latin typeface="Poppins"/>
              </a:rPr>
              <a:t>Il refuse</a:t>
            </a:r>
          </a:p>
          <a:p>
            <a:pPr algn="l">
              <a:lnSpc>
                <a:spcPct val="142000"/>
              </a:lnSpc>
              <a:spcAft>
                <a:spcPts val="900"/>
              </a:spcAft>
            </a:pPr>
            <a:r>
              <a:rPr sz="1850" b="0" i="0">
                <a:solidFill>
                  <a:srgbClr val="FFFFFF"/>
                </a:solidFill>
                <a:latin typeface="Poppins"/>
              </a:rPr>
              <a:t>« Que Dieu te bénisse dans ta famille et tes biens — indiquez-moi seulement le marché »</a:t>
            </a:r>
          </a:p>
          <a:p>
            <a:pPr algn="l">
              <a:lnSpc>
                <a:spcPct val="142000"/>
              </a:lnSpc>
              <a:spcAft>
                <a:spcPts val="900"/>
              </a:spcAft>
            </a:pPr>
            <a:r>
              <a:rPr sz="1850" b="0" i="0">
                <a:solidFill>
                  <a:srgbClr val="FFFFFF"/>
                </a:solidFill>
                <a:latin typeface="Poppins"/>
              </a:rPr>
              <a:t>Il achète du beurre clarifié et du fromage sec. Et il reconstruit.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Un homme qui joue au Monopoly</a:t>
            </a:r>
          </a:p>
          <a:p>
            <a:pPr algn="ctr">
              <a:lnSpc>
                <a:spcPct val="134000"/>
              </a:lnSpc>
              <a:spcAft>
                <a:spcPts val="900"/>
              </a:spcAft>
            </a:pPr>
            <a:r>
              <a:rPr sz="2600" b="0" i="0">
                <a:solidFill>
                  <a:srgbClr val="E3A94F"/>
                </a:solidFill>
                <a:latin typeface="Poppins"/>
              </a:rPr>
              <a:t>ne refuse pas la moitié de la banque.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Il est mort immensément riche.</a:t>
            </a:r>
          </a:p>
          <a:p>
            <a:pPr algn="ctr">
              <a:lnSpc>
                <a:spcPct val="134000"/>
              </a:lnSpc>
              <a:spcAft>
                <a:spcPts val="900"/>
              </a:spcAft>
            </a:pPr>
            <a:r>
              <a:rPr sz="2600" b="0" i="0">
                <a:solidFill>
                  <a:srgbClr val="E3A94F"/>
                </a:solidFill>
                <a:latin typeface="Poppins"/>
              </a:rPr>
              <a:t>Ce n'était pas un accident de parcours.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Écris en une phrase : « je fais ce business pour ______ »</a:t>
            </a:r>
          </a:p>
          <a:p>
            <a:pPr algn="l">
              <a:lnSpc>
                <a:spcPct val="142000"/>
              </a:lnSpc>
              <a:spcAft>
                <a:spcPts val="1200"/>
              </a:spcAft>
            </a:pPr>
            <a:r>
              <a:rPr sz="1850" b="0" i="0">
                <a:solidFill>
                  <a:srgbClr val="FFFFFF"/>
                </a:solidFill>
                <a:latin typeface="Poppins"/>
              </a:rPr>
              <a:t>Ouvre ton agenda de la semaine écoulée</a:t>
            </a:r>
          </a:p>
          <a:p>
            <a:pPr algn="l">
              <a:lnSpc>
                <a:spcPct val="142000"/>
              </a:lnSpc>
              <a:spcAft>
                <a:spcPts val="1200"/>
              </a:spcAft>
            </a:pPr>
            <a:r>
              <a:rPr sz="1850" b="0" i="0">
                <a:solidFill>
                  <a:srgbClr val="FFFFFF"/>
                </a:solidFill>
                <a:latin typeface="Poppins"/>
              </a:rPr>
              <a:t>Est-ce qu'il confirme la phrase, ou est-ce qu'il la contredit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OÙ ON EN EST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1. La finalité — le but du jeu</a:t>
            </a:r>
          </a:p>
          <a:p>
            <a:pPr algn="l">
              <a:lnSpc>
                <a:spcPct val="142000"/>
              </a:lnSpc>
              <a:spcAft>
                <a:spcPts val="900"/>
              </a:spcAft>
            </a:pPr>
            <a:r>
              <a:rPr sz="1850" b="0" i="0">
                <a:solidFill>
                  <a:srgbClr val="FFFFFF"/>
                </a:solidFill>
                <a:latin typeface="Poppins"/>
              </a:rPr>
              <a:t>▶️ 2. La mesure</a:t>
            </a:r>
          </a:p>
          <a:p>
            <a:pPr algn="l">
              <a:lnSpc>
                <a:spcPct val="142000"/>
              </a:lnSpc>
              <a:spcAft>
                <a:spcPts val="900"/>
              </a:spcAft>
            </a:pPr>
            <a:r>
              <a:rPr sz="1850" b="0" i="0">
                <a:solidFill>
                  <a:srgbClr val="FFFFFF"/>
                </a:solidFill>
                <a:latin typeface="Poppins"/>
              </a:rPr>
              <a:t>3. Le profit et le risque · 4. La croissance et la dette</a:t>
            </a:r>
          </a:p>
          <a:p>
            <a:pPr algn="l">
              <a:lnSpc>
                <a:spcPct val="142000"/>
              </a:lnSpc>
              <a:spcAft>
                <a:spcPts val="900"/>
              </a:spcAft>
            </a:pPr>
            <a:r>
              <a:rPr sz="1850" b="0" i="0">
                <a:solidFill>
                  <a:srgbClr val="FFFFFF"/>
                </a:solidFill>
                <a:latin typeface="Poppins"/>
              </a:rPr>
              <a:t>5. La concurrence · 6. Le client et l'effet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On vient de changer le but du jeu.</a:t>
            </a:r>
          </a:p>
          <a:p>
            <a:pPr algn="ctr">
              <a:lnSpc>
                <a:spcPct val="134000"/>
              </a:lnSpc>
              <a:spcAft>
                <a:spcPts val="900"/>
              </a:spcAft>
            </a:pPr>
            <a:r>
              <a:rPr sz="2600" b="0" i="0">
                <a:solidFill>
                  <a:srgbClr val="E3A94F"/>
                </a:solidFill>
                <a:latin typeface="Poppins"/>
              </a:rPr>
              <a:t>Maintenant, regarde le tableau de score.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2</a:t>
            </a:r>
          </a:p>
          <a:p>
            <a:pPr algn="ctr">
              <a:lnSpc>
                <a:spcPct val="106000"/>
              </a:lnSpc>
            </a:pPr>
            <a:r>
              <a:rPr sz="5000" b="1" i="1">
                <a:solidFill>
                  <a:srgbClr val="FFFFFF"/>
                </a:solidFill>
                <a:latin typeface="Archivo"/>
              </a:rPr>
              <a:t>LA MESURE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Ouvre ton tableau de bord.</a:t>
            </a:r>
          </a:p>
          <a:p>
            <a:pPr algn="ctr">
              <a:lnSpc>
                <a:spcPct val="134000"/>
              </a:lnSpc>
              <a:spcAft>
                <a:spcPts val="900"/>
              </a:spcAft>
            </a:pPr>
            <a:r>
              <a:rPr sz="2600" b="0" i="0">
                <a:solidFill>
                  <a:srgbClr val="FFFFFF"/>
                </a:solidFill>
                <a:latin typeface="Poppins"/>
              </a:rPr>
              <a:t>Compte les lignes.</a:t>
            </a:r>
          </a:p>
          <a:p>
            <a:pPr algn="ctr">
              <a:lnSpc>
                <a:spcPct val="134000"/>
              </a:lnSpc>
              <a:spcAft>
                <a:spcPts val="900"/>
              </a:spcAft>
            </a:pPr>
            <a:r>
              <a:rPr sz="2600" b="0" i="0">
                <a:solidFill>
                  <a:srgbClr val="E3A94F"/>
                </a:solidFill>
                <a:latin typeface="Poppins"/>
              </a:rPr>
              <a:t>Combien sont des nombres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C'est l'objet le plus idéologique de ton entreprise.</a:t>
            </a:r>
          </a:p>
          <a:p>
            <a:pPr algn="ctr">
              <a:lnSpc>
                <a:spcPct val="134000"/>
              </a:lnSpc>
              <a:spcAft>
                <a:spcPts val="900"/>
              </a:spcAft>
            </a:pPr>
            <a:r>
              <a:rPr sz="2600" b="0" i="0">
                <a:solidFill>
                  <a:srgbClr val="FFFFFF"/>
                </a:solidFill>
                <a:latin typeface="Poppins"/>
              </a:rPr>
              <a:t>Et le plus invisible —</a:t>
            </a:r>
          </a:p>
          <a:p>
            <a:pPr algn="ctr">
              <a:lnSpc>
                <a:spcPct val="134000"/>
              </a:lnSpc>
              <a:spcAft>
                <a:spcPts val="900"/>
              </a:spcAft>
            </a:pPr>
            <a:r>
              <a:rPr sz="2600" b="0" i="0">
                <a:solidFill>
                  <a:srgbClr val="E3A94F"/>
                </a:solidFill>
                <a:latin typeface="Poppins"/>
              </a:rPr>
              <a:t>parce qu'il a l'air d'un outil de suivi.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WHAT GETS MEASURED GETS MANAGED. »</a:t>
            </a:r>
          </a:p>
          <a:p>
            <a:pPr algn="ctr">
              <a:spcAft>
                <a:spcPts val="1700"/>
              </a:spcAft>
            </a:pPr>
            <a:r>
              <a:rPr sz="1400" b="0" i="1">
                <a:solidFill>
                  <a:srgbClr val="E3A94F"/>
                </a:solidFill>
                <a:latin typeface="Poppins"/>
              </a:rPr>
              <a:t>— Formule attribuée à Peter Drucker · devenue le catéchisme du pilotage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 qui n'est pas mesurable ne disparaît pas</a:t>
            </a:r>
          </a:p>
          <a:p>
            <a:pPr algn="ctr">
              <a:lnSpc>
                <a:spcPct val="134000"/>
              </a:lnSpc>
              <a:spcAft>
                <a:spcPts val="900"/>
              </a:spcAft>
            </a:pPr>
            <a:r>
              <a:rPr sz="2600" b="0" i="0">
                <a:solidFill>
                  <a:srgbClr val="FFFFFF"/>
                </a:solidFill>
                <a:latin typeface="Poppins"/>
              </a:rPr>
              <a:t>parce qu'on l'a jugé sans valeur.</a:t>
            </a:r>
          </a:p>
          <a:p>
            <a:pPr algn="ctr">
              <a:lnSpc>
                <a:spcPct val="134000"/>
              </a:lnSpc>
              <a:spcAft>
                <a:spcPts val="900"/>
              </a:spcAft>
            </a:pPr>
            <a:r>
              <a:rPr sz="2600" b="0" i="0">
                <a:solidFill>
                  <a:srgbClr val="E3A94F"/>
                </a:solidFill>
                <a:latin typeface="Poppins"/>
              </a:rPr>
              <a:t>Il disparaît parce qu'il n'a pas de case.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LE BOIS, LE FER, LES DIAMANTS NE VOUS DISENT PAS CE QUI EST BIEN ET CE QUI EST MAL. CE SONT DES SUBSTANCES CHIMIQUES QUI NE PARLENT PAS. OR ON A BESOIN DE MORALE DANS LE MONDE ÉCONOMIQUE. »</a:t>
            </a:r>
          </a:p>
          <a:p>
            <a:pPr algn="ctr">
              <a:spcAft>
                <a:spcPts val="1700"/>
              </a:spcAft>
            </a:pPr>
            <a:r>
              <a:rPr sz="1400" b="0" i="1">
                <a:solidFill>
                  <a:srgbClr val="E3A94F"/>
                </a:solidFill>
                <a:latin typeface="Poppins"/>
              </a:rPr>
              <a:t>— Dr Mohamed Talal Lahlou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LA COURSE AU "PLUS" VOUS A DISTRAITS, JUSQU'À CE QUE VOUS VISITIEZ LES TOMBES. »</a:t>
            </a:r>
          </a:p>
          <a:p>
            <a:pPr algn="ctr">
              <a:spcAft>
                <a:spcPts val="1700"/>
              </a:spcAft>
            </a:pPr>
            <a:r>
              <a:rPr sz="1400" b="0" i="1">
                <a:solidFill>
                  <a:srgbClr val="E3A94F"/>
                </a:solidFill>
                <a:latin typeface="Poppins"/>
              </a:rPr>
              <a:t>— Sourate At-Takāthur, 102:1-2 —</a:t>
            </a:r>
          </a:p>
          <a:p>
            <a:pPr algn="ctr">
              <a:lnSpc>
                <a:spcPct val="170000"/>
              </a:lnSpc>
              <a:spcAft>
                <a:spcPts val="500"/>
              </a:spcAft>
            </a:pPr>
            <a:r>
              <a:rPr sz="2300" b="0" i="0">
                <a:solidFill>
                  <a:srgbClr val="FFFFFF"/>
                </a:solidFill>
                <a:latin typeface="Noto Naskh Arabic"/>
              </a:rPr>
              <a:t>﴿ أَلْهَاكُمُ التَّكَاثُرُ ۝ حَتَّىٰ زُرْتُمُ الْمَقَابِرَ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QUAND EST-CE QUE TU AS GAGNÉ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ORIENTÉ RÉSULTAT</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Tu as gagné quand le virement est arrivé</a:t>
            </a:r>
          </a:p>
          <a:p>
            <a:pPr algn="l">
              <a:lnSpc>
                <a:spcPct val="140000"/>
              </a:lnSpc>
              <a:spcAft>
                <a:spcPts val="800"/>
              </a:spcAft>
            </a:pPr>
            <a:r>
              <a:rPr sz="1500" b="0" i="0">
                <a:solidFill>
                  <a:srgbClr val="CFCFCF"/>
                </a:solidFill>
                <a:latin typeface="Poppins"/>
              </a:rPr>
              <a:t>Le chemin est un coût qu'on minimise</a:t>
            </a:r>
          </a:p>
          <a:p>
            <a:pPr algn="l">
              <a:lnSpc>
                <a:spcPct val="140000"/>
              </a:lnSpc>
              <a:spcAft>
                <a:spcPts val="800"/>
              </a:spcAft>
            </a:pPr>
            <a:r>
              <a:rPr sz="1500" b="0" i="0">
                <a:solidFill>
                  <a:srgbClr val="CFCFCF"/>
                </a:solidFill>
                <a:latin typeface="Poppins"/>
              </a:rPr>
              <a:t>Chaque vente incertaine devient une angoisse</a:t>
            </a:r>
          </a:p>
          <a:p>
            <a:pPr algn="l">
              <a:lnSpc>
                <a:spcPct val="140000"/>
              </a:lnSpc>
              <a:spcAft>
                <a:spcPts val="800"/>
              </a:spcAft>
            </a:pPr>
            <a:r>
              <a:rPr sz="1500" b="0" i="0">
                <a:solidFill>
                  <a:srgbClr val="CFCFCF"/>
                </a:solidFill>
                <a:latin typeface="Poppins"/>
              </a:rPr>
              <a:t>Un mois creux remet en cause ta valeur</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ORIENTÉ COMMANDEMENT</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Tu dis le défaut en premier</a:t>
            </a:r>
          </a:p>
          <a:p>
            <a:pPr algn="l">
              <a:lnSpc>
                <a:spcPct val="140000"/>
              </a:lnSpc>
              <a:spcAft>
                <a:spcPts val="800"/>
              </a:spcAft>
            </a:pPr>
            <a:r>
              <a:rPr sz="1500" b="0" i="0">
                <a:solidFill>
                  <a:srgbClr val="CFCFCF"/>
                </a:solidFill>
                <a:latin typeface="Poppins"/>
              </a:rPr>
              <a:t>L'acheteur part ? Tu n'as pas raté ta vente —</a:t>
            </a:r>
          </a:p>
          <a:p>
            <a:pPr algn="l">
              <a:lnSpc>
                <a:spcPct val="140000"/>
              </a:lnSpc>
              <a:spcAft>
                <a:spcPts val="800"/>
              </a:spcAft>
            </a:pPr>
            <a:r>
              <a:rPr sz="1500" b="0" i="0">
                <a:solidFill>
                  <a:srgbClr val="CFCFCF"/>
                </a:solidFill>
                <a:latin typeface="Poppins"/>
              </a:rPr>
              <a:t>tu as réussi ton commandement</a:t>
            </a:r>
          </a:p>
          <a:p>
            <a:pPr algn="l">
              <a:lnSpc>
                <a:spcPct val="140000"/>
              </a:lnSpc>
              <a:spcAft>
                <a:spcPts val="800"/>
              </a:spcAft>
            </a:pPr>
            <a:r>
              <a:rPr sz="1500" b="0" i="0">
                <a:solidFill>
                  <a:srgbClr val="CFCFCF"/>
                </a:solidFill>
                <a:latin typeface="Poppins"/>
              </a:rPr>
              <a:t>Fais les causes. Le résultat appartient à Dieu.</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résultat cesse d'être ton département.</a:t>
            </a:r>
          </a:p>
          <a:p>
            <a:pPr algn="ctr">
              <a:lnSpc>
                <a:spcPct val="134000"/>
              </a:lnSpc>
              <a:spcAft>
                <a:spcPts val="900"/>
              </a:spcAft>
            </a:pPr>
            <a:r>
              <a:rPr sz="2600" b="0" i="0">
                <a:solidFill>
                  <a:srgbClr val="FFFFFF"/>
                </a:solidFill>
                <a:latin typeface="Poppins"/>
              </a:rPr>
              <a:t>C'est très concrètement</a:t>
            </a:r>
          </a:p>
          <a:p>
            <a:pPr algn="ctr">
              <a:lnSpc>
                <a:spcPct val="134000"/>
              </a:lnSpc>
              <a:spcAft>
                <a:spcPts val="900"/>
              </a:spcAft>
            </a:pPr>
            <a:r>
              <a:rPr sz="2600" b="0" i="0">
                <a:solidFill>
                  <a:srgbClr val="E3A94F"/>
                </a:solidFill>
                <a:latin typeface="Poppins"/>
              </a:rPr>
              <a:t>ce qui permet de tenir.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UN MARTYR. UN SAVANT QUI A ENSEIGNÉ. UN RICHE QUI A BEAUCOUP DONNÉ. TROIS RÉSULTATS SPECTACULAIRES. LES TROIS SONT REJETÉS. « ILS L'ONT FAIT POUR QU'ON LE DISE. ET ON L'A DIT. »</a:t>
            </a:r>
          </a:p>
          <a:p>
            <a:pPr algn="ctr">
              <a:spcAft>
                <a:spcPts val="1700"/>
              </a:spcAft>
            </a:pPr>
            <a:r>
              <a:rPr sz="1400" b="0" i="1">
                <a:solidFill>
                  <a:srgbClr val="E3A94F"/>
                </a:solidFill>
                <a:latin typeface="Poppins"/>
              </a:rPr>
              <a:t>— Le hadith des trois premiers jugés · Sahîh Muslim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Aucun texte ne dit plus durement</a:t>
            </a:r>
          </a:p>
          <a:p>
            <a:pPr algn="ctr">
              <a:lnSpc>
                <a:spcPct val="134000"/>
              </a:lnSpc>
              <a:spcAft>
                <a:spcPts val="900"/>
              </a:spcAft>
            </a:pPr>
            <a:r>
              <a:rPr sz="2600" b="0" i="0">
                <a:solidFill>
                  <a:srgbClr val="E3A94F"/>
                </a:solidFill>
                <a:latin typeface="Poppins"/>
              </a:rPr>
              <a:t>que le résultat visible ne prouve rien.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LORSQUE TU AS DE L'ARGENT ET QUE TU DONNES FACILEMENT. »</a:t>
            </a:r>
          </a:p>
          <a:p>
            <a:pPr algn="ctr">
              <a:spcAft>
                <a:spcPts val="1700"/>
              </a:spcAft>
            </a:pPr>
            <a:r>
              <a:rPr sz="1400" b="0" i="1">
                <a:solidFill>
                  <a:srgbClr val="E3A94F"/>
                </a:solidFill>
                <a:latin typeface="Poppins"/>
              </a:rPr>
              <a:t>— Dr Chauki Lazhar, interrogé sur le critère qui permet de juger de son propre équilibre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Ajoute une ligne non chiffrable à ton tableau de bord — en premier</a:t>
            </a:r>
          </a:p>
          <a:p>
            <a:pPr algn="l">
              <a:lnSpc>
                <a:spcPct val="142000"/>
              </a:lnSpc>
              <a:spcAft>
                <a:spcPts val="1200"/>
              </a:spcAft>
            </a:pPr>
            <a:r>
              <a:rPr sz="1850" b="0" i="0">
                <a:solidFill>
                  <a:srgbClr val="FFFFFF"/>
                </a:solidFill>
                <a:latin typeface="Poppins"/>
              </a:rPr>
              <a:t>Par exemple : à qui ai-je été utile cette semaine, sans contrepartie ?</a:t>
            </a:r>
          </a:p>
          <a:p>
            <a:pPr algn="l">
              <a:lnSpc>
                <a:spcPct val="142000"/>
              </a:lnSpc>
              <a:spcAft>
                <a:spcPts val="1200"/>
              </a:spcAft>
            </a:pPr>
            <a:r>
              <a:rPr sz="1850" b="0" i="0">
                <a:solidFill>
                  <a:srgbClr val="FFFFFF"/>
                </a:solidFill>
                <a:latin typeface="Poppins"/>
              </a:rPr>
              <a:t>Chaque semaine, note une décision où tu as tenu alors que ça t'a coûté</a:t>
            </a:r>
          </a:p>
          <a:p>
            <a:pPr algn="l">
              <a:lnSpc>
                <a:spcPct val="142000"/>
              </a:lnSpc>
              <a:spcAft>
                <a:spcPts val="1200"/>
              </a:spcAft>
            </a:pPr>
            <a:r>
              <a:rPr sz="1850" b="0" i="0">
                <a:solidFill>
                  <a:srgbClr val="FFFFFF"/>
                </a:solidFill>
                <a:latin typeface="Poppins"/>
              </a:rPr>
              <a:t>Au même endroit que tes chiffres. Pas ailleurs.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OÙ ON EN EST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1. La finalité · ✅ 2. La mesure</a:t>
            </a:r>
          </a:p>
          <a:p>
            <a:pPr algn="l">
              <a:lnSpc>
                <a:spcPct val="142000"/>
              </a:lnSpc>
              <a:spcAft>
                <a:spcPts val="900"/>
              </a:spcAft>
            </a:pPr>
            <a:r>
              <a:rPr sz="1850" b="0" i="0">
                <a:solidFill>
                  <a:srgbClr val="FFFFFF"/>
                </a:solidFill>
                <a:latin typeface="Poppins"/>
              </a:rPr>
              <a:t>▶️ 3. Le profit et le risque</a:t>
            </a:r>
          </a:p>
          <a:p>
            <a:pPr algn="l">
              <a:lnSpc>
                <a:spcPct val="142000"/>
              </a:lnSpc>
              <a:spcAft>
                <a:spcPts val="900"/>
              </a:spcAft>
            </a:pPr>
            <a:r>
              <a:rPr sz="1850" b="0" i="0">
                <a:solidFill>
                  <a:srgbClr val="FFFFFF"/>
                </a:solidFill>
                <a:latin typeface="Poppins"/>
              </a:rPr>
              <a:t>4. La croissance et la dette · 5. La concurrence · 6. Le client et l'effet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but, le score.</a:t>
            </a:r>
          </a:p>
          <a:p>
            <a:pPr algn="ctr">
              <a:lnSpc>
                <a:spcPct val="134000"/>
              </a:lnSpc>
              <a:spcAft>
                <a:spcPts val="900"/>
              </a:spcAft>
            </a:pPr>
            <a:r>
              <a:rPr sz="2600" b="0" i="0">
                <a:solidFill>
                  <a:srgbClr val="E3A94F"/>
                </a:solidFill>
                <a:latin typeface="Poppins"/>
              </a:rPr>
              <a:t>On descend d'un cran : l'argent.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3</a:t>
            </a:r>
          </a:p>
          <a:p>
            <a:pPr algn="ctr">
              <a:lnSpc>
                <a:spcPct val="106000"/>
              </a:lnSpc>
            </a:pPr>
            <a:r>
              <a:rPr sz="5000" b="1" i="1">
                <a:solidFill>
                  <a:srgbClr val="FFFFFF"/>
                </a:solidFill>
                <a:latin typeface="Archivo"/>
              </a:rPr>
              <a:t>LE PROFIT ET LE RISQUE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Tu négocies.</a:t>
            </a:r>
          </a:p>
          <a:p>
            <a:pPr algn="ctr">
              <a:lnSpc>
                <a:spcPct val="134000"/>
              </a:lnSpc>
              <a:spcAft>
                <a:spcPts val="900"/>
              </a:spcAft>
            </a:pPr>
            <a:r>
              <a:rPr sz="2600" b="0" i="0">
                <a:solidFill>
                  <a:srgbClr val="FFFFFF"/>
                </a:solidFill>
                <a:latin typeface="Poppins"/>
              </a:rPr>
              <a:t>Tu sens qu'il reste encore un peu à prendre.</a:t>
            </a:r>
          </a:p>
          <a:p>
            <a:pPr algn="ctr">
              <a:lnSpc>
                <a:spcPct val="134000"/>
              </a:lnSpc>
              <a:spcAft>
                <a:spcPts val="900"/>
              </a:spcAft>
            </a:pPr>
            <a:r>
              <a:rPr sz="2600" b="0" i="0">
                <a:solidFill>
                  <a:srgbClr val="E3A94F"/>
                </a:solidFill>
                <a:latin typeface="Poppins"/>
              </a:rPr>
              <a:t>L'autre cédera.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La question n'est pas si tu en as le droit.</a:t>
            </a:r>
          </a:p>
          <a:p>
            <a:pPr algn="ctr">
              <a:lnSpc>
                <a:spcPct val="134000"/>
              </a:lnSpc>
              <a:spcAft>
                <a:spcPts val="900"/>
              </a:spcAft>
            </a:pPr>
            <a:r>
              <a:rPr sz="2600" b="0" i="0">
                <a:solidFill>
                  <a:srgbClr val="FFFFFF"/>
                </a:solidFill>
                <a:latin typeface="Poppins"/>
              </a:rPr>
              <a:t>Tu l'as.</a:t>
            </a:r>
          </a:p>
          <a:p>
            <a:pPr algn="ctr">
              <a:lnSpc>
                <a:spcPct val="134000"/>
              </a:lnSpc>
              <a:spcAft>
                <a:spcPts val="900"/>
              </a:spcAft>
            </a:pPr>
            <a:r>
              <a:rPr sz="2600" b="0" i="0">
                <a:solidFill>
                  <a:srgbClr val="E3A94F"/>
                </a:solidFill>
                <a:latin typeface="Poppins"/>
              </a:rPr>
              <a:t>La question est ce que tu décides.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VOTRE MARGE EST MON OPPORTUNITÉ. »</a:t>
            </a:r>
          </a:p>
          <a:p>
            <a:pPr algn="ctr">
              <a:spcAft>
                <a:spcPts val="1700"/>
              </a:spcAft>
            </a:pPr>
            <a:r>
              <a:rPr sz="1400" b="0" i="1">
                <a:solidFill>
                  <a:srgbClr val="E3A94F"/>
                </a:solidFill>
                <a:latin typeface="Poppins"/>
              </a:rPr>
              <a:t>— Jeff Bezos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LOGIQUE DE MARGE</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Extraire le maximum de chaque transaction</a:t>
            </a:r>
          </a:p>
          <a:p>
            <a:pPr algn="l">
              <a:lnSpc>
                <a:spcPct val="140000"/>
              </a:lnSpc>
              <a:spcAft>
                <a:spcPts val="800"/>
              </a:spcAft>
            </a:pPr>
            <a:r>
              <a:rPr sz="1500" b="0" i="0">
                <a:solidFill>
                  <a:srgbClr val="CFCFCF"/>
                </a:solidFill>
                <a:latin typeface="Poppins"/>
              </a:rPr>
              <a:t>Le dernier euro laissé sur la table est une perte</a:t>
            </a:r>
          </a:p>
          <a:p>
            <a:pPr algn="l">
              <a:lnSpc>
                <a:spcPct val="140000"/>
              </a:lnSpc>
              <a:spcAft>
                <a:spcPts val="800"/>
              </a:spcAft>
            </a:pPr>
            <a:r>
              <a:rPr sz="1500" b="0" i="0">
                <a:solidFill>
                  <a:srgbClr val="CFCFCF"/>
                </a:solidFill>
                <a:latin typeface="Poppins"/>
              </a:rPr>
              <a:t>Un rapport de force dont on sort gagnant ou perdant</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LOGIQUE DE CIRCULATION</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La bénédiction est dans l'échange, pas dans la marge</a:t>
            </a:r>
          </a:p>
          <a:p>
            <a:pPr algn="l">
              <a:lnSpc>
                <a:spcPct val="140000"/>
              </a:lnSpc>
              <a:spcAft>
                <a:spcPts val="800"/>
              </a:spcAft>
            </a:pPr>
            <a:r>
              <a:rPr sz="1500" b="0" i="0">
                <a:solidFill>
                  <a:srgbClr val="CFCFCF"/>
                </a:solidFill>
                <a:latin typeface="Poppins"/>
              </a:rPr>
              <a:t>Ce qui tourne est béni</a:t>
            </a:r>
          </a:p>
          <a:p>
            <a:pPr algn="l">
              <a:lnSpc>
                <a:spcPct val="140000"/>
              </a:lnSpc>
              <a:spcAft>
                <a:spcPts val="800"/>
              </a:spcAft>
            </a:pPr>
            <a:r>
              <a:rPr sz="1500" b="0" i="0">
                <a:solidFill>
                  <a:srgbClr val="CFCFCF"/>
                </a:solidFill>
                <a:latin typeface="Poppins"/>
              </a:rPr>
              <a:t>On laisse volontairement — non par faiblesse, par principe</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QUE DIEU FASSE MISÉRICORDE À L'HOMME INDULGENT QUAND IL VEND, QUAND IL ACHÈTE, ET QUAND IL RÉCLAME SON DÛ. »</a:t>
            </a:r>
          </a:p>
          <a:p>
            <a:pPr algn="ctr">
              <a:spcAft>
                <a:spcPts val="1700"/>
              </a:spcAft>
            </a:pPr>
            <a:r>
              <a:rPr sz="1400" b="0" i="1">
                <a:solidFill>
                  <a:srgbClr val="E3A94F"/>
                </a:solidFill>
                <a:latin typeface="Poppins"/>
              </a:rPr>
              <a:t>— Sahîh al-Bukhârî —</a:t>
            </a:r>
          </a:p>
          <a:p>
            <a:pPr algn="ctr">
              <a:lnSpc>
                <a:spcPct val="170000"/>
              </a:lnSpc>
              <a:spcAft>
                <a:spcPts val="500"/>
              </a:spcAft>
            </a:pPr>
            <a:r>
              <a:rPr sz="2300" b="0" i="0">
                <a:solidFill>
                  <a:srgbClr val="FFFFFF"/>
                </a:solidFill>
                <a:latin typeface="Noto Naskh Arabic"/>
              </a:rPr>
              <a:t>« رَحِمَ اللَّهُ رَجُلًا سَمْحًا إِذَا بَاعَ، وَإِذَا اشْتَرَى، وَإِذَا اقْتَضَى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ʿURWA AL-BĀRIQĪ</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Le Prophète ﷺ lui confie un dinar pour acheter un mouton</a:t>
            </a:r>
          </a:p>
          <a:p>
            <a:pPr algn="l">
              <a:lnSpc>
                <a:spcPct val="142000"/>
              </a:lnSpc>
              <a:spcAft>
                <a:spcPts val="900"/>
              </a:spcAft>
            </a:pPr>
            <a:r>
              <a:rPr sz="1850" b="0" i="0">
                <a:solidFill>
                  <a:srgbClr val="FFFFFF"/>
                </a:solidFill>
                <a:latin typeface="Poppins"/>
              </a:rPr>
              <a:t>Il en achète deux, en revend un pour un dinar</a:t>
            </a:r>
          </a:p>
          <a:p>
            <a:pPr algn="l">
              <a:lnSpc>
                <a:spcPct val="142000"/>
              </a:lnSpc>
              <a:spcAft>
                <a:spcPts val="900"/>
              </a:spcAft>
            </a:pPr>
            <a:r>
              <a:rPr sz="1850" b="0" i="0">
                <a:solidFill>
                  <a:srgbClr val="FFFFFF"/>
                </a:solidFill>
                <a:latin typeface="Poppins"/>
              </a:rPr>
              <a:t>Il revient avec un mouton ET le dinar</a:t>
            </a:r>
          </a:p>
          <a:p>
            <a:pPr algn="l">
              <a:lnSpc>
                <a:spcPct val="142000"/>
              </a:lnSpc>
              <a:spcAft>
                <a:spcPts val="900"/>
              </a:spcAft>
            </a:pPr>
            <a:r>
              <a:rPr sz="1850" b="0" i="0">
                <a:solidFill>
                  <a:srgbClr val="FFFFFF"/>
                </a:solidFill>
                <a:latin typeface="Poppins"/>
              </a:rPr>
              <a:t>L'invocation ne porte pas sur le montant : « ô Dieu, bénis son commerce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C'est l'opération qui est bénie.</a:t>
            </a:r>
          </a:p>
          <a:p>
            <a:pPr algn="ctr">
              <a:lnSpc>
                <a:spcPct val="134000"/>
              </a:lnSpc>
              <a:spcAft>
                <a:spcPts val="900"/>
              </a:spcAft>
            </a:pPr>
            <a:r>
              <a:rPr sz="2600" b="0" i="0">
                <a:solidFill>
                  <a:srgbClr val="FFFFFF"/>
                </a:solidFill>
                <a:latin typeface="Poppins"/>
              </a:rPr>
              <a:t>L'acte d'échanger.</a:t>
            </a:r>
          </a:p>
          <a:p>
            <a:pPr algn="ctr">
              <a:lnSpc>
                <a:spcPct val="134000"/>
              </a:lnSpc>
              <a:spcAft>
                <a:spcPts val="900"/>
              </a:spcAft>
            </a:pPr>
            <a:r>
              <a:rPr sz="2600" b="0" i="0">
                <a:solidFill>
                  <a:srgbClr val="E3A94F"/>
                </a:solidFill>
                <a:latin typeface="Poppins"/>
              </a:rPr>
              <a:t>Pas le solde.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Donc il faut vendre moins cher. »</a:t>
            </a:r>
          </a:p>
          <a:p>
            <a:pPr algn="ctr">
              <a:lnSpc>
                <a:spcPct val="134000"/>
              </a:lnSpc>
              <a:spcAft>
                <a:spcPts val="900"/>
              </a:spcAft>
            </a:pPr>
            <a:r>
              <a:rPr sz="2600" b="0" i="0">
                <a:solidFill>
                  <a:srgbClr val="E3A94F"/>
                </a:solidFill>
                <a:latin typeface="Poppins"/>
              </a:rPr>
              <a:t>Non.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On laisse volontairement.</a:t>
            </a:r>
          </a:p>
          <a:p>
            <a:pPr algn="ctr">
              <a:lnSpc>
                <a:spcPct val="134000"/>
              </a:lnSpc>
              <a:spcAft>
                <a:spcPts val="900"/>
              </a:spcAft>
            </a:pPr>
            <a:r>
              <a:rPr sz="2600" b="0" i="0">
                <a:solidFill>
                  <a:srgbClr val="E3A94F"/>
                </a:solidFill>
                <a:latin typeface="Poppins"/>
              </a:rPr>
              <a:t>On ne se fait pas prendre.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879600" y="2884170"/>
            <a:ext cx="84328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70100" y="2884170"/>
            <a:ext cx="80518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Q</a:t>
            </a:r>
            <a:r>
              <a:rPr sz="6600" b="1" i="1">
                <a:solidFill>
                  <a:srgbClr val="131313"/>
                </a:solidFill>
                <a:latin typeface="Archivo"/>
              </a:rPr>
              <a:t>U</a:t>
            </a:r>
            <a:r>
              <a:rPr sz="6600" b="1" i="1">
                <a:solidFill>
                  <a:srgbClr val="131313"/>
                </a:solidFill>
                <a:latin typeface="Archivo"/>
              </a:rPr>
              <a:t>I</a:t>
            </a:r>
            <a:r>
              <a:rPr sz="6600" b="1" i="1">
                <a:solidFill>
                  <a:srgbClr val="131313"/>
                </a:solidFill>
                <a:latin typeface="Archivo"/>
              </a:rPr>
              <a:t> </a:t>
            </a:r>
            <a:r>
              <a:rPr sz="6600" b="1" i="1">
                <a:solidFill>
                  <a:srgbClr val="201C15"/>
                </a:solidFill>
                <a:latin typeface="Archivo"/>
              </a:rPr>
              <a:t>P</a:t>
            </a:r>
            <a:r>
              <a:rPr sz="6600" b="1" i="1">
                <a:solidFill>
                  <a:srgbClr val="302717"/>
                </a:solidFill>
                <a:latin typeface="Archivo"/>
              </a:rPr>
              <a:t>E</a:t>
            </a:r>
            <a:r>
              <a:rPr sz="6600" b="1" i="1">
                <a:solidFill>
                  <a:srgbClr val="3F3119"/>
                </a:solidFill>
                <a:latin typeface="Archivo"/>
              </a:rPr>
              <a:t>R</a:t>
            </a:r>
            <a:r>
              <a:rPr sz="6600" b="1" i="1">
                <a:solidFill>
                  <a:srgbClr val="4E3C1B"/>
                </a:solidFill>
                <a:latin typeface="Archivo"/>
              </a:rPr>
              <a:t>D</a:t>
            </a:r>
            <a:r>
              <a:rPr sz="6600" b="1" i="1">
                <a:solidFill>
                  <a:srgbClr val="5D461D"/>
                </a:solidFill>
                <a:latin typeface="Archivo"/>
              </a:rPr>
              <a:t> </a:t>
            </a:r>
            <a:r>
              <a:rPr sz="6600" b="1" i="1">
                <a:solidFill>
                  <a:srgbClr val="6C5120"/>
                </a:solidFill>
                <a:latin typeface="Archivo"/>
              </a:rPr>
              <a:t>Q</a:t>
            </a:r>
            <a:r>
              <a:rPr sz="6600" b="1" i="1">
                <a:solidFill>
                  <a:srgbClr val="7B5B22"/>
                </a:solidFill>
                <a:latin typeface="Archivo"/>
              </a:rPr>
              <a:t>U</a:t>
            </a:r>
            <a:r>
              <a:rPr sz="6600" b="1" i="1">
                <a:solidFill>
                  <a:srgbClr val="8A6624"/>
                </a:solidFill>
                <a:latin typeface="Archivo"/>
              </a:rPr>
              <a:t>O</a:t>
            </a:r>
            <a:r>
              <a:rPr sz="6600" b="1" i="1">
                <a:solidFill>
                  <a:srgbClr val="997026"/>
                </a:solidFill>
                <a:latin typeface="Archivo"/>
              </a:rPr>
              <a:t>I</a:t>
            </a:r>
            <a:r>
              <a:rPr sz="6600" b="1" i="1">
                <a:solidFill>
                  <a:srgbClr val="A87B28"/>
                </a:solidFill>
                <a:latin typeface="Archivo"/>
              </a:rPr>
              <a:t> </a:t>
            </a:r>
            <a:r>
              <a:rPr sz="6600" b="1" i="1">
                <a:solidFill>
                  <a:srgbClr val="B8862B"/>
                </a:solidFill>
                <a:latin typeface="Archivo"/>
              </a:rP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100" b="0" i="0">
                <a:solidFill>
                  <a:srgbClr val="FFFFFF"/>
                </a:solidFill>
                <a:latin typeface="Poppins"/>
              </a:rPr>
              <a:t>Ton associé veut trente pour cent des bénéfices.</a:t>
            </a:r>
          </a:p>
          <a:p>
            <a:pPr algn="ctr">
              <a:lnSpc>
                <a:spcPct val="134000"/>
              </a:lnSpc>
              <a:spcAft>
                <a:spcPts val="900"/>
              </a:spcAft>
            </a:pPr>
            <a:r>
              <a:rPr sz="2100" b="0" i="0">
                <a:solidFill>
                  <a:srgbClr val="FFFFFF"/>
                </a:solidFill>
                <a:latin typeface="Poppins"/>
              </a:rPr>
              <a:t>Tu lui demandes s'il prend trente pour cent des pertes.</a:t>
            </a:r>
          </a:p>
          <a:p>
            <a:pPr algn="ctr">
              <a:lnSpc>
                <a:spcPct val="134000"/>
              </a:lnSpc>
              <a:spcAft>
                <a:spcPts val="900"/>
              </a:spcAft>
            </a:pPr>
            <a:r>
              <a:rPr sz="2100" b="0" i="0">
                <a:solidFill>
                  <a:srgbClr val="E3A94F"/>
                </a:solidFill>
                <a:latin typeface="Poppins"/>
              </a:rPr>
              <a:t>Le silence qui suit est la matière de cet axe.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DIEU A RENDU LICITE LE COMMERCE ET ILLICITE L'INTÉRÊT. »</a:t>
            </a:r>
          </a:p>
          <a:p>
            <a:pPr algn="ctr">
              <a:spcAft>
                <a:spcPts val="1700"/>
              </a:spcAft>
            </a:pPr>
            <a:r>
              <a:rPr sz="1400" b="0" i="1">
                <a:solidFill>
                  <a:srgbClr val="E3A94F"/>
                </a:solidFill>
                <a:latin typeface="Poppins"/>
              </a:rPr>
              <a:t>— Sourate Al-Baqarah, 2:275 —</a:t>
            </a:r>
          </a:p>
          <a:p>
            <a:pPr algn="ctr">
              <a:lnSpc>
                <a:spcPct val="170000"/>
              </a:lnSpc>
              <a:spcAft>
                <a:spcPts val="500"/>
              </a:spcAft>
            </a:pPr>
            <a:r>
              <a:rPr sz="2300" b="0" i="0">
                <a:solidFill>
                  <a:srgbClr val="FFFFFF"/>
                </a:solidFill>
                <a:latin typeface="Noto Naskh Arabic"/>
              </a:rPr>
              <a:t>﴿ وَأَحَلَّ اللَّهُ الْبَيْعَ وَحَرَّمَ الرِّبَا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Deux façons de faire de l'argent.</a:t>
            </a:r>
          </a:p>
          <a:p>
            <a:pPr algn="ctr">
              <a:lnSpc>
                <a:spcPct val="134000"/>
              </a:lnSpc>
              <a:spcAft>
                <a:spcPts val="900"/>
              </a:spcAft>
            </a:pPr>
            <a:r>
              <a:rPr sz="2600" b="0" i="0">
                <a:solidFill>
                  <a:srgbClr val="E3A94F"/>
                </a:solidFill>
                <a:latin typeface="Poppins"/>
              </a:rPr>
              <a:t>Une seule porte le risque.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LA LIGNE N'EST PAS OÙ TU CROIS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600" b="0" i="0">
                <a:solidFill>
                  <a:srgbClr val="FFFFFF"/>
                </a:solidFill>
                <a:latin typeface="Poppins"/>
              </a:rPr>
              <a:t>Elle ne passe pas entre le revenu qui exige ta présence</a:t>
            </a:r>
          </a:p>
          <a:p>
            <a:pPr algn="l">
              <a:lnSpc>
                <a:spcPct val="142000"/>
              </a:lnSpc>
              <a:spcAft>
                <a:spcPts val="900"/>
              </a:spcAft>
            </a:pPr>
            <a:r>
              <a:rPr sz="1600" b="0" i="0">
                <a:solidFill>
                  <a:srgbClr val="FFFFFF"/>
                </a:solidFill>
                <a:latin typeface="Poppins"/>
              </a:rPr>
              <a:t>et celui qui tombe sans toi</a:t>
            </a:r>
          </a:p>
          <a:p>
            <a:pPr algn="l">
              <a:lnSpc>
                <a:spcPct val="142000"/>
              </a:lnSpc>
              <a:spcAft>
                <a:spcPts val="900"/>
              </a:spcAft>
            </a:pPr>
            <a:r>
              <a:rPr sz="1600" b="0" i="0">
                <a:solidFill>
                  <a:srgbClr val="FFFFFF"/>
                </a:solidFill>
                <a:latin typeface="Poppins"/>
              </a:rPr>
              <a:t>Un bien loué que tu entretiens et que tu peux perdre — il y a contrepartie</a:t>
            </a:r>
          </a:p>
          <a:p>
            <a:pPr algn="l">
              <a:lnSpc>
                <a:spcPct val="142000"/>
              </a:lnSpc>
              <a:spcAft>
                <a:spcPts val="900"/>
              </a:spcAft>
            </a:pPr>
            <a:r>
              <a:rPr sz="1600" b="0" i="0">
                <a:solidFill>
                  <a:srgbClr val="FFFFFF"/>
                </a:solidFill>
                <a:latin typeface="Poppins"/>
              </a:rPr>
              <a:t>Une part de société dont tu assumes aussi les pertes — il y a contrepartie</a:t>
            </a:r>
          </a:p>
          <a:p>
            <a:pPr algn="l">
              <a:lnSpc>
                <a:spcPct val="142000"/>
              </a:lnSpc>
              <a:spcAft>
                <a:spcPts val="900"/>
              </a:spcAft>
            </a:pPr>
            <a:r>
              <a:rPr sz="1600" b="0" i="0">
                <a:solidFill>
                  <a:srgbClr val="E3A94F"/>
                </a:solidFill>
                <a:latin typeface="Poppins"/>
              </a:rPr>
              <a:t>👉 Elle passe entre le gain qui a une cause et celui qui n'en a pas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Sur un devis cette semaine, affiche la structure :</a:t>
            </a:r>
          </a:p>
          <a:p>
            <a:pPr algn="l">
              <a:lnSpc>
                <a:spcPct val="142000"/>
              </a:lnSpc>
              <a:spcAft>
                <a:spcPts val="1200"/>
              </a:spcAft>
            </a:pPr>
            <a:r>
              <a:rPr sz="1850" b="0" i="0">
                <a:solidFill>
                  <a:srgbClr val="FFFFFF"/>
                </a:solidFill>
                <a:latin typeface="Poppins"/>
              </a:rPr>
              <a:t>voilà ce que ça me coûte, voilà ma marge, voilà le prix</a:t>
            </a:r>
          </a:p>
          <a:p>
            <a:pPr algn="l">
              <a:lnSpc>
                <a:spcPct val="142000"/>
              </a:lnSpc>
              <a:spcAft>
                <a:spcPts val="1200"/>
              </a:spcAft>
            </a:pPr>
            <a:r>
              <a:rPr sz="1850" b="0" i="0">
                <a:solidFill>
                  <a:srgbClr val="FFFFFF"/>
                </a:solidFill>
                <a:latin typeface="Poppins"/>
              </a:rPr>
              <a:t>Relis ton pacte d'associés — ou écris-le si tu n'en as pas</a:t>
            </a:r>
          </a:p>
          <a:p>
            <a:pPr algn="l">
              <a:lnSpc>
                <a:spcPct val="142000"/>
              </a:lnSpc>
              <a:spcAft>
                <a:spcPts val="1200"/>
              </a:spcAft>
            </a:pPr>
            <a:r>
              <a:rPr sz="1850" b="0" i="0">
                <a:solidFill>
                  <a:srgbClr val="FFFFFF"/>
                </a:solidFill>
                <a:latin typeface="Poppins"/>
              </a:rPr>
              <a:t>Une seule question : qui perd quoi, si ça tourne mal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OÙ ON EN EST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1. La finalité · ✅ 2. La mesure · ✅ 3. Le profit et le risque</a:t>
            </a:r>
          </a:p>
          <a:p>
            <a:pPr algn="l">
              <a:lnSpc>
                <a:spcPct val="142000"/>
              </a:lnSpc>
              <a:spcAft>
                <a:spcPts val="900"/>
              </a:spcAft>
            </a:pPr>
            <a:r>
              <a:rPr sz="1850" b="0" i="0">
                <a:solidFill>
                  <a:srgbClr val="FFFFFF"/>
                </a:solidFill>
                <a:latin typeface="Poppins"/>
              </a:rPr>
              <a:t>▶️ 4. La croissance et la dette</a:t>
            </a:r>
          </a:p>
          <a:p>
            <a:pPr algn="l">
              <a:lnSpc>
                <a:spcPct val="142000"/>
              </a:lnSpc>
              <a:spcAft>
                <a:spcPts val="900"/>
              </a:spcAft>
            </a:pPr>
            <a:r>
              <a:rPr sz="1850" b="0" i="0">
                <a:solidFill>
                  <a:srgbClr val="FFFFFF"/>
                </a:solidFill>
                <a:latin typeface="Poppins"/>
              </a:rPr>
              <a:t>5. La concurrence · 6. Le client et l'effet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Tu sais maintenant qui porte le risque.</a:t>
            </a:r>
          </a:p>
          <a:p>
            <a:pPr algn="ctr">
              <a:lnSpc>
                <a:spcPct val="134000"/>
              </a:lnSpc>
              <a:spcAft>
                <a:spcPts val="900"/>
              </a:spcAft>
            </a:pPr>
            <a:r>
              <a:rPr sz="2600" b="0" i="0">
                <a:solidFill>
                  <a:srgbClr val="E3A94F"/>
                </a:solidFill>
                <a:latin typeface="Poppins"/>
              </a:rPr>
              <a:t>Reste à savoir pourquoi tu cours.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4</a:t>
            </a:r>
          </a:p>
          <a:p>
            <a:pPr algn="ctr">
              <a:lnSpc>
                <a:spcPct val="106000"/>
              </a:lnSpc>
            </a:pPr>
            <a:r>
              <a:rPr sz="5000" b="1" i="1">
                <a:solidFill>
                  <a:srgbClr val="FFFFFF"/>
                </a:solidFill>
                <a:latin typeface="Archivo"/>
              </a:rPr>
              <a:t>LA CROISSANCE ET LA DETTE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Il faut scaler. »</a:t>
            </a:r>
          </a:p>
          <a:p>
            <a:pPr algn="ctr">
              <a:lnSpc>
                <a:spcPct val="134000"/>
              </a:lnSpc>
              <a:spcAft>
                <a:spcPts val="900"/>
              </a:spcAft>
            </a:pPr>
            <a:r>
              <a:rPr sz="2600" b="0" i="0">
                <a:solidFill>
                  <a:srgbClr val="E3A94F"/>
                </a:solidFill>
                <a:latin typeface="Poppins"/>
              </a:rPr>
              <a:t>Pourquoi, au juste ?</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UNE STARTUP EST UNE ENTREPRISE CONÇUE POUR CROÎTRE VITE. »</a:t>
            </a:r>
          </a:p>
          <a:p>
            <a:pPr algn="ctr">
              <a:spcAft>
                <a:spcPts val="1700"/>
              </a:spcAft>
            </a:pPr>
            <a:r>
              <a:rPr sz="1400" b="0" i="1">
                <a:solidFill>
                  <a:srgbClr val="E3A94F"/>
                </a:solidFill>
                <a:latin typeface="Poppins"/>
              </a:rPr>
              <a:t>— Paul Graham · Y Combinator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La croissance n'est pas un objectif.</a:t>
            </a:r>
          </a:p>
          <a:p>
            <a:pPr algn="ctr">
              <a:lnSpc>
                <a:spcPct val="134000"/>
              </a:lnSpc>
              <a:spcAft>
                <a:spcPts val="900"/>
              </a:spcAft>
            </a:pPr>
            <a:r>
              <a:rPr sz="2600" b="0" i="0">
                <a:solidFill>
                  <a:srgbClr val="E3A94F"/>
                </a:solidFill>
                <a:latin typeface="Poppins"/>
              </a:rPr>
              <a:t>C'est devenu la définition.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2633980" y="2884170"/>
            <a:ext cx="692404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24480" y="2884170"/>
            <a:ext cx="654304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E</a:t>
            </a:r>
            <a:r>
              <a:rPr sz="6600" b="1" i="1">
                <a:solidFill>
                  <a:srgbClr val="131313"/>
                </a:solidFill>
                <a:latin typeface="Archivo"/>
              </a:rPr>
              <a:t> </a:t>
            </a:r>
            <a:r>
              <a:rPr sz="6600" b="1" i="1">
                <a:solidFill>
                  <a:srgbClr val="1E1A14"/>
                </a:solidFill>
                <a:latin typeface="Archivo"/>
              </a:rPr>
              <a:t>M</a:t>
            </a:r>
            <a:r>
              <a:rPr sz="6600" b="1" i="1">
                <a:solidFill>
                  <a:srgbClr val="312817"/>
                </a:solidFill>
                <a:latin typeface="Archivo"/>
              </a:rPr>
              <a:t>É</a:t>
            </a:r>
            <a:r>
              <a:rPr sz="6600" b="1" i="1">
                <a:solidFill>
                  <a:srgbClr val="44351A"/>
                </a:solidFill>
                <a:latin typeface="Archivo"/>
              </a:rPr>
              <a:t>C</a:t>
            </a:r>
            <a:r>
              <a:rPr sz="6600" b="1" i="1">
                <a:solidFill>
                  <a:srgbClr val="57421D"/>
                </a:solidFill>
                <a:latin typeface="Archivo"/>
              </a:rPr>
              <a:t>A</a:t>
            </a:r>
            <a:r>
              <a:rPr sz="6600" b="1" i="1">
                <a:solidFill>
                  <a:srgbClr val="6B501F"/>
                </a:solidFill>
                <a:latin typeface="Archivo"/>
              </a:rPr>
              <a:t>N</a:t>
            </a:r>
            <a:r>
              <a:rPr sz="6600" b="1" i="1">
                <a:solidFill>
                  <a:srgbClr val="7E5D22"/>
                </a:solidFill>
                <a:latin typeface="Archivo"/>
              </a:rPr>
              <a:t>I</a:t>
            </a:r>
            <a:r>
              <a:rPr sz="6600" b="1" i="1">
                <a:solidFill>
                  <a:srgbClr val="916B25"/>
                </a:solidFill>
                <a:latin typeface="Archivo"/>
              </a:rPr>
              <a:t>S</a:t>
            </a:r>
            <a:r>
              <a:rPr sz="6600" b="1" i="1">
                <a:solidFill>
                  <a:srgbClr val="A47828"/>
                </a:solidFill>
                <a:latin typeface="Archivo"/>
              </a:rPr>
              <a:t>M</a:t>
            </a:r>
            <a:r>
              <a:rPr sz="6600" b="1" i="1">
                <a:solidFill>
                  <a:srgbClr val="B8862B"/>
                </a:solidFill>
                <a:latin typeface="Archivo"/>
              </a:rPr>
              <a:t>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LA DÉMONSTRATION DU DR TALAL LAHLOU</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600" b="0" i="0">
                <a:solidFill>
                  <a:srgbClr val="FFFFFF"/>
                </a:solidFill>
                <a:latin typeface="Poppins"/>
              </a:rPr>
              <a:t>Un pays dont la dette atteint 100 % du PIB</a:t>
            </a:r>
          </a:p>
          <a:p>
            <a:pPr algn="l">
              <a:lnSpc>
                <a:spcPct val="142000"/>
              </a:lnSpc>
              <a:spcAft>
                <a:spcPts val="900"/>
              </a:spcAft>
            </a:pPr>
            <a:r>
              <a:rPr sz="1600" b="0" i="0">
                <a:solidFill>
                  <a:srgbClr val="FFFFFF"/>
                </a:solidFill>
                <a:latin typeface="Poppins"/>
              </a:rPr>
              <a:t>Avec un intérêt de 2 %</a:t>
            </a:r>
          </a:p>
          <a:p>
            <a:pPr algn="l">
              <a:lnSpc>
                <a:spcPct val="142000"/>
              </a:lnSpc>
              <a:spcAft>
                <a:spcPts val="900"/>
              </a:spcAft>
            </a:pPr>
            <a:r>
              <a:rPr sz="1600" b="0" i="0">
                <a:solidFill>
                  <a:srgbClr val="FFFFFF"/>
                </a:solidFill>
                <a:latin typeface="Poppins"/>
              </a:rPr>
              <a:t>Il doit croître d'au moins 2 % pour simplement payer ses intérêts</a:t>
            </a:r>
          </a:p>
          <a:p>
            <a:pPr algn="l">
              <a:lnSpc>
                <a:spcPct val="142000"/>
              </a:lnSpc>
              <a:spcAft>
                <a:spcPts val="900"/>
              </a:spcAft>
            </a:pPr>
            <a:r>
              <a:rPr sz="1600" b="0" i="0">
                <a:solidFill>
                  <a:srgbClr val="FFFFFF"/>
                </a:solidFill>
                <a:latin typeface="Poppins"/>
              </a:rPr>
              <a:t>En dessous, il réemprunte pour rembourser</a:t>
            </a:r>
          </a:p>
          <a:p>
            <a:pPr algn="l">
              <a:lnSpc>
                <a:spcPct val="142000"/>
              </a:lnSpc>
              <a:spcAft>
                <a:spcPts val="900"/>
              </a:spcAft>
            </a:pPr>
            <a:r>
              <a:rPr sz="1600" b="0" i="0">
                <a:solidFill>
                  <a:srgbClr val="E3A94F"/>
                </a:solidFill>
                <a:latin typeface="Poppins"/>
              </a:rPr>
              <a:t>👉 « On est dans un cycle Ponzi. C'est la fin assurée.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1900" b="1" i="0">
                <a:solidFill>
                  <a:srgbClr val="FFFFFF"/>
                </a:solidFill>
                <a:latin typeface="Oswald"/>
              </a:rPr>
              <a:t>« TANT QU'ON NE COMPRENDRA PAS QUE LE SYSTÈME BASÉ SUR LA DETTE ET LES INTÉRÊTS IMPLIQUE UNE CROISSANCE NÉCESSAIRE, INÉLUCTABLE — ET DONC UNE SURPRODUCTION, UNE SATURATION, UNE POLLUTION, PLUS D'INÉGALITÉ, ET DONC UN IMPÉRIALISME, PARCE QUE LES MARCHÉS SONT LIMITÉS… »</a:t>
            </a:r>
          </a:p>
          <a:p>
            <a:pPr algn="ctr">
              <a:spcAft>
                <a:spcPts val="1700"/>
              </a:spcAft>
            </a:pPr>
            <a:r>
              <a:rPr sz="1400" b="0" i="1">
                <a:solidFill>
                  <a:srgbClr val="E3A94F"/>
                </a:solidFill>
                <a:latin typeface="Poppins"/>
              </a:rPr>
              <a:t>— Dr Mohamed Talal Lahlou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L'interdiction de l'intérêt</a:t>
            </a:r>
          </a:p>
          <a:p>
            <a:pPr algn="ctr">
              <a:lnSpc>
                <a:spcPct val="134000"/>
              </a:lnSpc>
              <a:spcAft>
                <a:spcPts val="900"/>
              </a:spcAft>
            </a:pPr>
            <a:r>
              <a:rPr sz="2600" b="0" i="0">
                <a:solidFill>
                  <a:srgbClr val="FFFFFF"/>
                </a:solidFill>
                <a:latin typeface="Poppins"/>
              </a:rPr>
              <a:t>n'est pas seulement une règle à respecter.</a:t>
            </a:r>
          </a:p>
          <a:p>
            <a:pPr algn="ctr">
              <a:lnSpc>
                <a:spcPct val="134000"/>
              </a:lnSpc>
              <a:spcAft>
                <a:spcPts val="900"/>
              </a:spcAft>
            </a:pPr>
            <a:r>
              <a:rPr sz="2600" b="0" i="0">
                <a:solidFill>
                  <a:srgbClr val="E3A94F"/>
                </a:solidFill>
                <a:latin typeface="Poppins"/>
              </a:rPr>
              <a:t>C'est le retrait du moteur.</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Celui qui s'est endetté pour croître</a:t>
            </a:r>
          </a:p>
          <a:p>
            <a:pPr algn="ctr">
              <a:lnSpc>
                <a:spcPct val="134000"/>
              </a:lnSpc>
              <a:spcAft>
                <a:spcPts val="900"/>
              </a:spcAft>
            </a:pPr>
            <a:r>
              <a:rPr sz="2600" b="0" i="0">
                <a:solidFill>
                  <a:srgbClr val="FFFFFF"/>
                </a:solidFill>
                <a:latin typeface="Poppins"/>
              </a:rPr>
              <a:t>doit croître pour rembourser.</a:t>
            </a:r>
          </a:p>
          <a:p>
            <a:pPr algn="ctr">
              <a:lnSpc>
                <a:spcPct val="134000"/>
              </a:lnSpc>
              <a:spcAft>
                <a:spcPts val="900"/>
              </a:spcAft>
            </a:pPr>
            <a:r>
              <a:rPr sz="2600" b="0" i="0">
                <a:solidFill>
                  <a:srgbClr val="E3A94F"/>
                </a:solidFill>
                <a:latin typeface="Poppins"/>
              </a:rPr>
              <a:t>Il n'a pas choisi l'expansion : il l'a contractée.</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4300" b="1" i="1">
                <a:solidFill>
                  <a:srgbClr val="FFFFFF"/>
                </a:solidFill>
                <a:latin typeface="Archivo"/>
              </a:rPr>
              <a:t>GRANDIR N'EST PAS UN GAGE DE RÉUSSITE.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Mais quelle est l'alternative au crédit ? »</a:t>
            </a:r>
          </a:p>
          <a:p>
            <a:pPr algn="ctr">
              <a:lnSpc>
                <a:spcPct val="134000"/>
              </a:lnSpc>
              <a:spcAft>
                <a:spcPts val="900"/>
              </a:spcAft>
            </a:pPr>
            <a:r>
              <a:rPr sz="2600" b="0" i="0">
                <a:solidFill>
                  <a:srgbClr val="FFFFFF"/>
                </a:solidFill>
                <a:latin typeface="Poppins"/>
              </a:rPr>
              <a:t>Il n'y en a pas.</a:t>
            </a:r>
          </a:p>
          <a:p>
            <a:pPr algn="ctr">
              <a:lnSpc>
                <a:spcPct val="134000"/>
              </a:lnSpc>
              <a:spcAft>
                <a:spcPts val="900"/>
              </a:spcAft>
            </a:pPr>
            <a:r>
              <a:rPr sz="2600" b="0" i="0">
                <a:solidFill>
                  <a:srgbClr val="E3A94F"/>
                </a:solidFill>
                <a:latin typeface="Poppins"/>
              </a:rPr>
              <a:t>La question est mal posée.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IL Y A UNE ALTERNATIVE AU BESOIN QUE LE CRÉDIT FINANCE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Spécifie le besoin — un stock ? une machine ? un recrutement ?</a:t>
            </a:r>
          </a:p>
          <a:p>
            <a:pPr algn="l">
              <a:lnSpc>
                <a:spcPct val="142000"/>
              </a:lnSpc>
              <a:spcAft>
                <a:spcPts val="900"/>
              </a:spcAft>
            </a:pPr>
            <a:r>
              <a:rPr sz="1850" b="0" i="0">
                <a:solidFill>
                  <a:srgbClr val="FFFFFF"/>
                </a:solidFill>
                <a:latin typeface="Poppins"/>
              </a:rPr>
              <a:t>Et les solutions apparaissent</a:t>
            </a:r>
          </a:p>
          <a:p>
            <a:pPr algn="l">
              <a:lnSpc>
                <a:spcPct val="142000"/>
              </a:lnSpc>
              <a:spcAft>
                <a:spcPts val="900"/>
              </a:spcAft>
            </a:pPr>
            <a:r>
              <a:rPr sz="1850" b="0" i="0">
                <a:solidFill>
                  <a:srgbClr val="FFFFFF"/>
                </a:solidFill>
                <a:latin typeface="Poppins"/>
              </a:rPr>
              <a:t>Prévente · Participation · Structure dédiée par projet</a:t>
            </a:r>
          </a:p>
          <a:p>
            <a:pPr algn="l">
              <a:lnSpc>
                <a:spcPct val="142000"/>
              </a:lnSpc>
              <a:spcAft>
                <a:spcPts val="900"/>
              </a:spcAft>
            </a:pPr>
            <a:r>
              <a:rPr sz="1850" b="0" i="0">
                <a:solidFill>
                  <a:srgbClr val="E3A94F"/>
                </a:solidFill>
                <a:latin typeface="Poppins"/>
              </a:rPr>
              <a:t>👉 Dr Talal Lahlou</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SI LE FILS D'ADAM POSSÉDAIT UNE VALLÉE D'OR, IL EN VOUDRAIT UNE SECONDE. ET S'IL EN POSSÉDAIT DEUX, IL EN VOUDRAIT UNE TROISIÈME. RIEN NE REMPLIRA LA BOUCHE DU FILS D'ADAM SI CE N'EST LA TERRE. »</a:t>
            </a:r>
          </a:p>
          <a:p>
            <a:pPr algn="ctr">
              <a:spcAft>
                <a:spcPts val="1700"/>
              </a:spcAft>
            </a:pPr>
            <a:r>
              <a:rPr sz="1400" b="0" i="1">
                <a:solidFill>
                  <a:srgbClr val="E3A94F"/>
                </a:solidFill>
                <a:latin typeface="Poppins"/>
              </a:rPr>
              <a:t>— Sahîh al-Bukhârî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CERTES, TON SEIGNEUR A UN DROIT SUR TOI, TON ÂME A UN DROIT SUR TOI, ET TA FAMILLE A UN DROIT SUR TOI. DONNE DONC À CHACUN SON DROIT. »</a:t>
            </a:r>
          </a:p>
          <a:p>
            <a:pPr algn="ctr">
              <a:spcAft>
                <a:spcPts val="1700"/>
              </a:spcAft>
            </a:pPr>
            <a:r>
              <a:rPr sz="1400" b="0" i="1">
                <a:solidFill>
                  <a:srgbClr val="E3A94F"/>
                </a:solidFill>
                <a:latin typeface="Poppins"/>
              </a:rPr>
              <a:t>— Sahîh al-Bukhârî —</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Trois compagnons ont voulu faire PLUS que le Prophète ﷺ.</a:t>
            </a:r>
          </a:p>
          <a:p>
            <a:pPr algn="ctr">
              <a:lnSpc>
                <a:spcPct val="134000"/>
              </a:lnSpc>
              <a:spcAft>
                <a:spcPts val="900"/>
              </a:spcAft>
            </a:pPr>
            <a:r>
              <a:rPr sz="2600" b="0" i="0">
                <a:solidFill>
                  <a:srgbClr val="E3A94F"/>
                </a:solidFill>
                <a:latin typeface="Poppins"/>
              </a:rPr>
              <a:t>Ils ont été repris.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Si le sacrifice total n'est pas permis pour l'adoration,</a:t>
            </a:r>
          </a:p>
          <a:p>
            <a:pPr algn="ctr">
              <a:lnSpc>
                <a:spcPct val="134000"/>
              </a:lnSpc>
              <a:spcAft>
                <a:spcPts val="900"/>
              </a:spcAft>
            </a:pPr>
            <a:r>
              <a:rPr sz="2600" b="0" i="0">
                <a:solidFill>
                  <a:srgbClr val="E3A94F"/>
                </a:solidFill>
                <a:latin typeface="Poppins"/>
              </a:rPr>
              <a:t>il ne l'est pas pour ton entreprise.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mot qui ne va pas dans « sacrifie-toi totalement »,</a:t>
            </a:r>
          </a:p>
          <a:p>
            <a:pPr algn="ctr">
              <a:lnSpc>
                <a:spcPct val="134000"/>
              </a:lnSpc>
              <a:spcAft>
                <a:spcPts val="900"/>
              </a:spcAft>
            </a:pPr>
            <a:r>
              <a:rPr sz="2600" b="0" i="0">
                <a:solidFill>
                  <a:srgbClr val="FFFFFF"/>
                </a:solidFill>
                <a:latin typeface="Poppins"/>
              </a:rPr>
              <a:t>ce n'est pas « sacrifie ».</a:t>
            </a:r>
          </a:p>
          <a:p>
            <a:pPr algn="ctr">
              <a:lnSpc>
                <a:spcPct val="134000"/>
              </a:lnSpc>
              <a:spcAft>
                <a:spcPts val="900"/>
              </a:spcAft>
            </a:pPr>
            <a:r>
              <a:rPr sz="2600" b="0" i="0">
                <a:solidFill>
                  <a:srgbClr val="E3A94F"/>
                </a:solidFill>
                <a:latin typeface="Poppins"/>
              </a:rPr>
              <a:t>C'est « totalement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Une seule question, posée honnêtement :</a:t>
            </a:r>
          </a:p>
          <a:p>
            <a:pPr algn="l">
              <a:lnSpc>
                <a:spcPct val="142000"/>
              </a:lnSpc>
              <a:spcAft>
                <a:spcPts val="1200"/>
              </a:spcAft>
            </a:pPr>
            <a:r>
              <a:rPr sz="1850" b="0" i="0">
                <a:solidFill>
                  <a:srgbClr val="FFFFFF"/>
                </a:solidFill>
                <a:latin typeface="Poppins"/>
              </a:rPr>
              <a:t>Ce rythme-là, est-ce que je le tiens encore dans deux ans ?</a:t>
            </a:r>
          </a:p>
          <a:p>
            <a:pPr algn="l">
              <a:lnSpc>
                <a:spcPct val="142000"/>
              </a:lnSpc>
              <a:spcAft>
                <a:spcPts val="1200"/>
              </a:spcAft>
            </a:pPr>
            <a:r>
              <a:rPr sz="1850" b="0" i="0">
                <a:solidFill>
                  <a:srgbClr val="FFFFFF"/>
                </a:solidFill>
                <a:latin typeface="Poppins"/>
              </a:rPr>
              <a:t>Si la réponse est non, ce n'est pas un problème de discipline.</a:t>
            </a:r>
          </a:p>
          <a:p>
            <a:pPr algn="l">
              <a:lnSpc>
                <a:spcPct val="142000"/>
              </a:lnSpc>
              <a:spcAft>
                <a:spcPts val="1200"/>
              </a:spcAft>
            </a:pPr>
            <a:r>
              <a:rPr sz="1850" b="0" i="0">
                <a:solidFill>
                  <a:srgbClr val="FFFFFF"/>
                </a:solidFill>
                <a:latin typeface="Poppins"/>
              </a:rPr>
              <a:t>C'est un problème de modèle.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OÙ ON EN EST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1. La finalité · ✅ 2. La mesure · ✅ 3. Le profit et le risque</a:t>
            </a:r>
          </a:p>
          <a:p>
            <a:pPr algn="l">
              <a:lnSpc>
                <a:spcPct val="142000"/>
              </a:lnSpc>
              <a:spcAft>
                <a:spcPts val="900"/>
              </a:spcAft>
            </a:pPr>
            <a:r>
              <a:rPr sz="1850" b="0" i="0">
                <a:solidFill>
                  <a:srgbClr val="E3A94F"/>
                </a:solidFill>
                <a:latin typeface="Poppins"/>
              </a:rPr>
              <a:t>✅ 4. La croissance et la dette</a:t>
            </a:r>
          </a:p>
          <a:p>
            <a:pPr algn="l">
              <a:lnSpc>
                <a:spcPct val="142000"/>
              </a:lnSpc>
              <a:spcAft>
                <a:spcPts val="900"/>
              </a:spcAft>
            </a:pPr>
            <a:r>
              <a:rPr sz="1850" b="0" i="0">
                <a:solidFill>
                  <a:srgbClr val="FFFFFF"/>
                </a:solidFill>
                <a:latin typeface="Poppins"/>
              </a:rPr>
              <a:t>▶️ 5. La concurrence · 6. Le client et l'effet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Jusqu'ici on a parlé de toi.</a:t>
            </a:r>
          </a:p>
          <a:p>
            <a:pPr algn="ctr">
              <a:lnSpc>
                <a:spcPct val="134000"/>
              </a:lnSpc>
              <a:spcAft>
                <a:spcPts val="900"/>
              </a:spcAft>
            </a:pPr>
            <a:r>
              <a:rPr sz="2600" b="0" i="0">
                <a:solidFill>
                  <a:srgbClr val="E3A94F"/>
                </a:solidFill>
                <a:latin typeface="Poppins"/>
              </a:rPr>
              <a:t>On passe aux autres.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5</a:t>
            </a:r>
          </a:p>
          <a:p>
            <a:pPr algn="ctr">
              <a:lnSpc>
                <a:spcPct val="106000"/>
              </a:lnSpc>
            </a:pPr>
            <a:r>
              <a:rPr sz="5000" b="1" i="1">
                <a:solidFill>
                  <a:srgbClr val="FFFFFF"/>
                </a:solidFill>
                <a:latin typeface="Archivo"/>
              </a:rPr>
              <a:t>LA CONCURRENCE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Un concurrent s'installe à deux cents mètres.</a:t>
            </a:r>
          </a:p>
          <a:p>
            <a:pPr algn="ctr">
              <a:lnSpc>
                <a:spcPct val="134000"/>
              </a:lnSpc>
              <a:spcAft>
                <a:spcPts val="900"/>
              </a:spcAft>
            </a:pPr>
            <a:r>
              <a:rPr sz="2600" b="0" i="0">
                <a:solidFill>
                  <a:srgbClr val="E3A94F"/>
                </a:solidFill>
                <a:latin typeface="Poppins"/>
              </a:rPr>
              <a:t>Ton ventre se serre.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Cette réaction est antérieure à toute réflexion.</a:t>
            </a:r>
          </a:p>
          <a:p>
            <a:pPr algn="ctr">
              <a:lnSpc>
                <a:spcPct val="134000"/>
              </a:lnSpc>
              <a:spcAft>
                <a:spcPts val="900"/>
              </a:spcAft>
            </a:pPr>
            <a:r>
              <a:rPr sz="2600" b="0" i="0">
                <a:solidFill>
                  <a:srgbClr val="FFFFFF"/>
                </a:solidFill>
                <a:latin typeface="Poppins"/>
              </a:rPr>
              <a:t>C'est ce qui en fait le symptôme d'un paradigme,</a:t>
            </a:r>
          </a:p>
          <a:p>
            <a:pPr algn="ctr">
              <a:lnSpc>
                <a:spcPct val="134000"/>
              </a:lnSpc>
              <a:spcAft>
                <a:spcPts val="900"/>
              </a:spcAft>
            </a:pPr>
            <a:r>
              <a:rPr sz="2600" b="0" i="0">
                <a:solidFill>
                  <a:srgbClr val="E3A94F"/>
                </a:solidFill>
                <a:latin typeface="Poppins"/>
              </a:rPr>
              <a:t>et non d'une opinion.</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LA CONCURRENCE, C'EST POUR LES PERDANTS. »</a:t>
            </a:r>
          </a:p>
          <a:p>
            <a:pPr algn="ctr">
              <a:spcAft>
                <a:spcPts val="1700"/>
              </a:spcAft>
            </a:pPr>
            <a:r>
              <a:rPr sz="1400" b="0" i="1">
                <a:solidFill>
                  <a:srgbClr val="E3A94F"/>
                </a:solidFill>
                <a:latin typeface="Poppins"/>
              </a:rPr>
              <a:t>— Peter Thiel · Zero to One —</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25220" y="2884170"/>
            <a:ext cx="994156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15720" y="2884170"/>
            <a:ext cx="956056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a:t>
            </a:r>
            <a:r>
              <a:rPr sz="6600" b="1" i="1">
                <a:solidFill>
                  <a:srgbClr val="131313"/>
                </a:solidFill>
                <a:latin typeface="Archivo"/>
              </a:rPr>
              <a:t>A</a:t>
            </a:r>
            <a:r>
              <a:rPr sz="6600" b="1" i="1">
                <a:solidFill>
                  <a:srgbClr val="131313"/>
                </a:solidFill>
                <a:latin typeface="Archivo"/>
              </a:rPr>
              <a:t>X</a:t>
            </a:r>
            <a:r>
              <a:rPr sz="6600" b="1" i="1">
                <a:solidFill>
                  <a:srgbClr val="161513"/>
                </a:solidFill>
                <a:latin typeface="Archivo"/>
              </a:rPr>
              <a:t>I</a:t>
            </a:r>
            <a:r>
              <a:rPr sz="6600" b="1" i="1">
                <a:solidFill>
                  <a:srgbClr val="221D15"/>
                </a:solidFill>
                <a:latin typeface="Archivo"/>
              </a:rPr>
              <a:t>O</a:t>
            </a:r>
            <a:r>
              <a:rPr sz="6600" b="1" i="1">
                <a:solidFill>
                  <a:srgbClr val="2F2617"/>
                </a:solidFill>
                <a:latin typeface="Archivo"/>
              </a:rPr>
              <a:t>M</a:t>
            </a:r>
            <a:r>
              <a:rPr sz="6600" b="1" i="1">
                <a:solidFill>
                  <a:srgbClr val="3B2F18"/>
                </a:solidFill>
                <a:latin typeface="Archivo"/>
              </a:rPr>
              <a:t>E</a:t>
            </a:r>
            <a:r>
              <a:rPr sz="6600" b="1" i="1">
                <a:solidFill>
                  <a:srgbClr val="48371A"/>
                </a:solidFill>
                <a:latin typeface="Archivo"/>
              </a:rPr>
              <a:t> </a:t>
            </a:r>
            <a:r>
              <a:rPr sz="6600" b="1" i="1">
                <a:solidFill>
                  <a:srgbClr val="54401C"/>
                </a:solidFill>
                <a:latin typeface="Archivo"/>
              </a:rPr>
              <a:t>D</a:t>
            </a:r>
            <a:r>
              <a:rPr sz="6600" b="1" i="1">
                <a:solidFill>
                  <a:srgbClr val="60491E"/>
                </a:solidFill>
                <a:latin typeface="Archivo"/>
              </a:rPr>
              <a:t>E</a:t>
            </a:r>
            <a:r>
              <a:rPr sz="6600" b="1" i="1">
                <a:solidFill>
                  <a:srgbClr val="6D5120"/>
                </a:solidFill>
                <a:latin typeface="Archivo"/>
              </a:rPr>
              <a:t> </a:t>
            </a:r>
            <a:r>
              <a:rPr sz="6600" b="1" i="1">
                <a:solidFill>
                  <a:srgbClr val="795A21"/>
                </a:solidFill>
                <a:latin typeface="Archivo"/>
              </a:rPr>
              <a:t>R</a:t>
            </a:r>
            <a:r>
              <a:rPr sz="6600" b="1" i="1">
                <a:solidFill>
                  <a:srgbClr val="866323"/>
                </a:solidFill>
                <a:latin typeface="Archivo"/>
              </a:rPr>
              <a:t>A</a:t>
            </a:r>
            <a:r>
              <a:rPr sz="6600" b="1" i="1">
                <a:solidFill>
                  <a:srgbClr val="926B25"/>
                </a:solidFill>
                <a:latin typeface="Archivo"/>
              </a:rPr>
              <a:t>R</a:t>
            </a:r>
            <a:r>
              <a:rPr sz="6600" b="1" i="1">
                <a:solidFill>
                  <a:srgbClr val="9F7427"/>
                </a:solidFill>
                <a:latin typeface="Archivo"/>
              </a:rPr>
              <a:t>E</a:t>
            </a:r>
            <a:r>
              <a:rPr sz="6600" b="1" i="1">
                <a:solidFill>
                  <a:srgbClr val="AB7D29"/>
                </a:solidFill>
                <a:latin typeface="Archivo"/>
              </a:rPr>
              <a:t>T</a:t>
            </a:r>
            <a:r>
              <a:rPr sz="6600" b="1" i="1">
                <a:solidFill>
                  <a:srgbClr val="B8862B"/>
                </a:solidFill>
                <a:latin typeface="Archivo"/>
              </a:rPr>
              <a:t>É</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100" b="0" i="0">
                <a:solidFill>
                  <a:srgbClr val="FFFFFF"/>
                </a:solidFill>
                <a:latin typeface="Poppins"/>
              </a:rPr>
              <a:t>Si les ressources sont structurellement insuffisantes,</a:t>
            </a:r>
          </a:p>
          <a:p>
            <a:pPr algn="ctr">
              <a:lnSpc>
                <a:spcPct val="134000"/>
              </a:lnSpc>
              <a:spcAft>
                <a:spcPts val="900"/>
              </a:spcAft>
            </a:pPr>
            <a:r>
              <a:rPr sz="2100" b="0" i="0">
                <a:solidFill>
                  <a:srgbClr val="FFFFFF"/>
                </a:solidFill>
                <a:latin typeface="Poppins"/>
              </a:rPr>
              <a:t>la part qu'il prend est celle que tu n'as pas.</a:t>
            </a:r>
          </a:p>
          <a:p>
            <a:pPr algn="ctr">
              <a:lnSpc>
                <a:spcPct val="134000"/>
              </a:lnSpc>
              <a:spcAft>
                <a:spcPts val="900"/>
              </a:spcAft>
            </a:pPr>
            <a:r>
              <a:rPr sz="2100" b="0" i="0">
                <a:solidFill>
                  <a:srgbClr val="E3A94F"/>
                </a:solidFill>
                <a:latin typeface="Poppins"/>
              </a:rPr>
              <a:t>Et la peur devient rationnelle.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Sauf que ce n'est pas une donnée du monde.</a:t>
            </a:r>
          </a:p>
          <a:p>
            <a:pPr algn="ctr">
              <a:lnSpc>
                <a:spcPct val="134000"/>
              </a:lnSpc>
              <a:spcAft>
                <a:spcPts val="900"/>
              </a:spcAft>
            </a:pPr>
            <a:r>
              <a:rPr sz="2600" b="0" i="0">
                <a:solidFill>
                  <a:srgbClr val="E3A94F"/>
                </a:solidFill>
                <a:latin typeface="Poppins"/>
              </a:rPr>
              <a:t>C'est un postulat.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NOUS AVONS CRÉÉ TOUTE CHOSE À SA JUSTE MESURE. »</a:t>
            </a:r>
          </a:p>
          <a:p>
            <a:pPr algn="ctr">
              <a:spcAft>
                <a:spcPts val="1700"/>
              </a:spcAft>
            </a:pPr>
            <a:r>
              <a:rPr sz="1400" b="0" i="1">
                <a:solidFill>
                  <a:srgbClr val="E3A94F"/>
                </a:solidFill>
                <a:latin typeface="Poppins"/>
              </a:rPr>
              <a:t>— Sourate Al-Qamar, 54:49 —</a:t>
            </a:r>
          </a:p>
          <a:p>
            <a:pPr algn="ctr">
              <a:lnSpc>
                <a:spcPct val="170000"/>
              </a:lnSpc>
              <a:spcAft>
                <a:spcPts val="500"/>
              </a:spcAft>
            </a:pPr>
            <a:r>
              <a:rPr sz="2300" b="0" i="0">
                <a:solidFill>
                  <a:srgbClr val="FFFFFF"/>
                </a:solidFill>
                <a:latin typeface="Noto Naskh Arabic"/>
              </a:rPr>
              <a:t>﴿ إِنَّا كُلَّ شَيْءٍ خَلَقْنَاهُ بِقَدَرٍ ﴾</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ET LES CHIFFRES DISENT LA MÊME CHOSE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On produit de quoi nourrir douze milliards de personnes</a:t>
            </a:r>
          </a:p>
          <a:p>
            <a:pPr algn="l">
              <a:lnSpc>
                <a:spcPct val="142000"/>
              </a:lnSpc>
              <a:spcAft>
                <a:spcPts val="900"/>
              </a:spcAft>
            </a:pPr>
            <a:r>
              <a:rPr sz="1850" b="0" i="0">
                <a:solidFill>
                  <a:srgbClr val="FFFFFF"/>
                </a:solidFill>
                <a:latin typeface="Poppins"/>
              </a:rPr>
              <a:t>Pour huit milliards d'habitants</a:t>
            </a:r>
          </a:p>
          <a:p>
            <a:pPr algn="l">
              <a:lnSpc>
                <a:spcPct val="142000"/>
              </a:lnSpc>
              <a:spcAft>
                <a:spcPts val="900"/>
              </a:spcAft>
            </a:pPr>
            <a:r>
              <a:rPr sz="1850" b="0" i="0">
                <a:solidFill>
                  <a:srgbClr val="FFFFFF"/>
                </a:solidFill>
                <a:latin typeface="Poppins"/>
              </a:rPr>
              <a:t>Dont un milliard a faim</a:t>
            </a:r>
          </a:p>
          <a:p>
            <a:pPr algn="l">
              <a:lnSpc>
                <a:spcPct val="142000"/>
              </a:lnSpc>
              <a:spcAft>
                <a:spcPts val="900"/>
              </a:spcAft>
            </a:pPr>
            <a:r>
              <a:rPr sz="1850" b="0" i="0">
                <a:solidFill>
                  <a:srgbClr val="E3A94F"/>
                </a:solidFill>
                <a:latin typeface="Poppins"/>
              </a:rPr>
              <a:t>👉 Le problème n'est pas la quantité. C'est la circulation.</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LE DIABLE VOUS PROMET LA PAUVRETÉ ET VOUS ORDONNE LA TURPITUDE, TANDIS QU'ALLAH VOUS PROMET PARDON ET GRÂCE DE SA PART. »</a:t>
            </a:r>
          </a:p>
          <a:p>
            <a:pPr algn="ctr">
              <a:spcAft>
                <a:spcPts val="1700"/>
              </a:spcAft>
            </a:pPr>
            <a:r>
              <a:rPr sz="1400" b="0" i="1">
                <a:solidFill>
                  <a:srgbClr val="E3A94F"/>
                </a:solidFill>
                <a:latin typeface="Poppins"/>
              </a:rPr>
              <a:t>— Sourate Al-Baqarah, 2:268 —</a:t>
            </a:r>
          </a:p>
          <a:p>
            <a:pPr algn="ctr">
              <a:lnSpc>
                <a:spcPct val="170000"/>
              </a:lnSpc>
              <a:spcAft>
                <a:spcPts val="500"/>
              </a:spcAft>
            </a:pPr>
            <a:r>
              <a:rPr sz="2300" b="0" i="0">
                <a:solidFill>
                  <a:srgbClr val="FFFFFF"/>
                </a:solidFill>
                <a:latin typeface="Noto Naskh Arabic"/>
              </a:rPr>
              <a:t>﴿ الشَّيْطَانُ يَعِدُكُمُ الْفَقْرَ وَيَأْمُرُكُم بِالْفَحْشَاءِ ۖ وَاللَّهُ يَعِدُكُم مَّغْفِرَةً مِّنْهُ وَفَضْلًا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Lisons l'ordre des termes. Il est clinique.</a:t>
            </a:r>
          </a:p>
          <a:p>
            <a:pPr algn="ctr">
              <a:lnSpc>
                <a:spcPct val="134000"/>
              </a:lnSpc>
              <a:spcAft>
                <a:spcPts val="900"/>
              </a:spcAft>
            </a:pPr>
            <a:r>
              <a:rPr sz="2600" b="0" i="0">
                <a:solidFill>
                  <a:srgbClr val="FFFFFF"/>
                </a:solidFill>
                <a:latin typeface="Poppins"/>
              </a:rPr>
              <a:t>D'abord la peur de manquer.</a:t>
            </a:r>
          </a:p>
          <a:p>
            <a:pPr algn="ctr">
              <a:lnSpc>
                <a:spcPct val="134000"/>
              </a:lnSpc>
              <a:spcAft>
                <a:spcPts val="900"/>
              </a:spcAft>
            </a:pPr>
            <a:r>
              <a:rPr sz="2600" b="0" i="0">
                <a:solidFill>
                  <a:srgbClr val="E3A94F"/>
                </a:solidFill>
                <a:latin typeface="Poppins"/>
              </a:rPr>
              <a:t>Ensuite, l'acte bas.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CE QUE PRESQUE PERSONNE NE SAIT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INTERDIT DEPUIS 14 SIÈCLES</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Vendre par-dessus la vente de son frère</a:t>
            </a:r>
          </a:p>
          <a:p>
            <a:pPr algn="l">
              <a:lnSpc>
                <a:spcPct val="140000"/>
              </a:lnSpc>
              <a:spcAft>
                <a:spcPts val="800"/>
              </a:spcAft>
            </a:pPr>
            <a:r>
              <a:rPr sz="1500" b="0" i="0">
                <a:solidFill>
                  <a:srgbClr val="CFCFCF"/>
                </a:solidFill>
                <a:latin typeface="Poppins"/>
              </a:rPr>
              <a:t>Le najsh : faire monter une enchère sans vouloir acheter</a:t>
            </a:r>
          </a:p>
          <a:p>
            <a:pPr algn="l">
              <a:lnSpc>
                <a:spcPct val="140000"/>
              </a:lnSpc>
              <a:spcAft>
                <a:spcPts val="800"/>
              </a:spcAft>
            </a:pPr>
            <a:r>
              <a:rPr sz="1500" b="0" i="0">
                <a:solidFill>
                  <a:srgbClr val="CFCFCF"/>
                </a:solidFill>
                <a:latin typeface="Poppins"/>
              </a:rPr>
              <a:t>Intercepter les caravanes avant le marché</a:t>
            </a:r>
          </a:p>
          <a:p>
            <a:pPr algn="l">
              <a:lnSpc>
                <a:spcPct val="140000"/>
              </a:lnSpc>
              <a:spcAft>
                <a:spcPts val="800"/>
              </a:spcAft>
            </a:pPr>
            <a:r>
              <a:rPr sz="1500" b="0" i="0">
                <a:solidFill>
                  <a:srgbClr val="CFCFCF"/>
                </a:solidFill>
                <a:latin typeface="Poppins"/>
              </a:rPr>
              <a:t>Profiter de ce que le vendeur ignore des prix</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CE QUE ÇA DONNE EN 2026</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Intervenir quand une vente est sur le point de se conclure</a:t>
            </a:r>
          </a:p>
          <a:p>
            <a:pPr algn="l">
              <a:lnSpc>
                <a:spcPct val="140000"/>
              </a:lnSpc>
              <a:spcAft>
                <a:spcPts val="800"/>
              </a:spcAft>
            </a:pPr>
            <a:r>
              <a:rPr sz="1500" b="0" i="0">
                <a:solidFill>
                  <a:srgbClr val="CFCFCF"/>
                </a:solidFill>
                <a:latin typeface="Poppins"/>
              </a:rPr>
              <a:t>Le concurrent imaginaire invoqué en négociation</a:t>
            </a:r>
          </a:p>
          <a:p>
            <a:pPr algn="l">
              <a:lnSpc>
                <a:spcPct val="140000"/>
              </a:lnSpc>
              <a:spcAft>
                <a:spcPts val="800"/>
              </a:spcAft>
            </a:pPr>
            <a:r>
              <a:rPr sz="1500" b="0" i="0">
                <a:solidFill>
                  <a:srgbClr val="CFCFCF"/>
                </a:solidFill>
                <a:latin typeface="Poppins"/>
              </a:rPr>
              <a:t>L'achat opportuniste à qui ignore la valeur de son bien</a:t>
            </a:r>
          </a:p>
          <a:p>
            <a:pPr algn="l">
              <a:lnSpc>
                <a:spcPct val="140000"/>
              </a:lnSpc>
              <a:spcAft>
                <a:spcPts val="800"/>
              </a:spcAft>
            </a:pPr>
            <a:r>
              <a:rPr sz="1500" b="0" i="0">
                <a:solidFill>
                  <a:srgbClr val="CFCFCF"/>
                </a:solidFill>
                <a:latin typeface="Poppins"/>
              </a:rPr>
              <a:t>La fausse file d'attente, « il ne reste qu'une place »</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La ligne rouge n'est pas la concurrence.</a:t>
            </a:r>
          </a:p>
          <a:p>
            <a:pPr algn="ctr">
              <a:lnSpc>
                <a:spcPct val="134000"/>
              </a:lnSpc>
              <a:spcAft>
                <a:spcPts val="900"/>
              </a:spcAft>
            </a:pPr>
            <a:r>
              <a:rPr sz="2600" b="0" i="0">
                <a:solidFill>
                  <a:srgbClr val="FFFFFF"/>
                </a:solidFill>
                <a:latin typeface="Poppins"/>
              </a:rPr>
              <a:t>C'est l'ihtikâr.</a:t>
            </a:r>
          </a:p>
          <a:p>
            <a:pPr algn="ctr">
              <a:lnSpc>
                <a:spcPct val="134000"/>
              </a:lnSpc>
              <a:spcAft>
                <a:spcPts val="900"/>
              </a:spcAft>
            </a:pPr>
            <a:r>
              <a:rPr sz="2600" b="0" i="0">
                <a:solidFill>
                  <a:srgbClr val="E3A94F"/>
                </a:solidFill>
                <a:latin typeface="Poppins"/>
              </a:rPr>
              <a:t>Le critère, c'est la nuisance.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CE QUE L'ABONDANCE PERMET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On rapporte que les habitants de Médine vivaient tous d'Ibn ʿAwf</a:t>
            </a:r>
          </a:p>
          <a:p>
            <a:pPr algn="l">
              <a:lnSpc>
                <a:spcPct val="142000"/>
              </a:lnSpc>
              <a:spcAft>
                <a:spcPts val="900"/>
              </a:spcAft>
            </a:pPr>
            <a:r>
              <a:rPr sz="1850" b="0" i="0">
                <a:solidFill>
                  <a:srgbClr val="FFFFFF"/>
                </a:solidFill>
                <a:latin typeface="Poppins"/>
              </a:rPr>
              <a:t>Un tiers lui empruntait son argent</a:t>
            </a:r>
          </a:p>
          <a:p>
            <a:pPr algn="l">
              <a:lnSpc>
                <a:spcPct val="142000"/>
              </a:lnSpc>
              <a:spcAft>
                <a:spcPts val="900"/>
              </a:spcAft>
            </a:pPr>
            <a:r>
              <a:rPr sz="1850" b="0" i="0">
                <a:solidFill>
                  <a:srgbClr val="FFFFFF"/>
                </a:solidFill>
                <a:latin typeface="Poppins"/>
              </a:rPr>
              <a:t>Un tiers avait ses dettes réglées par lui</a:t>
            </a:r>
          </a:p>
          <a:p>
            <a:pPr algn="l">
              <a:lnSpc>
                <a:spcPct val="142000"/>
              </a:lnSpc>
              <a:spcAft>
                <a:spcPts val="900"/>
              </a:spcAft>
            </a:pPr>
            <a:r>
              <a:rPr sz="1850" b="0" i="0">
                <a:solidFill>
                  <a:srgbClr val="FFFFFF"/>
                </a:solidFill>
                <a:latin typeface="Poppins"/>
              </a:rPr>
              <a:t>Un tiers recevait son aumône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Un tiers des commerçants d'une ville</a:t>
            </a:r>
          </a:p>
          <a:p>
            <a:pPr algn="ctr">
              <a:lnSpc>
                <a:spcPct val="134000"/>
              </a:lnSpc>
              <a:spcAft>
                <a:spcPts val="900"/>
              </a:spcAft>
            </a:pPr>
            <a:r>
              <a:rPr sz="2600" b="0" i="0">
                <a:solidFill>
                  <a:srgbClr val="FFFFFF"/>
                </a:solidFill>
                <a:latin typeface="Poppins"/>
              </a:rPr>
              <a:t>tournaient sur son capital.</a:t>
            </a:r>
          </a:p>
          <a:p>
            <a:pPr algn="ctr">
              <a:lnSpc>
                <a:spcPct val="134000"/>
              </a:lnSpc>
              <a:spcAft>
                <a:spcPts val="900"/>
              </a:spcAft>
            </a:pPr>
            <a:r>
              <a:rPr sz="2600" b="0" i="0">
                <a:solidFill>
                  <a:srgbClr val="E3A94F"/>
                </a:solidFill>
                <a:latin typeface="Poppins"/>
              </a:rPr>
              <a:t>Dans un monde à somme nulle, c'est inconcevable.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Recommande publiquement un concurrent, sur un cas précis où il est meilleur que toi</a:t>
            </a:r>
          </a:p>
          <a:p>
            <a:pPr algn="l">
              <a:lnSpc>
                <a:spcPct val="142000"/>
              </a:lnSpc>
              <a:spcAft>
                <a:spcPts val="1200"/>
              </a:spcAft>
            </a:pPr>
            <a:r>
              <a:rPr sz="1850" b="0" i="0">
                <a:solidFill>
                  <a:srgbClr val="FFFFFF"/>
                </a:solidFill>
                <a:latin typeface="Poppins"/>
              </a:rPr>
              <a:t>Ce n'est pas un exercice de générosité : c'est un diagnostic</a:t>
            </a:r>
          </a:p>
          <a:p>
            <a:pPr algn="l">
              <a:lnSpc>
                <a:spcPct val="142000"/>
              </a:lnSpc>
              <a:spcAft>
                <a:spcPts val="1200"/>
              </a:spcAft>
            </a:pPr>
            <a:r>
              <a:rPr sz="1850" b="0" i="0">
                <a:solidFill>
                  <a:srgbClr val="FFFFFF"/>
                </a:solidFill>
                <a:latin typeface="Poppins"/>
              </a:rPr>
              <a:t>Ce que tu ressens en le faisant t'apprendra où tu en es</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OÙ ON EN EST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1. La finalité · ✅ 2. La mesure · ✅ 3. Le profit et le risque</a:t>
            </a:r>
          </a:p>
          <a:p>
            <a:pPr algn="l">
              <a:lnSpc>
                <a:spcPct val="142000"/>
              </a:lnSpc>
              <a:spcAft>
                <a:spcPts val="900"/>
              </a:spcAft>
            </a:pPr>
            <a:r>
              <a:rPr sz="1850" b="0" i="0">
                <a:solidFill>
                  <a:srgbClr val="E3A94F"/>
                </a:solidFill>
                <a:latin typeface="Poppins"/>
              </a:rPr>
              <a:t>✅ 4. La croissance et la dette · ✅ 5. La concurrence</a:t>
            </a:r>
          </a:p>
          <a:p>
            <a:pPr algn="l">
              <a:lnSpc>
                <a:spcPct val="142000"/>
              </a:lnSpc>
              <a:spcAft>
                <a:spcPts val="900"/>
              </a:spcAft>
            </a:pPr>
            <a:r>
              <a:rPr sz="1850" b="0" i="0">
                <a:solidFill>
                  <a:srgbClr val="FFFFFF"/>
                </a:solidFill>
                <a:latin typeface="Poppins"/>
              </a:rPr>
              <a:t>▶️ 6. Le client et l'effet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dernier, et le plus dérangeant.</a:t>
            </a:r>
          </a:p>
          <a:p>
            <a:pPr algn="ctr">
              <a:lnSpc>
                <a:spcPct val="134000"/>
              </a:lnSpc>
              <a:spcAft>
                <a:spcPts val="900"/>
              </a:spcAft>
            </a:pPr>
            <a:r>
              <a:rPr sz="2600" b="0" i="0">
                <a:solidFill>
                  <a:srgbClr val="E3A94F"/>
                </a:solidFill>
                <a:latin typeface="Poppins"/>
              </a:rPr>
              <a:t>Celui-là va toucher des choses que tout le monde fait.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6</a:t>
            </a:r>
          </a:p>
          <a:p>
            <a:pPr algn="ctr">
              <a:lnSpc>
                <a:spcPct val="106000"/>
              </a:lnSpc>
            </a:pPr>
            <a:r>
              <a:rPr sz="5000" b="1" i="1">
                <a:solidFill>
                  <a:srgbClr val="FFFFFF"/>
                </a:solidFill>
                <a:latin typeface="Archivo"/>
              </a:rPr>
              <a:t>LE CLIENT ET L'EFFET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Ton client vient de vivre un déclic.</a:t>
            </a:r>
          </a:p>
          <a:p>
            <a:pPr algn="ctr">
              <a:lnSpc>
                <a:spcPct val="134000"/>
              </a:lnSpc>
              <a:spcAft>
                <a:spcPts val="900"/>
              </a:spcAft>
            </a:pPr>
            <a:r>
              <a:rPr sz="2600" b="0" i="0">
                <a:solidFill>
                  <a:srgbClr val="E3A94F"/>
                </a:solidFill>
                <a:latin typeface="Poppins"/>
              </a:rPr>
              <a:t>Il est ému. Il t'appelle pour te le dire.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C'est statistiquement le meilleur moment</a:t>
            </a:r>
          </a:p>
          <a:p>
            <a:pPr algn="ctr">
              <a:lnSpc>
                <a:spcPct val="134000"/>
              </a:lnSpc>
              <a:spcAft>
                <a:spcPts val="900"/>
              </a:spcAft>
            </a:pPr>
            <a:r>
              <a:rPr sz="2600" b="0" i="0">
                <a:solidFill>
                  <a:srgbClr val="FFFFFF"/>
                </a:solidFill>
                <a:latin typeface="Poppins"/>
              </a:rPr>
              <a:t>pour lui vendre le niveau supérieur.</a:t>
            </a:r>
          </a:p>
          <a:p>
            <a:pPr algn="ctr">
              <a:lnSpc>
                <a:spcPct val="134000"/>
              </a:lnSpc>
              <a:spcAft>
                <a:spcPts val="900"/>
              </a:spcAft>
            </a:pPr>
            <a:r>
              <a:rPr sz="2600" b="0" i="0">
                <a:solidFill>
                  <a:srgbClr val="E3A94F"/>
                </a:solidFill>
                <a:latin typeface="Poppins"/>
              </a:rPr>
              <a:t>Tu le fais ?</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NOTRE CONCURRENT, C'EST LE SOMMEIL. »</a:t>
            </a:r>
          </a:p>
          <a:p>
            <a:pPr algn="ctr">
              <a:spcAft>
                <a:spcPts val="1700"/>
              </a:spcAft>
            </a:pPr>
            <a:r>
              <a:rPr sz="1400" b="0" i="1">
                <a:solidFill>
                  <a:srgbClr val="E3A94F"/>
                </a:solidFill>
                <a:latin typeface="Poppins"/>
              </a:rPr>
              <a:t>— Reed Hastings · PDG de Netflix, 2017 —</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ON EXPLOITAIT UNE VULNÉRABILITÉ DE LA PSYCHOLOGIE HUMAINE. »</a:t>
            </a:r>
          </a:p>
          <a:p>
            <a:pPr algn="ctr">
              <a:spcAft>
                <a:spcPts val="1700"/>
              </a:spcAft>
            </a:pPr>
            <a:r>
              <a:rPr sz="1400" b="0" i="1">
                <a:solidFill>
                  <a:srgbClr val="E3A94F"/>
                </a:solidFill>
                <a:latin typeface="Poppins"/>
              </a:rPr>
              <a:t>— Sean Parker · cofondateur de Facebook, 2017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LA CIBLE</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Panier moyen, valeur vie client, taux de rétention</a:t>
            </a:r>
          </a:p>
          <a:p>
            <a:pPr algn="l">
              <a:lnSpc>
                <a:spcPct val="140000"/>
              </a:lnSpc>
              <a:spcAft>
                <a:spcPts val="800"/>
              </a:spcAft>
            </a:pPr>
            <a:r>
              <a:rPr sz="1500" b="0" i="0">
                <a:solidFill>
                  <a:srgbClr val="CFCFCF"/>
                </a:solidFill>
                <a:latin typeface="Poppins"/>
              </a:rPr>
              <a:t>Le vocabulaire est explicite : tunnel, accroche, capture</a:t>
            </a:r>
          </a:p>
          <a:p>
            <a:pPr algn="l">
              <a:lnSpc>
                <a:spcPct val="140000"/>
              </a:lnSpc>
              <a:spcAft>
                <a:spcPts val="800"/>
              </a:spcAft>
            </a:pPr>
            <a:r>
              <a:rPr sz="1500" b="0" i="0">
                <a:solidFill>
                  <a:srgbClr val="CFCFCF"/>
                </a:solidFill>
                <a:latin typeface="Poppins"/>
              </a:rPr>
              <a:t>Reed Hastings : « notre concurrent, c'est le sommeil »</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CELUI DONT TU RÉPONDS</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Refus du rapport de dépendance</a:t>
            </a:r>
          </a:p>
          <a:p>
            <a:pPr algn="l">
              <a:lnSpc>
                <a:spcPct val="140000"/>
              </a:lnSpc>
              <a:spcAft>
                <a:spcPts val="800"/>
              </a:spcAft>
            </a:pPr>
            <a:r>
              <a:rPr sz="1500" b="0" i="0">
                <a:solidFill>
                  <a:srgbClr val="CFCFCF"/>
                </a:solidFill>
                <a:latin typeface="Poppins"/>
              </a:rPr>
              <a:t>La vente = aider quelqu'un à décider utile pour lui</a:t>
            </a:r>
          </a:p>
          <a:p>
            <a:pPr algn="l">
              <a:lnSpc>
                <a:spcPct val="140000"/>
              </a:lnSpc>
              <a:spcAft>
                <a:spcPts val="800"/>
              </a:spcAft>
            </a:pPr>
            <a:r>
              <a:rPr sz="1500" b="0" i="0">
                <a:solidFill>
                  <a:srgbClr val="CFCFCF"/>
                </a:solidFill>
                <a:latin typeface="Poppins"/>
              </a:rPr>
              <a:t>Un accompagnement réussi rend autonome</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Si ton modèle ne tient que parce que</a:t>
            </a:r>
          </a:p>
          <a:p>
            <a:pPr algn="ctr">
              <a:lnSpc>
                <a:spcPct val="134000"/>
              </a:lnSpc>
              <a:spcAft>
                <a:spcPts val="900"/>
              </a:spcAft>
            </a:pPr>
            <a:r>
              <a:rPr sz="2600" b="0" i="0">
                <a:solidFill>
                  <a:srgbClr val="FFFFFF"/>
                </a:solidFill>
                <a:latin typeface="Poppins"/>
              </a:rPr>
              <a:t>ton client ne s'en sort jamais,</a:t>
            </a:r>
          </a:p>
          <a:p>
            <a:pPr algn="ctr">
              <a:lnSpc>
                <a:spcPct val="134000"/>
              </a:lnSpc>
              <a:spcAft>
                <a:spcPts val="900"/>
              </a:spcAft>
            </a:pPr>
            <a:r>
              <a:rPr sz="2600" b="0" i="0">
                <a:solidFill>
                  <a:srgbClr val="E3A94F"/>
                </a:solidFill>
                <a:latin typeface="Poppins"/>
              </a:rPr>
              <a:t>ce n'est pas un modèle.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a:t>
            </a:r>
            <a:r>
              <a:rPr sz="6600" b="1" i="1">
                <a:solidFill>
                  <a:srgbClr val="131313"/>
                </a:solidFill>
                <a:latin typeface="Archivo"/>
              </a:rPr>
              <a:t> </a:t>
            </a:r>
            <a:r>
              <a:rPr sz="6600" b="1" i="1">
                <a:solidFill>
                  <a:srgbClr val="131313"/>
                </a:solidFill>
                <a:latin typeface="Archivo"/>
              </a:rPr>
              <a:t>I</a:t>
            </a:r>
            <a:r>
              <a:rPr sz="6600" b="1" i="1">
                <a:solidFill>
                  <a:srgbClr val="131313"/>
                </a:solidFill>
                <a:latin typeface="Archivo"/>
              </a:rPr>
              <a:t>L</a:t>
            </a:r>
            <a:r>
              <a:rPr sz="6600" b="1" i="1">
                <a:solidFill>
                  <a:srgbClr val="131313"/>
                </a:solidFill>
                <a:latin typeface="Archivo"/>
              </a:rPr>
              <a:t> </a:t>
            </a:r>
            <a:r>
              <a:rPr sz="6600" b="1" i="1">
                <a:solidFill>
                  <a:srgbClr val="191713"/>
                </a:solidFill>
                <a:latin typeface="Archivo"/>
              </a:rPr>
              <a:t>É</a:t>
            </a:r>
            <a:r>
              <a:rPr sz="6600" b="1" i="1">
                <a:solidFill>
                  <a:srgbClr val="231E15"/>
                </a:solidFill>
                <a:latin typeface="Archivo"/>
              </a:rPr>
              <a:t>T</a:t>
            </a:r>
            <a:r>
              <a:rPr sz="6600" b="1" i="1">
                <a:solidFill>
                  <a:srgbClr val="2E2617"/>
                </a:solidFill>
                <a:latin typeface="Archivo"/>
              </a:rPr>
              <a:t>A</a:t>
            </a:r>
            <a:r>
              <a:rPr sz="6600" b="1" i="1">
                <a:solidFill>
                  <a:srgbClr val="392D18"/>
                </a:solidFill>
                <a:latin typeface="Archivo"/>
              </a:rPr>
              <a:t>I</a:t>
            </a:r>
            <a:r>
              <a:rPr sz="6600" b="1" i="1">
                <a:solidFill>
                  <a:srgbClr val="43341A"/>
                </a:solidFill>
                <a:latin typeface="Archivo"/>
              </a:rPr>
              <a:t>T</a:t>
            </a:r>
            <a:r>
              <a:rPr sz="6600" b="1" i="1">
                <a:solidFill>
                  <a:srgbClr val="4E3C1B"/>
                </a:solidFill>
                <a:latin typeface="Archivo"/>
              </a:rPr>
              <a:t> </a:t>
            </a:r>
            <a:r>
              <a:rPr sz="6600" b="1" i="1">
                <a:solidFill>
                  <a:srgbClr val="58431D"/>
                </a:solidFill>
                <a:latin typeface="Archivo"/>
              </a:rPr>
              <a:t>D</a:t>
            </a:r>
            <a:r>
              <a:rPr sz="6600" b="1" i="1">
                <a:solidFill>
                  <a:srgbClr val="634B1E"/>
                </a:solidFill>
                <a:latin typeface="Archivo"/>
              </a:rPr>
              <a:t>'</a:t>
            </a:r>
            <a:r>
              <a:rPr sz="6600" b="1" i="1">
                <a:solidFill>
                  <a:srgbClr val="6D5220"/>
                </a:solidFill>
                <a:latin typeface="Archivo"/>
              </a:rPr>
              <a:t>A</a:t>
            </a:r>
            <a:r>
              <a:rPr sz="6600" b="1" i="1">
                <a:solidFill>
                  <a:srgbClr val="785921"/>
                </a:solidFill>
                <a:latin typeface="Archivo"/>
              </a:rPr>
              <a:t>C</a:t>
            </a:r>
            <a:r>
              <a:rPr sz="6600" b="1" i="1">
                <a:solidFill>
                  <a:srgbClr val="836123"/>
                </a:solidFill>
                <a:latin typeface="Archivo"/>
              </a:rPr>
              <a:t>C</a:t>
            </a:r>
            <a:r>
              <a:rPr sz="6600" b="1" i="1">
                <a:solidFill>
                  <a:srgbClr val="8D6824"/>
                </a:solidFill>
                <a:latin typeface="Archivo"/>
              </a:rPr>
              <a:t>O</a:t>
            </a:r>
            <a:r>
              <a:rPr sz="6600" b="1" i="1">
                <a:solidFill>
                  <a:srgbClr val="986F26"/>
                </a:solidFill>
                <a:latin typeface="Archivo"/>
              </a:rPr>
              <a:t>R</a:t>
            </a:r>
            <a:r>
              <a:rPr sz="6600" b="1" i="1">
                <a:solidFill>
                  <a:srgbClr val="A27727"/>
                </a:solidFill>
                <a:latin typeface="Archivo"/>
              </a:rPr>
              <a:t>D</a:t>
            </a:r>
            <a:r>
              <a:rPr sz="6600" b="1" i="1">
                <a:solidFill>
                  <a:srgbClr val="AD7E29"/>
                </a:solidFill>
                <a:latin typeface="Archivo"/>
              </a:rPr>
              <a:t> </a:t>
            </a:r>
            <a:r>
              <a:rPr sz="6600" b="1" i="1">
                <a:solidFill>
                  <a:srgbClr val="B8862B"/>
                </a:solidFill>
                <a:latin typeface="Archivo"/>
              </a:rPr>
              <a: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2400" b="1" i="0">
                <a:solidFill>
                  <a:srgbClr val="FFFFFF"/>
                </a:solidFill>
                <a:latin typeface="Oswald"/>
              </a:rPr>
              <a:t>« IL N'EST PAS SUFFISANT QUE DEUX PERSONNES SOIENT D'ACCORD SUR UN CONTRAT POUR QUE CE CONTRAT SOIT LICITE : LE CONTRAT DOIT PORTER SUR UN OBJET LICITE. »</a:t>
            </a:r>
          </a:p>
          <a:p>
            <a:pPr algn="ctr">
              <a:spcAft>
                <a:spcPts val="1700"/>
              </a:spcAft>
            </a:pPr>
            <a:r>
              <a:rPr sz="1400" b="0" i="1">
                <a:solidFill>
                  <a:srgbClr val="E3A94F"/>
                </a:solidFill>
                <a:latin typeface="Poppins"/>
              </a:rPr>
              <a:t>— Dr Mohamed Talal Lahlou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consentement est nécessaire.</a:t>
            </a:r>
          </a:p>
          <a:p>
            <a:pPr algn="ctr">
              <a:lnSpc>
                <a:spcPct val="134000"/>
              </a:lnSpc>
              <a:spcAft>
                <a:spcPts val="900"/>
              </a:spcAft>
            </a:pPr>
            <a:r>
              <a:rPr sz="2600" b="0" i="0">
                <a:solidFill>
                  <a:srgbClr val="E3A94F"/>
                </a:solidFill>
                <a:latin typeface="Poppins"/>
              </a:rPr>
              <a:t>Il n'est pas suffisant.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Qu'il ait dit oui à la fin d'un appel de vente de 90 minutes</a:t>
            </a:r>
          </a:p>
          <a:p>
            <a:pPr algn="ctr">
              <a:lnSpc>
                <a:spcPct val="134000"/>
              </a:lnSpc>
              <a:spcAft>
                <a:spcPts val="900"/>
              </a:spcAft>
            </a:pPr>
            <a:r>
              <a:rPr sz="2600" b="0" i="0">
                <a:solidFill>
                  <a:srgbClr val="FFFFFF"/>
                </a:solidFill>
                <a:latin typeface="Poppins"/>
              </a:rPr>
              <a:t>ne dit rien de sa liberté</a:t>
            </a:r>
          </a:p>
          <a:p>
            <a:pPr algn="ctr">
              <a:lnSpc>
                <a:spcPct val="134000"/>
              </a:lnSpc>
              <a:spcAft>
                <a:spcPts val="900"/>
              </a:spcAft>
            </a:pPr>
            <a:r>
              <a:rPr sz="2600" b="0" i="0">
                <a:solidFill>
                  <a:srgbClr val="E3A94F"/>
                </a:solidFill>
                <a:latin typeface="Poppins"/>
              </a:rPr>
              <a:t>au moment où il l'a dit.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contrat te protège juridiquement.</a:t>
            </a:r>
          </a:p>
          <a:p>
            <a:pPr algn="ctr">
              <a:lnSpc>
                <a:spcPct val="134000"/>
              </a:lnSpc>
              <a:spcAft>
                <a:spcPts val="900"/>
              </a:spcAft>
            </a:pPr>
            <a:r>
              <a:rPr sz="2600" b="0" i="0">
                <a:solidFill>
                  <a:srgbClr val="E3A94F"/>
                </a:solidFill>
                <a:latin typeface="Poppins"/>
              </a:rPr>
              <a:t>Il ne te dédouane pas.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QUATRE MOTS QUI REMPLACENT TOUS LES DÉBATS VAGUES SUR L'ÉTHIQUE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الغرر — Gharar : l'aléa, ce que le client ne peut pas évaluer</a:t>
            </a:r>
          </a:p>
          <a:p>
            <a:pPr algn="l">
              <a:lnSpc>
                <a:spcPct val="142000"/>
              </a:lnSpc>
              <a:spcAft>
                <a:spcPts val="900"/>
              </a:spcAft>
            </a:pPr>
            <a:r>
              <a:rPr sz="1850" b="0" i="0">
                <a:solidFill>
                  <a:srgbClr val="FFFFFF"/>
                </a:solidFill>
                <a:latin typeface="Poppins"/>
              </a:rPr>
              <a:t>التدليس — Tadlîs : dissimuler le défaut</a:t>
            </a:r>
          </a:p>
          <a:p>
            <a:pPr algn="l">
              <a:lnSpc>
                <a:spcPct val="142000"/>
              </a:lnSpc>
              <a:spcAft>
                <a:spcPts val="900"/>
              </a:spcAft>
            </a:pPr>
            <a:r>
              <a:rPr sz="1850" b="0" i="0">
                <a:solidFill>
                  <a:srgbClr val="FFFFFF"/>
                </a:solidFill>
                <a:latin typeface="Poppins"/>
              </a:rPr>
              <a:t>الغبن — Ghubn : la lésion, le déséquilibre excessif</a:t>
            </a:r>
          </a:p>
          <a:p>
            <a:pPr algn="l">
              <a:lnSpc>
                <a:spcPct val="142000"/>
              </a:lnSpc>
              <a:spcAft>
                <a:spcPts val="900"/>
              </a:spcAft>
            </a:pPr>
            <a:r>
              <a:rPr sz="1850" b="0" i="0">
                <a:solidFill>
                  <a:srgbClr val="FFFFFF"/>
                </a:solidFill>
                <a:latin typeface="Poppins"/>
              </a:rPr>
              <a:t>الإقالة — Iqâla : défaire une vente à la demande de celui qui regrette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AUCUN DE VOUS NE SERA VRAIMENT CROYANT TANT QU'IL N'AIMERA PAS POUR SON FRÈRE CE QU'IL AIME POUR LUI-MÊME. »</a:t>
            </a:r>
          </a:p>
          <a:p>
            <a:pPr algn="ctr">
              <a:spcAft>
                <a:spcPts val="1700"/>
              </a:spcAft>
            </a:pPr>
            <a:r>
              <a:rPr sz="1400" b="0" i="1">
                <a:solidFill>
                  <a:srgbClr val="E3A94F"/>
                </a:solidFill>
                <a:latin typeface="Poppins"/>
              </a:rPr>
              <a:t>— Sahîh al-Bukhârî, Sahîh Muslim —</a:t>
            </a:r>
          </a:p>
          <a:p>
            <a:pPr algn="ctr">
              <a:lnSpc>
                <a:spcPct val="170000"/>
              </a:lnSpc>
              <a:spcAft>
                <a:spcPts val="500"/>
              </a:spcAft>
            </a:pPr>
            <a:r>
              <a:rPr sz="2300" b="0" i="0">
                <a:solidFill>
                  <a:srgbClr val="FFFFFF"/>
                </a:solidFill>
                <a:latin typeface="Noto Naskh Arabic"/>
              </a:rPr>
              <a:t>« لَا يُؤْمِنُ أَحَدُكُمْ حَتَّى يُحِبَّ لِأَخِيهِ مَا يُحِبُّ لِنَفْسِهِ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3891280" y="2884170"/>
            <a:ext cx="440944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81780" y="2884170"/>
            <a:ext cx="402844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a:t>
            </a:r>
            <a:r>
              <a:rPr sz="6600" b="1" i="1">
                <a:solidFill>
                  <a:srgbClr val="2A2316"/>
                </a:solidFill>
                <a:latin typeface="Archivo"/>
              </a:rPr>
              <a:t>E</a:t>
            </a:r>
            <a:r>
              <a:rPr sz="6600" b="1" i="1">
                <a:solidFill>
                  <a:srgbClr val="4E3C1B"/>
                </a:solidFill>
                <a:latin typeface="Archivo"/>
              </a:rPr>
              <a:t>F</a:t>
            </a:r>
            <a:r>
              <a:rPr sz="6600" b="1" i="1">
                <a:solidFill>
                  <a:srgbClr val="715420"/>
                </a:solidFill>
                <a:latin typeface="Archivo"/>
              </a:rPr>
              <a:t>F</a:t>
            </a:r>
            <a:r>
              <a:rPr sz="6600" b="1" i="1">
                <a:solidFill>
                  <a:srgbClr val="946D25"/>
                </a:solidFill>
                <a:latin typeface="Archivo"/>
              </a:rPr>
              <a:t>E</a:t>
            </a:r>
            <a:r>
              <a:rPr sz="6600" b="1" i="1">
                <a:solidFill>
                  <a:srgbClr val="B8862B"/>
                </a:solidFill>
                <a:latin typeface="Archivo"/>
              </a:rPr>
              <a:t>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UN CAS RÉEL, ET IL N'A RIEN D'EXTRÊME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Un frère anime un direct tous les soirs</a:t>
            </a:r>
          </a:p>
          <a:p>
            <a:pPr algn="l">
              <a:lnSpc>
                <a:spcPct val="142000"/>
              </a:lnSpc>
              <a:spcAft>
                <a:spcPts val="900"/>
              </a:spcAft>
            </a:pPr>
            <a:r>
              <a:rPr sz="1850" b="0" i="0">
                <a:solidFill>
                  <a:srgbClr val="FFFFFF"/>
                </a:solidFill>
                <a:latin typeface="Poppins"/>
              </a:rPr>
              <a:t>Il parle d'islam, de baraka, de sens — le contenu est irréprochable</a:t>
            </a:r>
          </a:p>
          <a:p>
            <a:pPr algn="l">
              <a:lnSpc>
                <a:spcPct val="142000"/>
              </a:lnSpc>
              <a:spcAft>
                <a:spcPts val="900"/>
              </a:spcAft>
            </a:pPr>
            <a:r>
              <a:rPr sz="1850" b="0" i="0">
                <a:solidFill>
                  <a:srgbClr val="FFFFFF"/>
                </a:solidFill>
                <a:latin typeface="Poppins"/>
              </a:rPr>
              <a:t>L'audience est meilleure en fin de soirée, alors il pousse</a:t>
            </a:r>
          </a:p>
          <a:p>
            <a:pPr algn="l">
              <a:lnSpc>
                <a:spcPct val="142000"/>
              </a:lnSpc>
              <a:spcAft>
                <a:spcPts val="900"/>
              </a:spcAft>
            </a:pPr>
            <a:r>
              <a:rPr sz="1850" b="0" i="0">
                <a:solidFill>
                  <a:srgbClr val="FFFFFF"/>
                </a:solidFill>
                <a:latin typeface="Poppins"/>
              </a:rPr>
              <a:t>Minuit. Une heure. Deux heures du matin.</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Son contenu parle de baraka.</a:t>
            </a:r>
          </a:p>
          <a:p>
            <a:pPr algn="ctr">
              <a:lnSpc>
                <a:spcPct val="134000"/>
              </a:lnSpc>
              <a:spcAft>
                <a:spcPts val="900"/>
              </a:spcAft>
            </a:pPr>
            <a:r>
              <a:rPr sz="2600" b="0" i="0">
                <a:solidFill>
                  <a:srgbClr val="E3A94F"/>
                </a:solidFill>
                <a:latin typeface="Poppins"/>
              </a:rPr>
              <a:t>Son dispositif enseigne à rater le fajr.</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Il n'a rien fait d'interdit.</a:t>
            </a:r>
          </a:p>
          <a:p>
            <a:pPr algn="ctr">
              <a:lnSpc>
                <a:spcPct val="134000"/>
              </a:lnSpc>
              <a:spcAft>
                <a:spcPts val="900"/>
              </a:spcAft>
            </a:pPr>
            <a:r>
              <a:rPr sz="2600" b="0" i="0">
                <a:solidFill>
                  <a:srgbClr val="FFFFFF"/>
                </a:solidFill>
                <a:latin typeface="Poppins"/>
              </a:rPr>
              <a:t>Son intention est bonne.</a:t>
            </a:r>
          </a:p>
          <a:p>
            <a:pPr algn="ctr">
              <a:lnSpc>
                <a:spcPct val="134000"/>
              </a:lnSpc>
              <a:spcAft>
                <a:spcPts val="900"/>
              </a:spcAft>
            </a:pPr>
            <a:r>
              <a:rPr sz="2600" b="0" i="0">
                <a:solidFill>
                  <a:srgbClr val="E3A94F"/>
                </a:solidFill>
                <a:latin typeface="Poppins"/>
              </a:rPr>
              <a:t>Et il abîme des milliers de gens.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vecteur de communication</a:t>
            </a:r>
          </a:p>
          <a:p>
            <a:pPr algn="ctr">
              <a:lnSpc>
                <a:spcPct val="134000"/>
              </a:lnSpc>
              <a:spcAft>
                <a:spcPts val="900"/>
              </a:spcAft>
            </a:pPr>
            <a:r>
              <a:rPr sz="2600" b="0" i="0">
                <a:solidFill>
                  <a:srgbClr val="E3A94F"/>
                </a:solidFill>
                <a:latin typeface="Poppins"/>
              </a:rPr>
              <a:t>fait partie du message.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PAS DE PRÉJUDICE, NI DE PRÉJUDICE EN RETOUR. »</a:t>
            </a:r>
          </a:p>
          <a:p>
            <a:pPr algn="ctr">
              <a:spcAft>
                <a:spcPts val="1700"/>
              </a:spcAft>
            </a:pPr>
            <a:r>
              <a:rPr sz="1400" b="0" i="1">
                <a:solidFill>
                  <a:srgbClr val="E3A94F"/>
                </a:solidFill>
                <a:latin typeface="Poppins"/>
              </a:rPr>
              <a:t>— Une des maximes qui structurent tout le droit des transactions —</a:t>
            </a:r>
          </a:p>
          <a:p>
            <a:pPr algn="ctr">
              <a:lnSpc>
                <a:spcPct val="170000"/>
              </a:lnSpc>
              <a:spcAft>
                <a:spcPts val="500"/>
              </a:spcAft>
            </a:pPr>
            <a:r>
              <a:rPr sz="2300" b="0" i="0">
                <a:solidFill>
                  <a:srgbClr val="FFFFFF"/>
                </a:solidFill>
                <a:latin typeface="Noto Naskh Arabic"/>
              </a:rPr>
              <a:t>« لَا ضَرَرَ وَلَا ضِرَارَ »</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ET CE N'EST PAS UNE INTUITION MORALE. C'EST UN CHAPITRE DU DROIT.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سد الذرائع — Sadd adh-dharâʾiʿ : un acte licite devient problématique par ce à quoi il conduit</a:t>
            </a:r>
          </a:p>
          <a:p>
            <a:pPr algn="l">
              <a:lnSpc>
                <a:spcPct val="142000"/>
              </a:lnSpc>
              <a:spcAft>
                <a:spcPts val="900"/>
              </a:spcAft>
            </a:pPr>
            <a:r>
              <a:rPr sz="1850" b="0" i="0">
                <a:solidFill>
                  <a:srgbClr val="FFFFFF"/>
                </a:solidFill>
                <a:latin typeface="Poppins"/>
              </a:rPr>
              <a:t>الوسائل لها أحكام المقاصد — Les moyens prennent le statut des fins</a:t>
            </a:r>
          </a:p>
          <a:p>
            <a:pPr algn="l">
              <a:lnSpc>
                <a:spcPct val="142000"/>
              </a:lnSpc>
              <a:spcAft>
                <a:spcPts val="900"/>
              </a:spcAft>
            </a:pPr>
            <a:r>
              <a:rPr sz="1850" b="0" i="0">
                <a:solidFill>
                  <a:srgbClr val="FFFFFF"/>
                </a:solidFill>
                <a:latin typeface="Poppins"/>
              </a:rPr>
              <a:t>« Chacun de vous est un berger, et chacun est responsable de son troupeau »</a:t>
            </a:r>
          </a:p>
          <a:p>
            <a:pPr algn="l">
              <a:lnSpc>
                <a:spcPct val="142000"/>
              </a:lnSpc>
              <a:spcAft>
                <a:spcPts val="900"/>
              </a:spcAft>
            </a:pPr>
            <a:r>
              <a:rPr sz="1850" b="0" i="0">
                <a:solidFill>
                  <a:srgbClr val="FFFFFF"/>
                </a:solidFill>
                <a:latin typeface="Poppins"/>
              </a:rPr>
              <a:t>Celui qui appelle à un égarement en porte la charge, et autant que ceux qui le suivent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Tu ne réponds pas seulement de ce que tu vends.</a:t>
            </a:r>
          </a:p>
          <a:p>
            <a:pPr algn="ctr">
              <a:lnSpc>
                <a:spcPct val="134000"/>
              </a:lnSpc>
              <a:spcAft>
                <a:spcPts val="900"/>
              </a:spcAft>
            </a:pPr>
            <a:r>
              <a:rPr sz="2600" b="0" i="0">
                <a:solidFill>
                  <a:srgbClr val="E3A94F"/>
                </a:solidFill>
                <a:latin typeface="Poppins"/>
              </a:rPr>
              <a:t>Tu réponds de ceux que tu conduis.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4300" b="1" i="1">
                <a:solidFill>
                  <a:srgbClr val="FFFFFF"/>
                </a:solidFill>
                <a:latin typeface="Archivo"/>
              </a:rPr>
              <a:t>LE LÉGAL N'EST PAS FORCÉMENT ÉTHIQUE.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376680" y="2884170"/>
            <a:ext cx="943864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567180" y="2884170"/>
            <a:ext cx="905764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E</a:t>
            </a:r>
            <a:r>
              <a:rPr sz="6600" b="1" i="1">
                <a:solidFill>
                  <a:srgbClr val="131313"/>
                </a:solidFill>
                <a:latin typeface="Archivo"/>
              </a:rPr>
              <a:t>S</a:t>
            </a:r>
            <a:r>
              <a:rPr sz="6600" b="1" i="1">
                <a:solidFill>
                  <a:srgbClr val="131313"/>
                </a:solidFill>
                <a:latin typeface="Archivo"/>
              </a:rPr>
              <a:t> </a:t>
            </a:r>
            <a:r>
              <a:rPr sz="6600" b="1" i="1">
                <a:solidFill>
                  <a:srgbClr val="191713"/>
                </a:solidFill>
                <a:latin typeface="Archivo"/>
              </a:rPr>
              <a:t>T</a:t>
            </a:r>
            <a:r>
              <a:rPr sz="6600" b="1" i="1">
                <a:solidFill>
                  <a:srgbClr val="262015"/>
                </a:solidFill>
                <a:latin typeface="Archivo"/>
              </a:rPr>
              <a:t>R</a:t>
            </a:r>
            <a:r>
              <a:rPr sz="6600" b="1" i="1">
                <a:solidFill>
                  <a:srgbClr val="332917"/>
                </a:solidFill>
                <a:latin typeface="Archivo"/>
              </a:rPr>
              <a:t>O</a:t>
            </a:r>
            <a:r>
              <a:rPr sz="6600" b="1" i="1">
                <a:solidFill>
                  <a:srgbClr val="413319"/>
                </a:solidFill>
                <a:latin typeface="Archivo"/>
              </a:rPr>
              <a:t>I</a:t>
            </a:r>
            <a:r>
              <a:rPr sz="6600" b="1" i="1">
                <a:solidFill>
                  <a:srgbClr val="4E3C1B"/>
                </a:solidFill>
                <a:latin typeface="Archivo"/>
              </a:rPr>
              <a:t>S</a:t>
            </a:r>
            <a:r>
              <a:rPr sz="6600" b="1" i="1">
                <a:solidFill>
                  <a:srgbClr val="5B451D"/>
                </a:solidFill>
                <a:latin typeface="Archivo"/>
              </a:rPr>
              <a:t> </a:t>
            </a:r>
            <a:r>
              <a:rPr sz="6600" b="1" i="1">
                <a:solidFill>
                  <a:srgbClr val="684E1F"/>
                </a:solidFill>
                <a:latin typeface="Archivo"/>
              </a:rPr>
              <a:t>L</a:t>
            </a:r>
            <a:r>
              <a:rPr sz="6600" b="1" i="1">
                <a:solidFill>
                  <a:srgbClr val="755721"/>
                </a:solidFill>
                <a:latin typeface="Archivo"/>
              </a:rPr>
              <a:t>E</a:t>
            </a:r>
            <a:r>
              <a:rPr sz="6600" b="1" i="1">
                <a:solidFill>
                  <a:srgbClr val="836123"/>
                </a:solidFill>
                <a:latin typeface="Archivo"/>
              </a:rPr>
              <a:t>V</a:t>
            </a:r>
            <a:r>
              <a:rPr sz="6600" b="1" i="1">
                <a:solidFill>
                  <a:srgbClr val="906A25"/>
                </a:solidFill>
                <a:latin typeface="Archivo"/>
              </a:rPr>
              <a:t>I</a:t>
            </a:r>
            <a:r>
              <a:rPr sz="6600" b="1" i="1">
                <a:solidFill>
                  <a:srgbClr val="9D7327"/>
                </a:solidFill>
                <a:latin typeface="Archivo"/>
              </a:rPr>
              <a:t>E</a:t>
            </a:r>
            <a:r>
              <a:rPr sz="6600" b="1" i="1">
                <a:solidFill>
                  <a:srgbClr val="AA7C29"/>
                </a:solidFill>
                <a:latin typeface="Archivo"/>
              </a:rPr>
              <a:t>R</a:t>
            </a:r>
            <a:r>
              <a:rPr sz="6600" b="1" i="1">
                <a:solidFill>
                  <a:srgbClr val="B8862B"/>
                </a:solidFill>
                <a:latin typeface="Archivo"/>
              </a:rPr>
              <a:t>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EST-CE QUE CE QUE JE FAIS CRÉE, CHEZ LA PERSONNE EN FACE :</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De la DÉPENDANCE ?</a:t>
            </a:r>
          </a:p>
          <a:p>
            <a:pPr algn="l">
              <a:lnSpc>
                <a:spcPct val="142000"/>
              </a:lnSpc>
              <a:spcAft>
                <a:spcPts val="900"/>
              </a:spcAft>
            </a:pPr>
            <a:r>
              <a:rPr sz="1850" b="0" i="0">
                <a:solidFill>
                  <a:srgbClr val="E3A94F"/>
                </a:solidFill>
                <a:latin typeface="Poppins"/>
              </a:rPr>
              <a:t>👉 De l'AVEUGLEMENT ?</a:t>
            </a:r>
          </a:p>
          <a:p>
            <a:pPr algn="l">
              <a:lnSpc>
                <a:spcPct val="142000"/>
              </a:lnSpc>
              <a:spcAft>
                <a:spcPts val="900"/>
              </a:spcAft>
            </a:pPr>
            <a:r>
              <a:rPr sz="1850" b="0" i="0">
                <a:solidFill>
                  <a:srgbClr val="E3A94F"/>
                </a:solidFill>
                <a:latin typeface="Poppins"/>
              </a:rPr>
              <a:t>👉 De l'EXCÈS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PASSONS QUELQUES CAS PARFAITEMENT ORDINAIRES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600" b="0" i="0">
                <a:solidFill>
                  <a:srgbClr val="FFFFFF"/>
                </a:solidFill>
                <a:latin typeface="Poppins"/>
              </a:rPr>
              <a:t>Le direct jusqu'à 2h du matin → tu entraînes ton audience à rater la prière</a:t>
            </a:r>
          </a:p>
          <a:p>
            <a:pPr algn="l">
              <a:lnSpc>
                <a:spcPct val="142000"/>
              </a:lnSpc>
              <a:spcAft>
                <a:spcPts val="900"/>
              </a:spcAft>
            </a:pPr>
            <a:r>
              <a:rPr sz="1600" b="0" i="0">
                <a:solidFill>
                  <a:srgbClr val="FFFFFF"/>
                </a:solidFill>
                <a:latin typeface="Poppins"/>
              </a:rPr>
              <a:t>Le contenu conçu pour retenir → tu formes des gens qui défilent</a:t>
            </a:r>
          </a:p>
          <a:p>
            <a:pPr algn="l">
              <a:lnSpc>
                <a:spcPct val="142000"/>
              </a:lnSpc>
              <a:spcAft>
                <a:spcPts val="900"/>
              </a:spcAft>
            </a:pPr>
            <a:r>
              <a:rPr sz="1600" b="0" i="0">
                <a:solidFill>
                  <a:srgbClr val="FFFFFF"/>
                </a:solidFill>
                <a:latin typeface="Poppins"/>
              </a:rPr>
              <a:t>L'accompagnement dont on ne sort jamais → dépendance par construction</a:t>
            </a:r>
          </a:p>
          <a:p>
            <a:pPr algn="l">
              <a:lnSpc>
                <a:spcPct val="142000"/>
              </a:lnSpc>
              <a:spcAft>
                <a:spcPts val="900"/>
              </a:spcAft>
            </a:pPr>
            <a:r>
              <a:rPr sz="1600" b="0" i="0">
                <a:solidFill>
                  <a:srgbClr val="FFFFFF"/>
                </a:solidFill>
                <a:latin typeface="Poppins"/>
              </a:rPr>
              <a:t>Le paiement en quatre fois → une dette qu'il n'aurait pas contractée</a:t>
            </a:r>
          </a:p>
          <a:p>
            <a:pPr algn="l">
              <a:lnSpc>
                <a:spcPct val="142000"/>
              </a:lnSpc>
              <a:spcAft>
                <a:spcPts val="900"/>
              </a:spcAft>
            </a:pPr>
            <a:r>
              <a:rPr sz="1600" b="0" i="0">
                <a:solidFill>
                  <a:srgbClr val="FFFFFF"/>
                </a:solidFill>
                <a:latin typeface="Poppins"/>
              </a:rPr>
              <a:t>La fausse urgence → tu entraînes ton audience à ne plus te croire</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On ne peut pas être responsable</a:t>
            </a:r>
          </a:p>
          <a:p>
            <a:pPr algn="ctr">
              <a:lnSpc>
                <a:spcPct val="134000"/>
              </a:lnSpc>
              <a:spcAft>
                <a:spcPts val="900"/>
              </a:spcAft>
            </a:pPr>
            <a:r>
              <a:rPr sz="2600" b="0" i="0">
                <a:solidFill>
                  <a:srgbClr val="FFFFFF"/>
                </a:solidFill>
                <a:latin typeface="Poppins"/>
              </a:rPr>
              <a:t>de tout ce que les gens font. »</a:t>
            </a:r>
          </a:p>
          <a:p>
            <a:pPr algn="ctr">
              <a:lnSpc>
                <a:spcPct val="134000"/>
              </a:lnSpc>
              <a:spcAft>
                <a:spcPts val="900"/>
              </a:spcAft>
            </a:pPr>
            <a:r>
              <a:rPr sz="2600" b="0" i="0">
                <a:solidFill>
                  <a:srgbClr val="E3A94F"/>
                </a:solidFill>
                <a:latin typeface="Poppins"/>
              </a:rPr>
              <a:t>Exact. Et ce n'est pas ce qui est demandé.</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100" b="0" i="0">
                <a:solidFill>
                  <a:srgbClr val="FFFFFF"/>
                </a:solidFill>
                <a:latin typeface="Poppins"/>
              </a:rPr>
              <a:t>Il s'agit de ce que ton dispositif rend probable.</a:t>
            </a:r>
          </a:p>
          <a:p>
            <a:pPr algn="ctr">
              <a:lnSpc>
                <a:spcPct val="134000"/>
              </a:lnSpc>
              <a:spcAft>
                <a:spcPts val="900"/>
              </a:spcAft>
            </a:pPr>
            <a:r>
              <a:rPr sz="2100" b="0" i="0">
                <a:solidFill>
                  <a:srgbClr val="FFFFFF"/>
                </a:solidFill>
                <a:latin typeface="Poppins"/>
              </a:rPr>
              <a:t>Systématiquement. Par construction.</a:t>
            </a:r>
          </a:p>
          <a:p>
            <a:pPr algn="ctr">
              <a:lnSpc>
                <a:spcPct val="134000"/>
              </a:lnSpc>
              <a:spcAft>
                <a:spcPts val="900"/>
              </a:spcAft>
            </a:pPr>
            <a:r>
              <a:rPr sz="2100" b="0" i="0">
                <a:solidFill>
                  <a:srgbClr val="E3A94F"/>
                </a:solidFill>
                <a:latin typeface="Poppins"/>
              </a:rPr>
              <a:t>C'est la différence entre un accident et un design.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2.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812800" y="1651000"/>
            <a:ext cx="1904238" cy="50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8700" y="1651000"/>
            <a:ext cx="1472438" cy="508000"/>
          </a:xfrm>
          <a:prstGeom prst="rect">
            <a:avLst/>
          </a:prstGeom>
          <a:noFill/>
        </p:spPr>
        <p:txBody>
          <a:bodyPr wrap="square" lIns="0" rIns="0" tIns="0" bIns="0" anchor="ctr">
            <a:spAutoFit/>
          </a:bodyPr>
          <a:lstStyle/>
          <a:p>
            <a:pPr algn="l"/>
            <a:r>
              <a:rPr sz="1700" b="1" i="1">
                <a:solidFill>
                  <a:srgbClr val="141414"/>
                </a:solidFill>
                <a:latin typeface="Archivo"/>
              </a:rPr>
              <a:t>LUNDI MATIN</a:t>
            </a:r>
          </a:p>
        </p:txBody>
      </p:sp>
      <p:sp>
        <p:nvSpPr>
          <p:cNvPr id="5" name="Rectangle 4"/>
          <p:cNvSpPr/>
          <p:nvPr/>
        </p:nvSpPr>
        <p:spPr>
          <a:xfrm>
            <a:off x="812800" y="2667000"/>
            <a:ext cx="31750" cy="2159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4900" y="2667000"/>
            <a:ext cx="10274300" cy="2159000"/>
          </a:xfrm>
          <a:prstGeom prst="rect">
            <a:avLst/>
          </a:prstGeom>
          <a:noFill/>
        </p:spPr>
        <p:txBody>
          <a:bodyPr wrap="square" lIns="0" rIns="0" tIns="0" bIns="0" anchor="t">
            <a:spAutoFit/>
          </a:bodyPr>
          <a:lstStyle/>
          <a:p>
            <a:pPr algn="l">
              <a:lnSpc>
                <a:spcPct val="142000"/>
              </a:lnSpc>
              <a:spcAft>
                <a:spcPts val="1200"/>
              </a:spcAft>
            </a:pPr>
            <a:r>
              <a:rPr sz="1850" b="0" i="0">
                <a:solidFill>
                  <a:srgbClr val="FFFFFF"/>
                </a:solidFill>
                <a:latin typeface="Poppins"/>
              </a:rPr>
              <a:t>Écris les trois comportements que ton activité installe chez tes clients</a:t>
            </a:r>
          </a:p>
          <a:p>
            <a:pPr algn="l">
              <a:lnSpc>
                <a:spcPct val="142000"/>
              </a:lnSpc>
              <a:spcAft>
                <a:spcPts val="1200"/>
              </a:spcAft>
            </a:pPr>
            <a:r>
              <a:rPr sz="1850" b="0" i="0">
                <a:solidFill>
                  <a:srgbClr val="FFFFFF"/>
                </a:solidFill>
                <a:latin typeface="Poppins"/>
              </a:rPr>
              <a:t>Pas ce que tu leur vends : ce qu'ils font différemment à cause de toi</a:t>
            </a:r>
          </a:p>
          <a:p>
            <a:pPr algn="l">
              <a:lnSpc>
                <a:spcPct val="142000"/>
              </a:lnSpc>
              <a:spcAft>
                <a:spcPts val="1200"/>
              </a:spcAft>
            </a:pPr>
            <a:r>
              <a:rPr sz="1850" b="0" i="0">
                <a:solidFill>
                  <a:srgbClr val="FFFFFF"/>
                </a:solidFill>
                <a:latin typeface="Poppins"/>
              </a:rPr>
              <a:t>Passe chacun aux trois leviers</a:t>
            </a:r>
          </a:p>
          <a:p>
            <a:pPr algn="l">
              <a:lnSpc>
                <a:spcPct val="142000"/>
              </a:lnSpc>
              <a:spcAft>
                <a:spcPts val="1200"/>
              </a:spcAft>
            </a:pPr>
            <a:r>
              <a:rPr sz="1850" b="0" i="0">
                <a:solidFill>
                  <a:srgbClr val="FFFFFF"/>
                </a:solidFill>
                <a:latin typeface="Poppins"/>
              </a:rPr>
              <a:t>Puis ajoute une porte de sortie explicite à ton offre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LES SIX SONT PASSÉS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E3A94F"/>
                </a:solidFill>
                <a:latin typeface="Poppins"/>
              </a:rPr>
              <a:t>✅ La finalité · ✅ La mesure · ✅ Le profit et le risque</a:t>
            </a:r>
          </a:p>
          <a:p>
            <a:pPr algn="l">
              <a:lnSpc>
                <a:spcPct val="142000"/>
              </a:lnSpc>
              <a:spcAft>
                <a:spcPts val="900"/>
              </a:spcAft>
            </a:pPr>
            <a:r>
              <a:rPr sz="1850" b="0" i="0">
                <a:solidFill>
                  <a:srgbClr val="E3A94F"/>
                </a:solidFill>
                <a:latin typeface="Poppins"/>
              </a:rPr>
              <a:t>✅ La croissance et la dette · ✅ La concurrence · ✅ Le client et l'effet</a:t>
            </a:r>
          </a:p>
          <a:p>
            <a:pPr algn="l">
              <a:lnSpc>
                <a:spcPct val="142000"/>
              </a:lnSpc>
              <a:spcAft>
                <a:spcPts val="900"/>
              </a:spcAft>
            </a:pPr>
            <a:r>
              <a:rPr sz="1850" b="0" i="0">
                <a:solidFill>
                  <a:srgbClr val="E3A94F"/>
                </a:solidFill>
                <a:latin typeface="Poppins"/>
              </a:rPr>
              <a:t>👉 Reste la question que tout le monde se pose maintenant.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 D'accord. Et demain,</a:t>
            </a:r>
          </a:p>
          <a:p>
            <a:pPr algn="ctr">
              <a:lnSpc>
                <a:spcPct val="134000"/>
              </a:lnSpc>
              <a:spcAft>
                <a:spcPts val="900"/>
              </a:spcAft>
            </a:pPr>
            <a:r>
              <a:rPr sz="2600" b="0" i="0">
                <a:solidFill>
                  <a:srgbClr val="E3A94F"/>
                </a:solidFill>
                <a:latin typeface="Poppins"/>
              </a:rPr>
              <a:t>je fais quoi de tout ce que j'ai déjà appris ?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A</a:t>
            </a:r>
            <a:r>
              <a:rPr sz="6600" b="1" i="1">
                <a:solidFill>
                  <a:srgbClr val="131313"/>
                </a:solidFill>
                <a:latin typeface="Archivo"/>
              </a:rPr>
              <a:t>L</a:t>
            </a:r>
            <a:r>
              <a:rPr sz="6600" b="1" i="1">
                <a:solidFill>
                  <a:srgbClr val="131313"/>
                </a:solidFill>
                <a:latin typeface="Archivo"/>
              </a:rPr>
              <a:t>O</a:t>
            </a:r>
            <a:r>
              <a:rPr sz="6600" b="1" i="1">
                <a:solidFill>
                  <a:srgbClr val="131313"/>
                </a:solidFill>
                <a:latin typeface="Archivo"/>
              </a:rPr>
              <a:t>R</a:t>
            </a:r>
            <a:r>
              <a:rPr sz="6600" b="1" i="1">
                <a:solidFill>
                  <a:srgbClr val="131313"/>
                </a:solidFill>
                <a:latin typeface="Archivo"/>
              </a:rPr>
              <a:t>S</a:t>
            </a:r>
            <a:r>
              <a:rPr sz="6600" b="1" i="1">
                <a:solidFill>
                  <a:srgbClr val="191713"/>
                </a:solidFill>
                <a:latin typeface="Archivo"/>
              </a:rPr>
              <a:t> </a:t>
            </a:r>
            <a:r>
              <a:rPr sz="6600" b="1" i="1">
                <a:solidFill>
                  <a:srgbClr val="231E15"/>
                </a:solidFill>
                <a:latin typeface="Archivo"/>
              </a:rPr>
              <a:t>O</a:t>
            </a:r>
            <a:r>
              <a:rPr sz="6600" b="1" i="1">
                <a:solidFill>
                  <a:srgbClr val="2E2617"/>
                </a:solidFill>
                <a:latin typeface="Archivo"/>
              </a:rPr>
              <a:t>N</a:t>
            </a:r>
            <a:r>
              <a:rPr sz="6600" b="1" i="1">
                <a:solidFill>
                  <a:srgbClr val="392D18"/>
                </a:solidFill>
                <a:latin typeface="Archivo"/>
              </a:rPr>
              <a:t> </a:t>
            </a:r>
            <a:r>
              <a:rPr sz="6600" b="1" i="1">
                <a:solidFill>
                  <a:srgbClr val="43341A"/>
                </a:solidFill>
                <a:latin typeface="Archivo"/>
              </a:rPr>
              <a:t>J</a:t>
            </a:r>
            <a:r>
              <a:rPr sz="6600" b="1" i="1">
                <a:solidFill>
                  <a:srgbClr val="4E3C1B"/>
                </a:solidFill>
                <a:latin typeface="Archivo"/>
              </a:rPr>
              <a:t>E</a:t>
            </a:r>
            <a:r>
              <a:rPr sz="6600" b="1" i="1">
                <a:solidFill>
                  <a:srgbClr val="58431D"/>
                </a:solidFill>
                <a:latin typeface="Archivo"/>
              </a:rPr>
              <a:t>T</a:t>
            </a:r>
            <a:r>
              <a:rPr sz="6600" b="1" i="1">
                <a:solidFill>
                  <a:srgbClr val="634B1E"/>
                </a:solidFill>
                <a:latin typeface="Archivo"/>
              </a:rPr>
              <a:t>T</a:t>
            </a:r>
            <a:r>
              <a:rPr sz="6600" b="1" i="1">
                <a:solidFill>
                  <a:srgbClr val="6D5220"/>
                </a:solidFill>
                <a:latin typeface="Archivo"/>
              </a:rPr>
              <a:t>E</a:t>
            </a:r>
            <a:r>
              <a:rPr sz="6600" b="1" i="1">
                <a:solidFill>
                  <a:srgbClr val="785921"/>
                </a:solidFill>
                <a:latin typeface="Archivo"/>
              </a:rPr>
              <a:t> </a:t>
            </a:r>
            <a:r>
              <a:rPr sz="6600" b="1" i="1">
                <a:solidFill>
                  <a:srgbClr val="836123"/>
                </a:solidFill>
                <a:latin typeface="Archivo"/>
              </a:rPr>
              <a:t>T</a:t>
            </a:r>
            <a:r>
              <a:rPr sz="6600" b="1" i="1">
                <a:solidFill>
                  <a:srgbClr val="8D6824"/>
                </a:solidFill>
                <a:latin typeface="Archivo"/>
              </a:rPr>
              <a:t>O</a:t>
            </a:r>
            <a:r>
              <a:rPr sz="6600" b="1" i="1">
                <a:solidFill>
                  <a:srgbClr val="986F26"/>
                </a:solidFill>
                <a:latin typeface="Archivo"/>
              </a:rPr>
              <a:t>U</a:t>
            </a:r>
            <a:r>
              <a:rPr sz="6600" b="1" i="1">
                <a:solidFill>
                  <a:srgbClr val="A27727"/>
                </a:solidFill>
                <a:latin typeface="Archivo"/>
              </a:rPr>
              <a:t>T</a:t>
            </a:r>
            <a:r>
              <a:rPr sz="6600" b="1" i="1">
                <a:solidFill>
                  <a:srgbClr val="AD7E29"/>
                </a:solidFill>
                <a:latin typeface="Archivo"/>
              </a:rPr>
              <a:t> </a:t>
            </a:r>
            <a:r>
              <a:rPr sz="6600" b="1" i="1">
                <a:solidFill>
                  <a:srgbClr val="B8862B"/>
                </a:solidFill>
                <a:latin typeface="Archivo"/>
              </a:rPr>
              <a: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L'IDÉE N'EST PAS DE TOUT REJETER. ON NE PEUT QU'EMPRUNTER. LA QUESTION, C'EST COMMENT. »</a:t>
            </a:r>
          </a:p>
          <a:p>
            <a:pPr algn="ctr">
              <a:spcAft>
                <a:spcPts val="1700"/>
              </a:spcAft>
            </a:pPr>
            <a:r>
              <a:rPr sz="1400" b="0" i="1">
                <a:solidFill>
                  <a:srgbClr val="E3A94F"/>
                </a:solidFill>
                <a:latin typeface="Poppins"/>
              </a:rPr>
              <a:t>— Dr Chauki Lazhar —</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LE PREMIER</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Entré dans la philosophie grecque sans cadre</a:t>
            </a:r>
          </a:p>
          <a:p>
            <a:pPr algn="l">
              <a:lnSpc>
                <a:spcPct val="140000"/>
              </a:lnSpc>
              <a:spcAft>
                <a:spcPts val="800"/>
              </a:spcAft>
            </a:pPr>
            <a:r>
              <a:rPr sz="1500" b="0" i="0">
                <a:solidFill>
                  <a:srgbClr val="CFCFCF"/>
                </a:solidFill>
                <a:latin typeface="Poppins"/>
              </a:rPr>
              <a:t>« Il est rentré dans le ventre des philosophes,</a:t>
            </a:r>
          </a:p>
          <a:p>
            <a:pPr algn="l">
              <a:lnSpc>
                <a:spcPct val="140000"/>
              </a:lnSpc>
              <a:spcAft>
                <a:spcPts val="800"/>
              </a:spcAft>
            </a:pPr>
            <a:r>
              <a:rPr sz="1500" b="0" i="0">
                <a:solidFill>
                  <a:srgbClr val="CFCFCF"/>
                </a:solidFill>
                <a:latin typeface="Poppins"/>
              </a:rPr>
              <a:t>il a voulu en sortir, il n'a pas réussi »</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AL-GHAZÂLÎ</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Entré avec un cadre déjà constitué</a:t>
            </a:r>
          </a:p>
          <a:p>
            <a:pPr algn="l">
              <a:lnSpc>
                <a:spcPct val="140000"/>
              </a:lnSpc>
              <a:spcAft>
                <a:spcPts val="800"/>
              </a:spcAft>
            </a:pPr>
            <a:r>
              <a:rPr sz="1500" b="0" i="0">
                <a:solidFill>
                  <a:srgbClr val="CFCFCF"/>
                </a:solidFill>
                <a:latin typeface="Poppins"/>
              </a:rPr>
              <a:t>Il a pris ce qui était utile</a:t>
            </a:r>
          </a:p>
          <a:p>
            <a:pPr algn="l">
              <a:lnSpc>
                <a:spcPct val="140000"/>
              </a:lnSpc>
              <a:spcAft>
                <a:spcPts val="800"/>
              </a:spcAft>
            </a:pPr>
            <a:r>
              <a:rPr sz="1500" b="0" i="0">
                <a:solidFill>
                  <a:srgbClr val="CFCFCF"/>
                </a:solidFill>
                <a:latin typeface="Poppins"/>
              </a:rPr>
              <a:t>Il l'a détaché de sa structure d'origine</a:t>
            </a:r>
          </a:p>
          <a:p>
            <a:pPr algn="l">
              <a:lnSpc>
                <a:spcPct val="140000"/>
              </a:lnSpc>
              <a:spcAft>
                <a:spcPts val="800"/>
              </a:spcAft>
            </a:pPr>
            <a:r>
              <a:rPr sz="1500" b="0" i="0">
                <a:solidFill>
                  <a:srgbClr val="CFCFCF"/>
                </a:solidFill>
                <a:latin typeface="Poppins"/>
              </a:rPr>
              <a:t>Il l'a réintégré dans la sienne</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MALEK BENNABI — LES DEUX DANGERS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Les IDÉES MORTES : les nôtres, sans validité dans le contexte présent</a:t>
            </a:r>
          </a:p>
          <a:p>
            <a:pPr algn="l">
              <a:lnSpc>
                <a:spcPct val="142000"/>
              </a:lnSpc>
              <a:spcAft>
                <a:spcPts val="900"/>
              </a:spcAft>
            </a:pPr>
            <a:r>
              <a:rPr sz="1850" b="0" i="0">
                <a:solidFill>
                  <a:srgbClr val="FFFFFF"/>
                </a:solidFill>
                <a:latin typeface="Poppins"/>
              </a:rPr>
              <a:t>On les garde par fidélité. Elles ne fonctionnent plus.</a:t>
            </a:r>
          </a:p>
          <a:p>
            <a:pPr algn="l">
              <a:lnSpc>
                <a:spcPct val="142000"/>
              </a:lnSpc>
              <a:spcAft>
                <a:spcPts val="900"/>
              </a:spcAft>
            </a:pPr>
            <a:r>
              <a:rPr sz="1850" b="0" i="0">
                <a:solidFill>
                  <a:srgbClr val="FFFFFF"/>
                </a:solidFill>
                <a:latin typeface="Poppins"/>
              </a:rPr>
              <a:t>Les IDÉES MORTELLES : venues d'ailleurs, efficaces, séduisantes</a:t>
            </a:r>
          </a:p>
          <a:p>
            <a:pPr algn="l">
              <a:lnSpc>
                <a:spcPct val="142000"/>
              </a:lnSpc>
              <a:spcAft>
                <a:spcPts val="900"/>
              </a:spcAft>
            </a:pPr>
            <a:r>
              <a:rPr sz="1850" b="0" i="0">
                <a:solidFill>
                  <a:srgbClr val="FFFFFF"/>
                </a:solidFill>
                <a:latin typeface="Poppins"/>
              </a:rPr>
              <a:t>Et qui dénaturent la nôtre de l'intérieur.</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Le conservatisme et l'imitation échouent</a:t>
            </a:r>
          </a:p>
          <a:p>
            <a:pPr algn="ctr">
              <a:lnSpc>
                <a:spcPct val="134000"/>
              </a:lnSpc>
              <a:spcAft>
                <a:spcPts val="900"/>
              </a:spcAft>
            </a:pPr>
            <a:r>
              <a:rPr sz="2600" b="0" i="0">
                <a:solidFill>
                  <a:srgbClr val="E3A94F"/>
                </a:solidFill>
                <a:latin typeface="Poppins"/>
              </a:rPr>
              <a:t>pour des raisons opposées.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LA MÉTHODE, EN DEUX PASSES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1. De quel cadre vient cet outil ?</a:t>
            </a:r>
          </a:p>
          <a:p>
            <a:pPr algn="l">
              <a:lnSpc>
                <a:spcPct val="142000"/>
              </a:lnSpc>
              <a:spcAft>
                <a:spcPts val="900"/>
              </a:spcAft>
            </a:pPr>
            <a:r>
              <a:rPr sz="1850" b="0" i="0">
                <a:solidFill>
                  <a:srgbClr val="FFFFFF"/>
                </a:solidFill>
                <a:latin typeface="Poppins"/>
              </a:rPr>
              <a:t>Quelle idée de l'humain, de la valeur, de la réussite porte-t-il par défaut ?</a:t>
            </a:r>
          </a:p>
          <a:p>
            <a:pPr algn="l">
              <a:lnSpc>
                <a:spcPct val="142000"/>
              </a:lnSpc>
              <a:spcAft>
                <a:spcPts val="900"/>
              </a:spcAft>
            </a:pPr>
            <a:r>
              <a:rPr sz="1850" b="0" i="0">
                <a:solidFill>
                  <a:srgbClr val="FFFFFF"/>
                </a:solidFill>
                <a:latin typeface="Poppins"/>
              </a:rPr>
              <a:t>2. Le test des trois leviers</a:t>
            </a:r>
          </a:p>
          <a:p>
            <a:pPr algn="l">
              <a:lnSpc>
                <a:spcPct val="142000"/>
              </a:lnSpc>
              <a:spcAft>
                <a:spcPts val="900"/>
              </a:spcAft>
            </a:pPr>
            <a:r>
              <a:rPr sz="1850" b="0" i="0">
                <a:solidFill>
                  <a:srgbClr val="FFFFFF"/>
                </a:solidFill>
                <a:latin typeface="Poppins"/>
              </a:rPr>
              <a:t>Dépendance, aveuglement, excès.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La ligne de partage ne passe pas</a:t>
            </a:r>
          </a:p>
          <a:p>
            <a:pPr algn="ctr">
              <a:lnSpc>
                <a:spcPct val="134000"/>
              </a:lnSpc>
              <a:spcAft>
                <a:spcPts val="900"/>
              </a:spcAft>
            </a:pPr>
            <a:r>
              <a:rPr sz="2600" b="0" i="0">
                <a:solidFill>
                  <a:srgbClr val="FFFFFF"/>
                </a:solidFill>
                <a:latin typeface="Poppins"/>
              </a:rPr>
              <a:t>entre la pression et la douceur.</a:t>
            </a:r>
          </a:p>
          <a:p>
            <a:pPr algn="ctr">
              <a:lnSpc>
                <a:spcPct val="134000"/>
              </a:lnSpc>
              <a:spcAft>
                <a:spcPts val="900"/>
              </a:spcAft>
            </a:pPr>
            <a:r>
              <a:rPr sz="2600" b="0" i="0">
                <a:solidFill>
                  <a:srgbClr val="E3A94F"/>
                </a:solidFill>
                <a:latin typeface="Poppins"/>
              </a:rPr>
              <a:t>Elle passe entre la vérité et la tromperie.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1524000"/>
            <a:ext cx="5143500" cy="825500"/>
          </a:xfrm>
          <a:prstGeom prst="rect">
            <a:avLst/>
          </a:prstGeom>
          <a:noFill/>
        </p:spPr>
        <p:txBody>
          <a:bodyPr wrap="square" lIns="0" rIns="0" tIns="0" bIns="0" anchor="b">
            <a:spAutoFit/>
          </a:bodyPr>
          <a:lstStyle/>
          <a:p>
            <a:pPr algn="l">
              <a:lnSpc>
                <a:spcPct val="112000"/>
              </a:lnSpc>
            </a:pPr>
            <a:r>
              <a:rPr sz="2200" b="1" i="0">
                <a:solidFill>
                  <a:srgbClr val="FFFFFF"/>
                </a:solidFill>
                <a:latin typeface="Oswald"/>
              </a:rPr>
              <a:t>CE QU'ON JETTE</a:t>
            </a:r>
          </a:p>
        </p:txBody>
      </p:sp>
      <p:sp>
        <p:nvSpPr>
          <p:cNvPr id="4" name="Rectangle 3"/>
          <p:cNvSpPr/>
          <p:nvPr/>
        </p:nvSpPr>
        <p:spPr>
          <a:xfrm>
            <a:off x="812800" y="2489200"/>
            <a:ext cx="698500" cy="25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Le compte à rebours truqué</a:t>
            </a:r>
          </a:p>
          <a:p>
            <a:pPr algn="l">
              <a:lnSpc>
                <a:spcPct val="140000"/>
              </a:lnSpc>
              <a:spcAft>
                <a:spcPts val="800"/>
              </a:spcAft>
            </a:pPr>
            <a:r>
              <a:rPr sz="1500" b="0" i="0">
                <a:solidFill>
                  <a:srgbClr val="CFCFCF"/>
                </a:solidFill>
                <a:latin typeface="Poppins"/>
              </a:rPr>
              <a:t>Le faux prix barré</a:t>
            </a:r>
          </a:p>
          <a:p>
            <a:pPr algn="l">
              <a:lnSpc>
                <a:spcPct val="140000"/>
              </a:lnSpc>
              <a:spcAft>
                <a:spcPts val="800"/>
              </a:spcAft>
            </a:pPr>
            <a:r>
              <a:rPr sz="1500" b="0" i="0">
                <a:solidFill>
                  <a:srgbClr val="CFCFCF"/>
                </a:solidFill>
                <a:latin typeface="Poppins"/>
              </a:rPr>
              <a:t>Le chantage à la rareté</a:t>
            </a:r>
          </a:p>
          <a:p>
            <a:pPr algn="l">
              <a:lnSpc>
                <a:spcPct val="140000"/>
              </a:lnSpc>
              <a:spcAft>
                <a:spcPts val="800"/>
              </a:spcAft>
            </a:pPr>
            <a:r>
              <a:rPr sz="1500" b="0" i="0">
                <a:solidFill>
                  <a:srgbClr val="CFCFCF"/>
                </a:solidFill>
                <a:latin typeface="Poppins"/>
              </a:rPr>
              <a:t>Le concurrent inventé</a:t>
            </a:r>
          </a:p>
          <a:p>
            <a:pPr algn="l">
              <a:lnSpc>
                <a:spcPct val="140000"/>
              </a:lnSpc>
              <a:spcAft>
                <a:spcPts val="800"/>
              </a:spcAft>
            </a:pPr>
            <a:r>
              <a:rPr sz="1500" b="0" i="0">
                <a:solidFill>
                  <a:srgbClr val="CFCFCF"/>
                </a:solidFill>
                <a:latin typeface="Poppins"/>
              </a:rPr>
              <a:t>L'upsell au pic émotionnel</a:t>
            </a:r>
          </a:p>
        </p:txBody>
      </p:sp>
      <p:sp>
        <p:nvSpPr>
          <p:cNvPr id="6" name="TextBox 5"/>
          <p:cNvSpPr txBox="1"/>
          <p:nvPr/>
        </p:nvSpPr>
        <p:spPr>
          <a:xfrm>
            <a:off x="6235700" y="1524000"/>
            <a:ext cx="5143500" cy="825500"/>
          </a:xfrm>
          <a:prstGeom prst="rect">
            <a:avLst/>
          </a:prstGeom>
          <a:noFill/>
        </p:spPr>
        <p:txBody>
          <a:bodyPr wrap="square" lIns="0" rIns="0" tIns="0" bIns="0" anchor="b">
            <a:spAutoFit/>
          </a:bodyPr>
          <a:lstStyle/>
          <a:p>
            <a:pPr algn="l">
              <a:lnSpc>
                <a:spcPct val="112000"/>
              </a:lnSpc>
            </a:pPr>
            <a:r>
              <a:rPr sz="2200" b="1" i="0">
                <a:solidFill>
                  <a:srgbClr val="E3A94F"/>
                </a:solidFill>
                <a:latin typeface="Oswald"/>
              </a:rPr>
              <a:t>CE QUI LE REMPLACE</a:t>
            </a:r>
          </a:p>
        </p:txBody>
      </p:sp>
      <p:sp>
        <p:nvSpPr>
          <p:cNvPr id="7" name="Rectangle 6"/>
          <p:cNvSpPr/>
          <p:nvPr/>
        </p:nvSpPr>
        <p:spPr>
          <a:xfrm>
            <a:off x="6235700" y="2489200"/>
            <a:ext cx="6985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5700" y="2794000"/>
            <a:ext cx="5143500" cy="2667000"/>
          </a:xfrm>
          <a:prstGeom prst="rect">
            <a:avLst/>
          </a:prstGeom>
          <a:noFill/>
        </p:spPr>
        <p:txBody>
          <a:bodyPr wrap="square" lIns="0" rIns="0" tIns="0" bIns="0" anchor="t">
            <a:spAutoFit/>
          </a:bodyPr>
          <a:lstStyle/>
          <a:p>
            <a:pPr algn="l">
              <a:lnSpc>
                <a:spcPct val="140000"/>
              </a:lnSpc>
              <a:spcAft>
                <a:spcPts val="800"/>
              </a:spcAft>
            </a:pPr>
            <a:r>
              <a:rPr sz="1500" b="0" i="0">
                <a:solidFill>
                  <a:srgbClr val="CFCFCF"/>
                </a:solidFill>
                <a:latin typeface="Poppins"/>
              </a:rPr>
              <a:t>L'urgence réelle, dite comme elle est</a:t>
            </a:r>
          </a:p>
          <a:p>
            <a:pPr algn="l">
              <a:lnSpc>
                <a:spcPct val="140000"/>
              </a:lnSpc>
              <a:spcAft>
                <a:spcPts val="800"/>
              </a:spcAft>
            </a:pPr>
            <a:r>
              <a:rPr sz="1500" b="0" i="0">
                <a:solidFill>
                  <a:srgbClr val="CFCFCF"/>
                </a:solidFill>
                <a:latin typeface="Poppins"/>
              </a:rPr>
              <a:t>L'ancrage de valeur sincère</a:t>
            </a:r>
          </a:p>
          <a:p>
            <a:pPr algn="l">
              <a:lnSpc>
                <a:spcPct val="140000"/>
              </a:lnSpc>
              <a:spcAft>
                <a:spcPts val="800"/>
              </a:spcAft>
            </a:pPr>
            <a:r>
              <a:rPr sz="1500" b="0" i="0">
                <a:solidFill>
                  <a:srgbClr val="CFCFCF"/>
                </a:solidFill>
                <a:latin typeface="Poppins"/>
              </a:rPr>
              <a:t>La garantie qu'on peut tenir</a:t>
            </a:r>
          </a:p>
          <a:p>
            <a:pPr algn="l">
              <a:lnSpc>
                <a:spcPct val="140000"/>
              </a:lnSpc>
              <a:spcAft>
                <a:spcPts val="800"/>
              </a:spcAft>
            </a:pPr>
            <a:r>
              <a:rPr sz="1500" b="0" i="0">
                <a:solidFill>
                  <a:srgbClr val="CFCFCF"/>
                </a:solidFill>
                <a:latin typeface="Poppins"/>
              </a:rPr>
              <a:t>Ta preuve réelle, même plus petite</a:t>
            </a:r>
          </a:p>
          <a:p>
            <a:pPr algn="l">
              <a:lnSpc>
                <a:spcPct val="140000"/>
              </a:lnSpc>
              <a:spcAft>
                <a:spcPts val="800"/>
              </a:spcAft>
            </a:pPr>
            <a:r>
              <a:rPr sz="1500" b="0" i="0">
                <a:solidFill>
                  <a:srgbClr val="CFCFCF"/>
                </a:solidFill>
                <a:latin typeface="Poppins"/>
              </a:rPr>
              <a:t>Le même message, trois jours plus tard</a:t>
            </a:r>
          </a:p>
        </p:txBody>
      </p:sp>
      <p:sp>
        <p:nvSpPr>
          <p:cNvPr id="9" name="TextBox 8"/>
          <p:cNvSpPr txBox="1"/>
          <p:nvPr/>
        </p:nvSpPr>
        <p:spPr>
          <a:xfrm>
            <a:off x="5588000" y="3048000"/>
            <a:ext cx="1016000" cy="762000"/>
          </a:xfrm>
          <a:prstGeom prst="rect">
            <a:avLst/>
          </a:prstGeom>
          <a:noFill/>
        </p:spPr>
        <p:txBody>
          <a:bodyPr wrap="square" lIns="0" rIns="0" tIns="0" bIns="0" anchor="ctr">
            <a:spAutoFit/>
          </a:bodyPr>
          <a:lstStyle/>
          <a:p>
            <a:pPr algn="ctr"/>
            <a:r>
              <a:rPr sz="3500" b="1" i="1">
                <a:solidFill>
                  <a:srgbClr val="FFFFFF"/>
                </a:solidFill>
                <a:latin typeface="Archivo"/>
              </a:rPr>
              <a:t>VS</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 qu'on jette, ce n'est pas l'efficacité.</a:t>
            </a:r>
          </a:p>
          <a:p>
            <a:pPr algn="ctr">
              <a:lnSpc>
                <a:spcPct val="134000"/>
              </a:lnSpc>
              <a:spcAft>
                <a:spcPts val="900"/>
              </a:spcAft>
            </a:pPr>
            <a:r>
              <a:rPr sz="2600" b="0" i="0">
                <a:solidFill>
                  <a:srgbClr val="E3A94F"/>
                </a:solidFill>
                <a:latin typeface="Poppins"/>
              </a:rPr>
              <a:t>C'est le mensonge.</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08000" y="2884170"/>
            <a:ext cx="1117600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500" y="2884170"/>
            <a:ext cx="1079500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A</a:t>
            </a:r>
            <a:r>
              <a:rPr sz="6600" b="1" i="1">
                <a:solidFill>
                  <a:srgbClr val="131313"/>
                </a:solidFill>
                <a:latin typeface="Archivo"/>
              </a:rPr>
              <a:t> </a:t>
            </a:r>
            <a:r>
              <a:rPr sz="6600" b="1" i="1">
                <a:solidFill>
                  <a:srgbClr val="131313"/>
                </a:solidFill>
                <a:latin typeface="Archivo"/>
              </a:rPr>
              <a:t>M</a:t>
            </a:r>
            <a:r>
              <a:rPr sz="6600" b="1" i="1">
                <a:solidFill>
                  <a:srgbClr val="131313"/>
                </a:solidFill>
                <a:latin typeface="Archivo"/>
              </a:rPr>
              <a:t>É</a:t>
            </a:r>
            <a:r>
              <a:rPr sz="6600" b="1" i="1">
                <a:solidFill>
                  <a:srgbClr val="141413"/>
                </a:solidFill>
                <a:latin typeface="Archivo"/>
              </a:rPr>
              <a:t>T</a:t>
            </a:r>
            <a:r>
              <a:rPr sz="6600" b="1" i="1">
                <a:solidFill>
                  <a:srgbClr val="1E1A14"/>
                </a:solidFill>
                <a:latin typeface="Archivo"/>
              </a:rPr>
              <a:t>H</a:t>
            </a:r>
            <a:r>
              <a:rPr sz="6600" b="1" i="1">
                <a:solidFill>
                  <a:srgbClr val="272116"/>
                </a:solidFill>
                <a:latin typeface="Archivo"/>
              </a:rPr>
              <a:t>O</a:t>
            </a:r>
            <a:r>
              <a:rPr sz="6600" b="1" i="1">
                <a:solidFill>
                  <a:srgbClr val="312817"/>
                </a:solidFill>
                <a:latin typeface="Archivo"/>
              </a:rPr>
              <a:t>D</a:t>
            </a:r>
            <a:r>
              <a:rPr sz="6600" b="1" i="1">
                <a:solidFill>
                  <a:srgbClr val="3B2E18"/>
                </a:solidFill>
                <a:latin typeface="Archivo"/>
              </a:rPr>
              <a:t>E</a:t>
            </a:r>
            <a:r>
              <a:rPr sz="6600" b="1" i="1">
                <a:solidFill>
                  <a:srgbClr val="44351A"/>
                </a:solidFill>
                <a:latin typeface="Archivo"/>
              </a:rPr>
              <a:t>,</a:t>
            </a:r>
            <a:r>
              <a:rPr sz="6600" b="1" i="1">
                <a:solidFill>
                  <a:srgbClr val="4E3C1B"/>
                </a:solidFill>
                <a:latin typeface="Archivo"/>
              </a:rPr>
              <a:t> </a:t>
            </a:r>
            <a:r>
              <a:rPr sz="6600" b="1" i="1">
                <a:solidFill>
                  <a:srgbClr val="57421D"/>
                </a:solidFill>
                <a:latin typeface="Archivo"/>
              </a:rPr>
              <a:t>E</a:t>
            </a:r>
            <a:r>
              <a:rPr sz="6600" b="1" i="1">
                <a:solidFill>
                  <a:srgbClr val="61491E"/>
                </a:solidFill>
                <a:latin typeface="Archivo"/>
              </a:rPr>
              <a:t>N</a:t>
            </a:r>
            <a:r>
              <a:rPr sz="6600" b="1" i="1">
                <a:solidFill>
                  <a:srgbClr val="6B501F"/>
                </a:solidFill>
                <a:latin typeface="Archivo"/>
              </a:rPr>
              <a:t> </a:t>
            </a:r>
            <a:r>
              <a:rPr sz="6600" b="1" i="1">
                <a:solidFill>
                  <a:srgbClr val="745721"/>
                </a:solidFill>
                <a:latin typeface="Archivo"/>
              </a:rPr>
              <a:t>U</a:t>
            </a:r>
            <a:r>
              <a:rPr sz="6600" b="1" i="1">
                <a:solidFill>
                  <a:srgbClr val="7E5D22"/>
                </a:solidFill>
                <a:latin typeface="Archivo"/>
              </a:rPr>
              <a:t>N</a:t>
            </a:r>
            <a:r>
              <a:rPr sz="6600" b="1" i="1">
                <a:solidFill>
                  <a:srgbClr val="876424"/>
                </a:solidFill>
                <a:latin typeface="Archivo"/>
              </a:rPr>
              <a:t>E</a:t>
            </a:r>
            <a:r>
              <a:rPr sz="6600" b="1" i="1">
                <a:solidFill>
                  <a:srgbClr val="916B25"/>
                </a:solidFill>
                <a:latin typeface="Archivo"/>
              </a:rPr>
              <a:t> </a:t>
            </a:r>
            <a:r>
              <a:rPr sz="6600" b="1" i="1">
                <a:solidFill>
                  <a:srgbClr val="9B7126"/>
                </a:solidFill>
                <a:latin typeface="Archivo"/>
              </a:rPr>
              <a:t>P</a:t>
            </a:r>
            <a:r>
              <a:rPr sz="6600" b="1" i="1">
                <a:solidFill>
                  <a:srgbClr val="A47828"/>
                </a:solidFill>
                <a:latin typeface="Archivo"/>
              </a:rPr>
              <a:t>A</a:t>
            </a:r>
            <a:r>
              <a:rPr sz="6600" b="1" i="1">
                <a:solidFill>
                  <a:srgbClr val="AE7F29"/>
                </a:solidFill>
                <a:latin typeface="Archivo"/>
              </a:rPr>
              <a:t>G</a:t>
            </a:r>
            <a:r>
              <a:rPr sz="6600" b="1" i="1">
                <a:solidFill>
                  <a:srgbClr val="B8862B"/>
                </a:solidFill>
                <a:latin typeface="Archivo"/>
              </a:rPr>
              <a:t>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ENTREPRENDRE EN MUSULMAN — LE MODE D'EMPLOI</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600" b="0" i="0">
                <a:solidFill>
                  <a:srgbClr val="FFFFFF"/>
                </a:solidFill>
                <a:latin typeface="Poppins"/>
              </a:rPr>
              <a:t>1. Le cap d'abord — écris pour quoi tu fais ça, avant toute décision</a:t>
            </a:r>
          </a:p>
          <a:p>
            <a:pPr algn="l">
              <a:lnSpc>
                <a:spcPct val="142000"/>
              </a:lnSpc>
              <a:spcAft>
                <a:spcPts val="900"/>
              </a:spcAft>
            </a:pPr>
            <a:r>
              <a:rPr sz="1600" b="0" i="0">
                <a:solidFill>
                  <a:srgbClr val="FFFFFF"/>
                </a:solidFill>
                <a:latin typeface="Poppins"/>
              </a:rPr>
              <a:t>2. Le tableau de bord ensuite — une ligne non chiffrable, en premier</a:t>
            </a:r>
          </a:p>
          <a:p>
            <a:pPr algn="l">
              <a:lnSpc>
                <a:spcPct val="142000"/>
              </a:lnSpc>
              <a:spcAft>
                <a:spcPts val="900"/>
              </a:spcAft>
            </a:pPr>
            <a:r>
              <a:rPr sz="1600" b="0" i="0">
                <a:solidFill>
                  <a:srgbClr val="FFFFFF"/>
                </a:solidFill>
                <a:latin typeface="Poppins"/>
              </a:rPr>
              <a:t>3. Chaque outil passe le test des trois leviers avant d'entrer chez toi</a:t>
            </a:r>
          </a:p>
          <a:p>
            <a:pPr algn="l">
              <a:lnSpc>
                <a:spcPct val="142000"/>
              </a:lnSpc>
              <a:spcAft>
                <a:spcPts val="900"/>
              </a:spcAft>
            </a:pPr>
            <a:r>
              <a:rPr sz="1600" b="0" i="0">
                <a:solidFill>
                  <a:srgbClr val="FFFFFF"/>
                </a:solidFill>
                <a:latin typeface="Poppins"/>
              </a:rPr>
              <a:t>4. Chaque contrat passe la question : qui perd quoi si ça tourne mal ?</a:t>
            </a:r>
          </a:p>
          <a:p>
            <a:pPr algn="l">
              <a:lnSpc>
                <a:spcPct val="142000"/>
              </a:lnSpc>
              <a:spcAft>
                <a:spcPts val="900"/>
              </a:spcAft>
            </a:pPr>
            <a:r>
              <a:rPr sz="1600" b="0" i="0">
                <a:solidFill>
                  <a:srgbClr val="FFFFFF"/>
                </a:solidFill>
                <a:latin typeface="Poppins"/>
              </a:rPr>
              <a:t>5. Chaque rythme passe la question : est-ce que je le tiens dans deux ans ?</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 n'est pas une philosophie.</a:t>
            </a:r>
          </a:p>
          <a:p>
            <a:pPr algn="ctr">
              <a:lnSpc>
                <a:spcPct val="134000"/>
              </a:lnSpc>
              <a:spcAft>
                <a:spcPts val="900"/>
              </a:spcAft>
            </a:pPr>
            <a:r>
              <a:rPr sz="2600" b="0" i="0">
                <a:solidFill>
                  <a:srgbClr val="FFFFFF"/>
                </a:solidFill>
                <a:latin typeface="Poppins"/>
              </a:rPr>
              <a:t>C'est cinq questions,</a:t>
            </a:r>
          </a:p>
          <a:p>
            <a:pPr algn="ctr">
              <a:lnSpc>
                <a:spcPct val="134000"/>
              </a:lnSpc>
              <a:spcAft>
                <a:spcPts val="900"/>
              </a:spcAft>
            </a:pPr>
            <a:r>
              <a:rPr sz="2600" b="0" i="0">
                <a:solidFill>
                  <a:srgbClr val="E3A94F"/>
                </a:solidFill>
                <a:latin typeface="Poppins"/>
              </a:rPr>
              <a:t>et tu peux les poser dès lundi.</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25220" y="2884170"/>
            <a:ext cx="994156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15720" y="2884170"/>
            <a:ext cx="956056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C</a:t>
            </a:r>
            <a:r>
              <a:rPr sz="6600" b="1" i="1">
                <a:solidFill>
                  <a:srgbClr val="131313"/>
                </a:solidFill>
                <a:latin typeface="Archivo"/>
              </a:rPr>
              <a:t>E</a:t>
            </a:r>
            <a:r>
              <a:rPr sz="6600" b="1" i="1">
                <a:solidFill>
                  <a:srgbClr val="131313"/>
                </a:solidFill>
                <a:latin typeface="Archivo"/>
              </a:rPr>
              <a:t> </a:t>
            </a:r>
            <a:r>
              <a:rPr sz="6600" b="1" i="1">
                <a:solidFill>
                  <a:srgbClr val="131313"/>
                </a:solidFill>
                <a:latin typeface="Archivo"/>
              </a:rPr>
              <a:t>Q</a:t>
            </a:r>
            <a:r>
              <a:rPr sz="6600" b="1" i="1">
                <a:solidFill>
                  <a:srgbClr val="161513"/>
                </a:solidFill>
                <a:latin typeface="Archivo"/>
              </a:rPr>
              <a:t>U</a:t>
            </a:r>
            <a:r>
              <a:rPr sz="6600" b="1" i="1">
                <a:solidFill>
                  <a:srgbClr val="221D15"/>
                </a:solidFill>
                <a:latin typeface="Archivo"/>
              </a:rPr>
              <a:t>E</a:t>
            </a:r>
            <a:r>
              <a:rPr sz="6600" b="1" i="1">
                <a:solidFill>
                  <a:srgbClr val="2F2617"/>
                </a:solidFill>
                <a:latin typeface="Archivo"/>
              </a:rPr>
              <a:t> </a:t>
            </a:r>
            <a:r>
              <a:rPr sz="6600" b="1" i="1">
                <a:solidFill>
                  <a:srgbClr val="3B2F18"/>
                </a:solidFill>
                <a:latin typeface="Archivo"/>
              </a:rPr>
              <a:t>T</a:t>
            </a:r>
            <a:r>
              <a:rPr sz="6600" b="1" i="1">
                <a:solidFill>
                  <a:srgbClr val="48371A"/>
                </a:solidFill>
                <a:latin typeface="Archivo"/>
              </a:rPr>
              <a:t>U</a:t>
            </a:r>
            <a:r>
              <a:rPr sz="6600" b="1" i="1">
                <a:solidFill>
                  <a:srgbClr val="54401C"/>
                </a:solidFill>
                <a:latin typeface="Archivo"/>
              </a:rPr>
              <a:t> </a:t>
            </a:r>
            <a:r>
              <a:rPr sz="6600" b="1" i="1">
                <a:solidFill>
                  <a:srgbClr val="60491E"/>
                </a:solidFill>
                <a:latin typeface="Archivo"/>
              </a:rPr>
              <a:t>E</a:t>
            </a:r>
            <a:r>
              <a:rPr sz="6600" b="1" i="1">
                <a:solidFill>
                  <a:srgbClr val="6D5120"/>
                </a:solidFill>
                <a:latin typeface="Archivo"/>
              </a:rPr>
              <a:t>M</a:t>
            </a:r>
            <a:r>
              <a:rPr sz="6600" b="1" i="1">
                <a:solidFill>
                  <a:srgbClr val="795A21"/>
                </a:solidFill>
                <a:latin typeface="Archivo"/>
              </a:rPr>
              <a:t>P</a:t>
            </a:r>
            <a:r>
              <a:rPr sz="6600" b="1" i="1">
                <a:solidFill>
                  <a:srgbClr val="866323"/>
                </a:solidFill>
                <a:latin typeface="Archivo"/>
              </a:rPr>
              <a:t>O</a:t>
            </a:r>
            <a:r>
              <a:rPr sz="6600" b="1" i="1">
                <a:solidFill>
                  <a:srgbClr val="926B25"/>
                </a:solidFill>
                <a:latin typeface="Archivo"/>
              </a:rPr>
              <a:t>R</a:t>
            </a:r>
            <a:r>
              <a:rPr sz="6600" b="1" i="1">
                <a:solidFill>
                  <a:srgbClr val="9F7427"/>
                </a:solidFill>
                <a:latin typeface="Archivo"/>
              </a:rPr>
              <a:t>T</a:t>
            </a:r>
            <a:r>
              <a:rPr sz="6600" b="1" i="1">
                <a:solidFill>
                  <a:srgbClr val="AB7D29"/>
                </a:solidFill>
                <a:latin typeface="Archivo"/>
              </a:rPr>
              <a:t>E</a:t>
            </a:r>
            <a:r>
              <a:rPr sz="6600" b="1" i="1">
                <a:solidFill>
                  <a:srgbClr val="B8862B"/>
                </a:solidFill>
                <a:latin typeface="Archivo"/>
              </a:rPr>
              <a:t>S</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1️⃣ UN PARADIGME, C'EST CE AVEC QUOI TU PENSES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Tu en as un. La question n'est pas si, mais lequel — et où il opère.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2️⃣ LE HALAL, C'EST LE COMMENT. LE PARADIGME, C'EST LE VERS QUOI.</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La question juste n'est pas « comment faire entrer mon business dans le halal »</a:t>
            </a:r>
          </a:p>
          <a:p>
            <a:pPr algn="l">
              <a:lnSpc>
                <a:spcPct val="142000"/>
              </a:lnSpc>
              <a:spcAft>
                <a:spcPts val="900"/>
              </a:spcAft>
            </a:pPr>
            <a:r>
              <a:rPr sz="1850" b="0" i="0">
                <a:solidFill>
                  <a:srgbClr val="FFFFFF"/>
                </a:solidFill>
                <a:latin typeface="Poppins"/>
              </a:rPr>
              <a:t>C'est « comment marche-t-on correctement sur ce chemin-là »</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3️⃣ DÉPENDANCE, AVEUGLEMENT, EXCÈS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Trois questions, sur ton activité et sur chacun de tes outils</a:t>
            </a:r>
          </a:p>
          <a:p>
            <a:pPr algn="l">
              <a:lnSpc>
                <a:spcPct val="142000"/>
              </a:lnSpc>
              <a:spcAft>
                <a:spcPts val="900"/>
              </a:spcAft>
            </a:pPr>
            <a:r>
              <a:rPr sz="1850" b="0" i="0">
                <a:solidFill>
                  <a:srgbClr val="FFFFFF"/>
                </a:solidFill>
                <a:latin typeface="Poppins"/>
              </a:rPr>
              <a:t>Elles ne règlent pas tout. Elles suffisent à commencer.</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ET CE QU'ON NE SAIT PAS ENCORE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Le prix juste — le Prophète ﷺ a refusé de fixer les prix, mais le ghubn existe</a:t>
            </a:r>
          </a:p>
          <a:p>
            <a:pPr algn="l">
              <a:lnSpc>
                <a:spcPct val="142000"/>
              </a:lnSpc>
              <a:spcAft>
                <a:spcPts val="900"/>
              </a:spcAft>
            </a:pPr>
            <a:r>
              <a:rPr sz="1850" b="0" i="0">
                <a:solidFill>
                  <a:srgbClr val="FFFFFF"/>
                </a:solidFill>
                <a:latin typeface="Poppins"/>
              </a:rPr>
              <a:t>Le numérique — l'abonnement, les places de marché</a:t>
            </a:r>
          </a:p>
          <a:p>
            <a:pPr algn="l">
              <a:lnSpc>
                <a:spcPct val="142000"/>
              </a:lnSpc>
              <a:spcAft>
                <a:spcPts val="900"/>
              </a:spcAft>
            </a:pPr>
            <a:r>
              <a:rPr sz="1850" b="0" i="0">
                <a:solidFill>
                  <a:srgbClr val="FFFFFF"/>
                </a:solidFill>
                <a:latin typeface="Poppins"/>
              </a:rPr>
              <a:t>Et la question qu'on ne tranche pas : que faire quand un marché entier repose</a:t>
            </a:r>
          </a:p>
          <a:p>
            <a:pPr algn="l">
              <a:lnSpc>
                <a:spcPct val="142000"/>
              </a:lnSpc>
              <a:spcAft>
                <a:spcPts val="900"/>
              </a:spcAft>
            </a:pPr>
            <a:r>
              <a:rPr sz="1850" b="0" i="0">
                <a:solidFill>
                  <a:srgbClr val="FFFFFF"/>
                </a:solidFill>
                <a:latin typeface="Poppins"/>
              </a:rPr>
              <a:t>sur une pratique qu'on refuse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3891280" y="2884170"/>
            <a:ext cx="440944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081780" y="2884170"/>
            <a:ext cx="402844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L</a:t>
            </a:r>
            <a:r>
              <a:rPr sz="6600" b="1" i="1">
                <a:solidFill>
                  <a:srgbClr val="131313"/>
                </a:solidFill>
                <a:latin typeface="Archivo"/>
              </a:rPr>
              <a:t>E</a:t>
            </a:r>
            <a:r>
              <a:rPr sz="6600" b="1" i="1">
                <a:solidFill>
                  <a:srgbClr val="2A2316"/>
                </a:solidFill>
                <a:latin typeface="Archivo"/>
              </a:rPr>
              <a:t> </a:t>
            </a:r>
            <a:r>
              <a:rPr sz="6600" b="1" i="1">
                <a:solidFill>
                  <a:srgbClr val="4E3C1B"/>
                </a:solidFill>
                <a:latin typeface="Archivo"/>
              </a:rPr>
              <a:t>Q</a:t>
            </a:r>
            <a:r>
              <a:rPr sz="6600" b="1" i="1">
                <a:solidFill>
                  <a:srgbClr val="715420"/>
                </a:solidFill>
                <a:latin typeface="Archivo"/>
              </a:rPr>
              <a:t>U</a:t>
            </a:r>
            <a:r>
              <a:rPr sz="6600" b="1" i="1">
                <a:solidFill>
                  <a:srgbClr val="946D25"/>
                </a:solidFill>
                <a:latin typeface="Archivo"/>
              </a:rPr>
              <a:t>I</a:t>
            </a:r>
            <a:r>
              <a:rPr sz="6600" b="1" i="1">
                <a:solidFill>
                  <a:srgbClr val="B8862B"/>
                </a:solidFill>
                <a:latin typeface="Archivo"/>
              </a:rPr>
              <a:t>Z</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TROIS QUESTIONS. LES BONNES RÉPONSES GAGNENT.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1. Quels sont les trois leviers ?</a:t>
            </a:r>
          </a:p>
          <a:p>
            <a:pPr algn="l">
              <a:lnSpc>
                <a:spcPct val="142000"/>
              </a:lnSpc>
              <a:spcAft>
                <a:spcPts val="900"/>
              </a:spcAft>
            </a:pPr>
            <a:r>
              <a:rPr sz="1850" b="0" i="0">
                <a:solidFill>
                  <a:srgbClr val="FFFFFF"/>
                </a:solidFill>
                <a:latin typeface="Poppins"/>
              </a:rPr>
              <a:t>2. Qu'est-ce qui change entre le filtre et le paradigme ?</a:t>
            </a:r>
          </a:p>
          <a:p>
            <a:pPr algn="l">
              <a:lnSpc>
                <a:spcPct val="142000"/>
              </a:lnSpc>
              <a:spcAft>
                <a:spcPts val="900"/>
              </a:spcAft>
            </a:pPr>
            <a:r>
              <a:rPr sz="1850" b="0" i="0">
                <a:solidFill>
                  <a:srgbClr val="FFFFFF"/>
                </a:solidFill>
                <a:latin typeface="Poppins"/>
              </a:rPr>
              <a:t>3. Cite une des trois interdictions de concurrence, et sa version 2026</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POURQUOI TARIQA ?</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Dans la vision de Tariqa Pro, l'entrepreneur n'est pas en quête d'une richesse</a:t>
            </a:r>
          </a:p>
          <a:p>
            <a:pPr algn="l">
              <a:lnSpc>
                <a:spcPct val="142000"/>
              </a:lnSpc>
              <a:spcAft>
                <a:spcPts val="900"/>
              </a:spcAft>
            </a:pPr>
            <a:r>
              <a:rPr sz="1850" b="0" i="0">
                <a:solidFill>
                  <a:srgbClr val="FFFFFF"/>
                </a:solidFill>
                <a:latin typeface="Poppins"/>
              </a:rPr>
              <a:t>purement quantitative, mais d'une richesse qualitative, marquée par la</a:t>
            </a:r>
          </a:p>
          <a:p>
            <a:pPr algn="l">
              <a:lnSpc>
                <a:spcPct val="142000"/>
              </a:lnSpc>
              <a:spcAft>
                <a:spcPts val="900"/>
              </a:spcAft>
            </a:pPr>
            <a:r>
              <a:rPr sz="1850" b="0" i="0">
                <a:solidFill>
                  <a:srgbClr val="FFFFFF"/>
                </a:solidFill>
                <a:latin typeface="Poppins"/>
              </a:rPr>
              <a:t>bénédiction divine.</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LA ROUE DU COLLECTIF</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Halaqa · Coaching collectif · Coaching individuel · Formation · Masterclass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2633980" y="2884170"/>
            <a:ext cx="6924040" cy="10896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24480" y="2884170"/>
            <a:ext cx="6543040" cy="1089660"/>
          </a:xfrm>
          <a:prstGeom prst="rect">
            <a:avLst/>
          </a:prstGeom>
          <a:noFill/>
        </p:spPr>
        <p:txBody>
          <a:bodyPr wrap="square" lIns="0" rIns="0" tIns="0" bIns="0" anchor="ctr">
            <a:spAutoFit/>
          </a:bodyPr>
          <a:lstStyle/>
          <a:p>
            <a:pPr algn="ctr">
              <a:lnSpc>
                <a:spcPct val="100000"/>
              </a:lnSpc>
            </a:pPr>
            <a:r>
              <a:rPr sz="6600" b="1" i="1">
                <a:solidFill>
                  <a:srgbClr val="131313"/>
                </a:solidFill>
                <a:latin typeface="Archivo"/>
              </a:rPr>
              <a:t>B</a:t>
            </a:r>
            <a:r>
              <a:rPr sz="6600" b="1" i="1">
                <a:solidFill>
                  <a:srgbClr val="131313"/>
                </a:solidFill>
                <a:latin typeface="Archivo"/>
              </a:rPr>
              <a:t>O</a:t>
            </a:r>
            <a:r>
              <a:rPr sz="6600" b="1" i="1">
                <a:solidFill>
                  <a:srgbClr val="131313"/>
                </a:solidFill>
                <a:latin typeface="Archivo"/>
              </a:rPr>
              <a:t>O</a:t>
            </a:r>
            <a:r>
              <a:rPr sz="6600" b="1" i="1">
                <a:solidFill>
                  <a:srgbClr val="1E1A14"/>
                </a:solidFill>
                <a:latin typeface="Archivo"/>
              </a:rPr>
              <a:t>K</a:t>
            </a:r>
            <a:r>
              <a:rPr sz="6600" b="1" i="1">
                <a:solidFill>
                  <a:srgbClr val="312817"/>
                </a:solidFill>
                <a:latin typeface="Archivo"/>
              </a:rPr>
              <a:t> </a:t>
            </a:r>
            <a:r>
              <a:rPr sz="6600" b="1" i="1">
                <a:solidFill>
                  <a:srgbClr val="44351A"/>
                </a:solidFill>
                <a:latin typeface="Archivo"/>
              </a:rPr>
              <a:t>U</a:t>
            </a:r>
            <a:r>
              <a:rPr sz="6600" b="1" i="1">
                <a:solidFill>
                  <a:srgbClr val="57421D"/>
                </a:solidFill>
                <a:latin typeface="Archivo"/>
              </a:rPr>
              <a:t>N</a:t>
            </a:r>
            <a:r>
              <a:rPr sz="6600" b="1" i="1">
                <a:solidFill>
                  <a:srgbClr val="6B501F"/>
                </a:solidFill>
                <a:latin typeface="Archivo"/>
              </a:rPr>
              <a:t> </a:t>
            </a:r>
            <a:r>
              <a:rPr sz="6600" b="1" i="1">
                <a:solidFill>
                  <a:srgbClr val="7E5D22"/>
                </a:solidFill>
                <a:latin typeface="Archivo"/>
              </a:rPr>
              <a:t>C</a:t>
            </a:r>
            <a:r>
              <a:rPr sz="6600" b="1" i="1">
                <a:solidFill>
                  <a:srgbClr val="916B25"/>
                </a:solidFill>
                <a:latin typeface="Archivo"/>
              </a:rPr>
              <a:t>A</a:t>
            </a:r>
            <a:r>
              <a:rPr sz="6600" b="1" i="1">
                <a:solidFill>
                  <a:srgbClr val="A47828"/>
                </a:solidFill>
                <a:latin typeface="Archivo"/>
              </a:rPr>
              <a:t>L</a:t>
            </a:r>
            <a:r>
              <a:rPr sz="6600" b="1" i="1">
                <a:solidFill>
                  <a:srgbClr val="B8862B"/>
                </a:solidFill>
                <a:latin typeface="Archivo"/>
              </a:rPr>
              <a:t>L</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REJOIGNEZ LE GROUPE WHATSAPP DU LIVE</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CADEAU POUR LES PRÉSENTS DU LIVE</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 سُبْحَانَكَ اللَّهُمَّ وَبِحَمْدِكَ، أَشْهَدُ أَنْ لا إِلَهَ إِلَّا أَنْتَ، أَسْتَغْفِرُكَ وَأَتُوبُ إِلَيْكَ »</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 Gloire et louanges à Toi, Ô Allah, je témoigne qu'il n'y a de divinité que Toi.</a:t>
            </a:r>
          </a:p>
          <a:p>
            <a:pPr algn="l">
              <a:lnSpc>
                <a:spcPct val="142000"/>
              </a:lnSpc>
              <a:spcAft>
                <a:spcPts val="900"/>
              </a:spcAft>
            </a:pPr>
            <a:r>
              <a:rPr sz="1850" b="0" i="0">
                <a:solidFill>
                  <a:srgbClr val="FFFFFF"/>
                </a:solidFill>
                <a:latin typeface="Poppins"/>
              </a:rPr>
              <a:t>Je Te demande pardon et je me repens à Toi.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