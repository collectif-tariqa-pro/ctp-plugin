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[01 / 1 · Le plan de la soirée]  → INSÉRER APRÈS ta slide « Et à la fin : un QUIZ », donc juste avant PARTIE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[02 / 1 · Le plan de la soirée]  ↑ suite du bloc « 1 · Le plan de la soirée 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[03 / 2 · Séparateur partie 1]  → INSÉRER EN REMPLACEMENT de ta slide « PARTIE 1 / POSER LE CADRE 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[04 / 2 · Séparateur partie 2]  → INSÉRER AVANT « ON ARRÊTE LA THÉORIE » — remplace la slide PARTIE 2 du pack précédent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[05 / 2 · Séparateur partie 3]  → INSÉRER AVANT « CE QUI TE MANQUE N'EST PAS CE QUE TU CROIS » (début du bloc G du pack précédent)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[06 / 2 · Séparateur partie 4]  → INSÉRER EN REMPLACEMENT de ta slide « PARTIE 3 / LA méthodologie 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[07 / 3 · Résumé des six axes]  → INSÉRER À LA FIN DE LA PARTIE 2, après ton dernier axe et AVANT la partie 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[08 / 3 · Résumé des six axes]  ↑ suite du bloc « 3 · Résumé des six axes 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[09 / 3 · Résumé des six axes]  ↑ suite du bloc « 3 · Résumé des six axes 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[10 / 3 · Résumé des six axes]  ↑ suite du bloc « 3 · Résumé des six axes 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[11 / 4 · Et mes outils actuels ?]  → INSÉRER JUSTE APRÈS le résumé des six axes, en ouverture de la partie 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[12 / 4 · Et mes outils actuels ?]  ↑ suite du bloc « 4 · Et mes outils actuels ? 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[13 / 4 · Et mes outils actuels ?]  ↑ suite du bloc « 4 · Et mes outils actuels ? 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[14 / 4 · Et mes outils actuels ?]  ↑ suite du bloc « 4 · Et mes outils actuels ? 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[15 / 5 · Ce que tu emportes]  → INSÉRER À LA PLACE de ta séquence « CE QUE TU EMPORTES » actuelle (les trois slides 1️⃣ 2️⃣ 3️⃣)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[16 / 5 · Ce que tu emportes]  ↑ suite du bloc « 5 · Ce que tu emportes 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[17 / 5 · Ce que tu emportes]  ↑ suite du bloc « 5 · Ce que tu emportes 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[18 / 5 · Ce que tu emportes]  ↑ suite du bloc « 5 · Ce que tu emportes 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[19 / 5 · Ce que tu emportes]  ↑ suite du bloc « 5 · Ce que tu emportes 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[20 / 6 · Soyons honnêtes]  → INSÉRER APRÈS « CE QUE TU EMPORTES », avant le quiz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[21 / 6 · Soyons honnêtes]  ↑ suite du bloc « 6 · Soyons honnêtes 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[22 / 6 · Soyons honnêtes]  ↑ suite du bloc « 6 · Soyons honnêtes 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[23 / 6 · Soyons honnêtes]  ↑ suite du bloc « 6 · Soyons honnêtes 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[24 / 6 · Soyons honnêtes]  ↑ suite du bloc « 6 · Soyons honnêtes 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22300" y="2884170"/>
            <a:ext cx="10947400" cy="10896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12800" y="2884170"/>
            <a:ext cx="10566400" cy="10896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600" b="1" i="1">
                <a:solidFill>
                  <a:srgbClr val="131313"/>
                </a:solidFill>
                <a:latin typeface="Archivo"/>
              </a:rPr>
              <a:t>L</a:t>
            </a:r>
            <a:r>
              <a:rPr sz="6600" b="1" i="1">
                <a:solidFill>
                  <a:srgbClr val="131313"/>
                </a:solidFill>
                <a:latin typeface="Archivo"/>
              </a:rPr>
              <a:t>E</a:t>
            </a:r>
            <a:r>
              <a:rPr sz="6600" b="1" i="1">
                <a:solidFill>
                  <a:srgbClr val="131313"/>
                </a:solidFill>
                <a:latin typeface="Archivo"/>
              </a:rPr>
              <a:t> </a:t>
            </a:r>
            <a:r>
              <a:rPr sz="6600" b="1" i="1">
                <a:solidFill>
                  <a:srgbClr val="131313"/>
                </a:solidFill>
                <a:latin typeface="Archivo"/>
              </a:rPr>
              <a:t>P</a:t>
            </a:r>
            <a:r>
              <a:rPr sz="6600" b="1" i="1">
                <a:solidFill>
                  <a:srgbClr val="131313"/>
                </a:solidFill>
                <a:latin typeface="Archivo"/>
              </a:rPr>
              <a:t>L</a:t>
            </a:r>
            <a:r>
              <a:rPr sz="6600" b="1" i="1">
                <a:solidFill>
                  <a:srgbClr val="1C1914"/>
                </a:solidFill>
                <a:latin typeface="Archivo"/>
              </a:rPr>
              <a:t>A</a:t>
            </a:r>
            <a:r>
              <a:rPr sz="6600" b="1" i="1">
                <a:solidFill>
                  <a:srgbClr val="272115"/>
                </a:solidFill>
                <a:latin typeface="Archivo"/>
              </a:rPr>
              <a:t>N</a:t>
            </a:r>
            <a:r>
              <a:rPr sz="6600" b="1" i="1">
                <a:solidFill>
                  <a:srgbClr val="322817"/>
                </a:solidFill>
                <a:latin typeface="Archivo"/>
              </a:rPr>
              <a:t> </a:t>
            </a:r>
            <a:r>
              <a:rPr sz="6600" b="1" i="1">
                <a:solidFill>
                  <a:srgbClr val="3D3019"/>
                </a:solidFill>
                <a:latin typeface="Archivo"/>
              </a:rPr>
              <a:t>D</a:t>
            </a:r>
            <a:r>
              <a:rPr sz="6600" b="1" i="1">
                <a:solidFill>
                  <a:srgbClr val="48381A"/>
                </a:solidFill>
                <a:latin typeface="Archivo"/>
              </a:rPr>
              <a:t>E</a:t>
            </a:r>
            <a:r>
              <a:rPr sz="6600" b="1" i="1">
                <a:solidFill>
                  <a:srgbClr val="53401C"/>
                </a:solidFill>
                <a:latin typeface="Archivo"/>
              </a:rPr>
              <a:t> </a:t>
            </a:r>
            <a:r>
              <a:rPr sz="6600" b="1" i="1">
                <a:solidFill>
                  <a:srgbClr val="5E471E"/>
                </a:solidFill>
                <a:latin typeface="Archivo"/>
              </a:rPr>
              <a:t>L</a:t>
            </a:r>
            <a:r>
              <a:rPr sz="6600" b="1" i="1">
                <a:solidFill>
                  <a:srgbClr val="6A4F1F"/>
                </a:solidFill>
                <a:latin typeface="Archivo"/>
              </a:rPr>
              <a:t>A</a:t>
            </a:r>
            <a:r>
              <a:rPr sz="6600" b="1" i="1">
                <a:solidFill>
                  <a:srgbClr val="755721"/>
                </a:solidFill>
                <a:latin typeface="Archivo"/>
              </a:rPr>
              <a:t> </a:t>
            </a:r>
            <a:r>
              <a:rPr sz="6600" b="1" i="1">
                <a:solidFill>
                  <a:srgbClr val="805F22"/>
                </a:solidFill>
                <a:latin typeface="Archivo"/>
              </a:rPr>
              <a:t>S</a:t>
            </a:r>
            <a:r>
              <a:rPr sz="6600" b="1" i="1">
                <a:solidFill>
                  <a:srgbClr val="8B6624"/>
                </a:solidFill>
                <a:latin typeface="Archivo"/>
              </a:rPr>
              <a:t>O</a:t>
            </a:r>
            <a:r>
              <a:rPr sz="6600" b="1" i="1">
                <a:solidFill>
                  <a:srgbClr val="966E26"/>
                </a:solidFill>
                <a:latin typeface="Archivo"/>
              </a:rPr>
              <a:t>I</a:t>
            </a:r>
            <a:r>
              <a:rPr sz="6600" b="1" i="1">
                <a:solidFill>
                  <a:srgbClr val="A17627"/>
                </a:solidFill>
                <a:latin typeface="Archivo"/>
              </a:rPr>
              <a:t>R</a:t>
            </a:r>
            <a:r>
              <a:rPr sz="6600" b="1" i="1">
                <a:solidFill>
                  <a:srgbClr val="AC7E29"/>
                </a:solidFill>
                <a:latin typeface="Archivo"/>
              </a:rPr>
              <a:t>É</a:t>
            </a:r>
            <a:r>
              <a:rPr sz="6600" b="1" i="1">
                <a:solidFill>
                  <a:srgbClr val="B8862B"/>
                </a:solidFill>
                <a:latin typeface="Archivo"/>
              </a:rPr>
              <a:t>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12800" y="812800"/>
            <a:ext cx="10566400" cy="698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000" b="1" i="1">
                <a:solidFill>
                  <a:srgbClr val="FFFFFF"/>
                </a:solidFill>
                <a:latin typeface="Archivo"/>
              </a:rPr>
              <a:t>QUATRE PARTIES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812800" y="1879600"/>
            <a:ext cx="1143000" cy="25400"/>
          </a:xfrm>
          <a:prstGeom prst="rect">
            <a:avLst/>
          </a:prstGeom>
          <a:solidFill>
            <a:srgbClr val="E3A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12800" y="2222500"/>
            <a:ext cx="10566400" cy="3822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  <a:spcAft>
                <a:spcPts val="900"/>
              </a:spcAft>
            </a:pPr>
            <a:r>
              <a:rPr sz="1850" b="0" i="0">
                <a:solidFill>
                  <a:srgbClr val="FFFFFF"/>
                </a:solidFill>
                <a:latin typeface="Poppins"/>
              </a:rPr>
              <a:t>1. Poser le cadre — c'est quoi un paradigme, et pourquoi le tien n'est pas le tien</a:t>
            </a:r>
          </a:p>
          <a:p>
            <a:pPr algn="l">
              <a:lnSpc>
                <a:spcPct val="142000"/>
              </a:lnSpc>
              <a:spcAft>
                <a:spcPts val="900"/>
              </a:spcAft>
            </a:pPr>
            <a:r>
              <a:rPr sz="1850" b="0" i="0">
                <a:solidFill>
                  <a:srgbClr val="FFFFFF"/>
                </a:solidFill>
                <a:latin typeface="Poppins"/>
              </a:rPr>
              <a:t>2. Les six axes — où ça se voit dans ton agenda</a:t>
            </a:r>
          </a:p>
          <a:p>
            <a:pPr algn="l">
              <a:lnSpc>
                <a:spcPct val="142000"/>
              </a:lnSpc>
              <a:spcAft>
                <a:spcPts val="900"/>
              </a:spcAft>
            </a:pPr>
            <a:r>
              <a:rPr sz="1850" b="0" i="0">
                <a:solidFill>
                  <a:srgbClr val="FFFFFF"/>
                </a:solidFill>
                <a:latin typeface="Poppins"/>
              </a:rPr>
              <a:t>3. Les compétences transversales — ce qu'il te manque vraiment</a:t>
            </a:r>
          </a:p>
          <a:p>
            <a:pPr algn="l">
              <a:lnSpc>
                <a:spcPct val="142000"/>
              </a:lnSpc>
              <a:spcAft>
                <a:spcPts val="900"/>
              </a:spcAft>
            </a:pPr>
            <a:r>
              <a:rPr sz="1850" b="0" i="0">
                <a:solidFill>
                  <a:srgbClr val="FFFFFF"/>
                </a:solidFill>
                <a:latin typeface="Poppins"/>
              </a:rPr>
              <a:t>4. La méthodologie — comment on travaille ça ensemble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12800" y="2032000"/>
            <a:ext cx="10566400" cy="7620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700" b="1" i="0">
                <a:solidFill>
                  <a:srgbClr val="E3A94F"/>
                </a:solidFill>
                <a:latin typeface="Poppins"/>
              </a:rPr>
              <a:t>PARTIE 1 SUR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2870200"/>
            <a:ext cx="10566400" cy="165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5500" b="1" i="1">
                <a:solidFill>
                  <a:srgbClr val="FFFFFF"/>
                </a:solidFill>
                <a:latin typeface="Archivo"/>
              </a:rPr>
              <a:t>POSER LE CADRE</a:t>
            </a:r>
          </a:p>
        </p:txBody>
      </p:sp>
      <p:sp>
        <p:nvSpPr>
          <p:cNvPr id="5" name="Rectangle 4"/>
          <p:cNvSpPr/>
          <p:nvPr/>
        </p:nvSpPr>
        <p:spPr>
          <a:xfrm>
            <a:off x="812800" y="4699000"/>
            <a:ext cx="1905000" cy="31750"/>
          </a:xfrm>
          <a:prstGeom prst="rect">
            <a:avLst/>
          </a:prstGeom>
          <a:solidFill>
            <a:srgbClr val="E3A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12800" y="2032000"/>
            <a:ext cx="10566400" cy="7620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700" b="1" i="0">
                <a:solidFill>
                  <a:srgbClr val="E3A94F"/>
                </a:solidFill>
                <a:latin typeface="Poppins"/>
              </a:rPr>
              <a:t>PARTIE 2 SUR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2870200"/>
            <a:ext cx="10566400" cy="165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5500" b="1" i="1">
                <a:solidFill>
                  <a:srgbClr val="FFFFFF"/>
                </a:solidFill>
                <a:latin typeface="Archivo"/>
              </a:rPr>
              <a:t>LES SIX AXES</a:t>
            </a:r>
          </a:p>
        </p:txBody>
      </p:sp>
      <p:sp>
        <p:nvSpPr>
          <p:cNvPr id="5" name="Rectangle 4"/>
          <p:cNvSpPr/>
          <p:nvPr/>
        </p:nvSpPr>
        <p:spPr>
          <a:xfrm>
            <a:off x="812800" y="4699000"/>
            <a:ext cx="1905000" cy="31750"/>
          </a:xfrm>
          <a:prstGeom prst="rect">
            <a:avLst/>
          </a:prstGeom>
          <a:solidFill>
            <a:srgbClr val="E3A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12800" y="2032000"/>
            <a:ext cx="10566400" cy="7620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700" b="1" i="0">
                <a:solidFill>
                  <a:srgbClr val="E3A94F"/>
                </a:solidFill>
                <a:latin typeface="Poppins"/>
              </a:rPr>
              <a:t>PARTIE 3 SUR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2870200"/>
            <a:ext cx="10566400" cy="165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5500" b="1" i="1">
                <a:solidFill>
                  <a:srgbClr val="FFFFFF"/>
                </a:solidFill>
                <a:latin typeface="Archivo"/>
              </a:rPr>
              <a:t>LES COMPÉTENCES TRANSVERSALES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812800" y="4699000"/>
            <a:ext cx="1905000" cy="31750"/>
          </a:xfrm>
          <a:prstGeom prst="rect">
            <a:avLst/>
          </a:prstGeom>
          <a:solidFill>
            <a:srgbClr val="E3A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12800" y="2032000"/>
            <a:ext cx="10566400" cy="7620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700" b="1" i="0">
                <a:solidFill>
                  <a:srgbClr val="E3A94F"/>
                </a:solidFill>
                <a:latin typeface="Poppins"/>
              </a:rPr>
              <a:t>PARTIE 4 SUR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2870200"/>
            <a:ext cx="10566400" cy="165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5500" b="1" i="1">
                <a:solidFill>
                  <a:srgbClr val="FFFFFF"/>
                </a:solidFill>
                <a:latin typeface="Archivo"/>
              </a:rPr>
              <a:t>LA MÉTHODOLOGIE TARIQA</a:t>
            </a:r>
          </a:p>
        </p:txBody>
      </p:sp>
      <p:sp>
        <p:nvSpPr>
          <p:cNvPr id="5" name="Rectangle 4"/>
          <p:cNvSpPr/>
          <p:nvPr/>
        </p:nvSpPr>
        <p:spPr>
          <a:xfrm>
            <a:off x="812800" y="4699000"/>
            <a:ext cx="1905000" cy="31750"/>
          </a:xfrm>
          <a:prstGeom prst="rect">
            <a:avLst/>
          </a:prstGeom>
          <a:solidFill>
            <a:srgbClr val="E3A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125220" y="2884170"/>
            <a:ext cx="9941560" cy="10896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15720" y="2884170"/>
            <a:ext cx="9560560" cy="10896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600" b="1" i="1">
                <a:solidFill>
                  <a:srgbClr val="131313"/>
                </a:solidFill>
                <a:latin typeface="Archivo"/>
              </a:rPr>
              <a:t>U</a:t>
            </a:r>
            <a:r>
              <a:rPr sz="6600" b="1" i="1">
                <a:solidFill>
                  <a:srgbClr val="131313"/>
                </a:solidFill>
                <a:latin typeface="Archivo"/>
              </a:rPr>
              <a:t>N</a:t>
            </a:r>
            <a:r>
              <a:rPr sz="6600" b="1" i="1">
                <a:solidFill>
                  <a:srgbClr val="131313"/>
                </a:solidFill>
                <a:latin typeface="Archivo"/>
              </a:rPr>
              <a:t>E</a:t>
            </a:r>
            <a:r>
              <a:rPr sz="6600" b="1" i="1">
                <a:solidFill>
                  <a:srgbClr val="131313"/>
                </a:solidFill>
                <a:latin typeface="Archivo"/>
              </a:rPr>
              <a:t> </a:t>
            </a:r>
            <a:r>
              <a:rPr sz="6600" b="1" i="1">
                <a:solidFill>
                  <a:srgbClr val="161513"/>
                </a:solidFill>
                <a:latin typeface="Archivo"/>
              </a:rPr>
              <a:t>S</a:t>
            </a:r>
            <a:r>
              <a:rPr sz="6600" b="1" i="1">
                <a:solidFill>
                  <a:srgbClr val="221D15"/>
                </a:solidFill>
                <a:latin typeface="Archivo"/>
              </a:rPr>
              <a:t>E</a:t>
            </a:r>
            <a:r>
              <a:rPr sz="6600" b="1" i="1">
                <a:solidFill>
                  <a:srgbClr val="2F2617"/>
                </a:solidFill>
                <a:latin typeface="Archivo"/>
              </a:rPr>
              <a:t>U</a:t>
            </a:r>
            <a:r>
              <a:rPr sz="6600" b="1" i="1">
                <a:solidFill>
                  <a:srgbClr val="3B2F18"/>
                </a:solidFill>
                <a:latin typeface="Archivo"/>
              </a:rPr>
              <a:t>L</a:t>
            </a:r>
            <a:r>
              <a:rPr sz="6600" b="1" i="1">
                <a:solidFill>
                  <a:srgbClr val="48371A"/>
                </a:solidFill>
                <a:latin typeface="Archivo"/>
              </a:rPr>
              <a:t>E</a:t>
            </a:r>
            <a:r>
              <a:rPr sz="6600" b="1" i="1">
                <a:solidFill>
                  <a:srgbClr val="54401C"/>
                </a:solidFill>
                <a:latin typeface="Archivo"/>
              </a:rPr>
              <a:t> </a:t>
            </a:r>
            <a:r>
              <a:rPr sz="6600" b="1" i="1">
                <a:solidFill>
                  <a:srgbClr val="60491E"/>
                </a:solidFill>
                <a:latin typeface="Archivo"/>
              </a:rPr>
              <a:t>Q</a:t>
            </a:r>
            <a:r>
              <a:rPr sz="6600" b="1" i="1">
                <a:solidFill>
                  <a:srgbClr val="6D5120"/>
                </a:solidFill>
                <a:latin typeface="Archivo"/>
              </a:rPr>
              <a:t>U</a:t>
            </a:r>
            <a:r>
              <a:rPr sz="6600" b="1" i="1">
                <a:solidFill>
                  <a:srgbClr val="795A21"/>
                </a:solidFill>
                <a:latin typeface="Archivo"/>
              </a:rPr>
              <a:t>E</a:t>
            </a:r>
            <a:r>
              <a:rPr sz="6600" b="1" i="1">
                <a:solidFill>
                  <a:srgbClr val="866323"/>
                </a:solidFill>
                <a:latin typeface="Archivo"/>
              </a:rPr>
              <a:t>S</a:t>
            </a:r>
            <a:r>
              <a:rPr sz="6600" b="1" i="1">
                <a:solidFill>
                  <a:srgbClr val="926B25"/>
                </a:solidFill>
                <a:latin typeface="Archivo"/>
              </a:rPr>
              <a:t>T</a:t>
            </a:r>
            <a:r>
              <a:rPr sz="6600" b="1" i="1">
                <a:solidFill>
                  <a:srgbClr val="9F7427"/>
                </a:solidFill>
                <a:latin typeface="Archivo"/>
              </a:rPr>
              <a:t>I</a:t>
            </a:r>
            <a:r>
              <a:rPr sz="6600" b="1" i="1">
                <a:solidFill>
                  <a:srgbClr val="AB7D29"/>
                </a:solidFill>
                <a:latin typeface="Archivo"/>
              </a:rPr>
              <a:t>O</a:t>
            </a:r>
            <a:r>
              <a:rPr sz="6600" b="1" i="1">
                <a:solidFill>
                  <a:srgbClr val="B8862B"/>
                </a:solidFill>
                <a:latin typeface="Archivo"/>
              </a:rPr>
              <a:t>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12800" y="812800"/>
            <a:ext cx="10566400" cy="523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6000"/>
              </a:lnSpc>
            </a:pPr>
            <a:r>
              <a:rPr sz="3900" b="1" i="1">
                <a:solidFill>
                  <a:srgbClr val="FFFFFF"/>
                </a:solidFill>
                <a:latin typeface="Archivo"/>
              </a:rPr>
              <a:t>QU'EST-CE QUE JE CHANGE</a:t>
            </a:r>
          </a:p>
          <a:p>
            <a:pPr algn="ctr">
              <a:lnSpc>
                <a:spcPct val="106000"/>
              </a:lnSpc>
            </a:pPr>
            <a:r>
              <a:rPr sz="3900" b="1" i="1">
                <a:solidFill>
                  <a:srgbClr val="FFFFFF"/>
                </a:solidFill>
                <a:latin typeface="Archivo"/>
              </a:rPr>
              <a:t>CHEZ MOI, DÈS LUNDI 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12800" y="812800"/>
            <a:ext cx="10566400" cy="698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000" b="1" i="1">
                <a:solidFill>
                  <a:srgbClr val="FFFFFF"/>
                </a:solidFill>
                <a:latin typeface="Archivo"/>
              </a:rPr>
              <a:t>LES SIX AXES, ET L'ACTION QUI VA AVEC</a:t>
            </a:r>
          </a:p>
        </p:txBody>
      </p:sp>
      <p:sp>
        <p:nvSpPr>
          <p:cNvPr id="4" name="Rectangle 3"/>
          <p:cNvSpPr/>
          <p:nvPr/>
        </p:nvSpPr>
        <p:spPr>
          <a:xfrm>
            <a:off x="812800" y="1879600"/>
            <a:ext cx="1143000" cy="25400"/>
          </a:xfrm>
          <a:prstGeom prst="rect">
            <a:avLst/>
          </a:prstGeom>
          <a:solidFill>
            <a:srgbClr val="E3A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12800" y="2222500"/>
            <a:ext cx="10566400" cy="3822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  <a:spcAft>
                <a:spcPts val="600"/>
              </a:spcAft>
            </a:pPr>
            <a:r>
              <a:rPr sz="1600" b="0" i="0">
                <a:solidFill>
                  <a:srgbClr val="FFFFFF"/>
                </a:solidFill>
                <a:latin typeface="Poppins"/>
              </a:rPr>
              <a:t>1. La finalité → écris pour quoi tu fais ça, puis ouvre ton agenda</a:t>
            </a:r>
          </a:p>
          <a:p>
            <a:pPr algn="l">
              <a:lnSpc>
                <a:spcPct val="142000"/>
              </a:lnSpc>
              <a:spcAft>
                <a:spcPts val="600"/>
              </a:spcAft>
            </a:pPr>
            <a:r>
              <a:rPr sz="1600" b="0" i="0">
                <a:solidFill>
                  <a:srgbClr val="FFFFFF"/>
                </a:solidFill>
                <a:latin typeface="Poppins"/>
              </a:rPr>
              <a:t>2. La mesure → une ligne non chiffrable, tout en haut du tableau de bord</a:t>
            </a:r>
          </a:p>
          <a:p>
            <a:pPr algn="l">
              <a:lnSpc>
                <a:spcPct val="142000"/>
              </a:lnSpc>
              <a:spcAft>
                <a:spcPts val="600"/>
              </a:spcAft>
            </a:pPr>
            <a:r>
              <a:rPr sz="1600" b="0" i="0">
                <a:solidFill>
                  <a:srgbClr val="FFFFFF"/>
                </a:solidFill>
                <a:latin typeface="Poppins"/>
              </a:rPr>
              <a:t>3. Le profit et le risque → qui perd quoi, si ça tourne mal ?</a:t>
            </a:r>
          </a:p>
          <a:p>
            <a:pPr algn="l">
              <a:lnSpc>
                <a:spcPct val="142000"/>
              </a:lnSpc>
              <a:spcAft>
                <a:spcPts val="600"/>
              </a:spcAft>
            </a:pPr>
            <a:r>
              <a:rPr sz="1600" b="0" i="0">
                <a:solidFill>
                  <a:srgbClr val="FFFFFF"/>
                </a:solidFill>
                <a:latin typeface="Poppins"/>
              </a:rPr>
              <a:t>4. La croissance et la dette → ce rythme, je le tiens encore dans deux ans ?</a:t>
            </a:r>
          </a:p>
          <a:p>
            <a:pPr algn="l">
              <a:lnSpc>
                <a:spcPct val="142000"/>
              </a:lnSpc>
              <a:spcAft>
                <a:spcPts val="600"/>
              </a:spcAft>
            </a:pPr>
            <a:r>
              <a:rPr sz="1600" b="0" i="0">
                <a:solidFill>
                  <a:srgbClr val="FFFFFF"/>
                </a:solidFill>
                <a:latin typeface="Poppins"/>
              </a:rPr>
              <a:t>5. La concurrence → recommande un concurrent, publiquement</a:t>
            </a:r>
          </a:p>
          <a:p>
            <a:pPr algn="l">
              <a:lnSpc>
                <a:spcPct val="142000"/>
              </a:lnSpc>
              <a:spcAft>
                <a:spcPts val="600"/>
              </a:spcAft>
            </a:pPr>
            <a:r>
              <a:rPr sz="1600" b="0" i="0">
                <a:solidFill>
                  <a:srgbClr val="FFFFFF"/>
                </a:solidFill>
                <a:latin typeface="Poppins"/>
              </a:rPr>
              <a:t>6. Le client et l'effet → qu'est-ce que j'installe chez mes clients 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12800" y="812800"/>
            <a:ext cx="10566400" cy="523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4000"/>
              </a:lnSpc>
              <a:spcAft>
                <a:spcPts val="900"/>
              </a:spcAft>
            </a:pPr>
            <a:r>
              <a:rPr sz="2600" b="0" i="0">
                <a:solidFill>
                  <a:srgbClr val="FFFFFF"/>
                </a:solidFill>
                <a:latin typeface="Poppins"/>
              </a:rPr>
              <a:t>Prends-en une.</a:t>
            </a:r>
          </a:p>
          <a:p>
            <a:pPr algn="ctr">
              <a:lnSpc>
                <a:spcPct val="134000"/>
              </a:lnSpc>
              <a:spcAft>
                <a:spcPts val="900"/>
              </a:spcAft>
            </a:pPr>
            <a:r>
              <a:rPr sz="2600" b="0" i="0">
                <a:solidFill>
                  <a:srgbClr val="FFFFFF"/>
                </a:solidFill>
                <a:latin typeface="Poppins"/>
              </a:rPr>
              <a:t>Une seule.</a:t>
            </a:r>
          </a:p>
          <a:p>
            <a:pPr algn="ctr">
              <a:lnSpc>
                <a:spcPct val="134000"/>
              </a:lnSpc>
              <a:spcAft>
                <a:spcPts val="900"/>
              </a:spcAft>
            </a:pPr>
            <a:r>
              <a:rPr sz="2600" b="0" i="0">
                <a:solidFill>
                  <a:srgbClr val="E3A94F"/>
                </a:solidFill>
                <a:latin typeface="Poppins"/>
              </a:rPr>
              <a:t>Celle qui t'a le plus gêné ce soir.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12800" y="812800"/>
            <a:ext cx="10566400" cy="523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6000"/>
              </a:lnSpc>
            </a:pPr>
            <a:r>
              <a:rPr sz="5000" b="1" i="1">
                <a:solidFill>
                  <a:srgbClr val="FFFFFF"/>
                </a:solidFill>
                <a:latin typeface="Archivo"/>
              </a:rPr>
              <a:t>ET TOUT CE QUE J'AI DÉJÀ APPRIS 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12800" y="812800"/>
            <a:ext cx="10566400" cy="523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4000"/>
              </a:lnSpc>
              <a:spcAft>
                <a:spcPts val="900"/>
              </a:spcAft>
            </a:pPr>
            <a:r>
              <a:rPr sz="2600" b="0" i="0">
                <a:solidFill>
                  <a:srgbClr val="FFFFFF"/>
                </a:solidFill>
                <a:latin typeface="Poppins"/>
              </a:rPr>
              <a:t>On ne jette rien.</a:t>
            </a:r>
          </a:p>
          <a:p>
            <a:pPr algn="ctr">
              <a:lnSpc>
                <a:spcPct val="134000"/>
              </a:lnSpc>
              <a:spcAft>
                <a:spcPts val="900"/>
              </a:spcAft>
            </a:pPr>
            <a:r>
              <a:rPr sz="2600" b="0" i="0">
                <a:solidFill>
                  <a:srgbClr val="E3A94F"/>
                </a:solidFill>
                <a:latin typeface="Poppins"/>
              </a:rPr>
              <a:t>On règle.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12800" y="812800"/>
            <a:ext cx="10566400" cy="523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  <a:spcAft>
                <a:spcPts val="1500"/>
              </a:spcAft>
            </a:pPr>
            <a:r>
              <a:rPr sz="3000" b="1" i="0">
                <a:solidFill>
                  <a:srgbClr val="FFFFFF"/>
                </a:solidFill>
                <a:latin typeface="Oswald"/>
              </a:rPr>
              <a:t>L'IDÉE N'EST PAS DE TOUT REJETER. ON NE PEUT QU'EMPRUNTER. LA QUESTION, C'EST COMMENT.</a:t>
            </a:r>
          </a:p>
          <a:p>
            <a:pPr algn="ctr">
              <a:spcAft>
                <a:spcPts val="1700"/>
              </a:spcAft>
            </a:pPr>
            <a:r>
              <a:rPr sz="1400" b="0" i="1">
                <a:solidFill>
                  <a:srgbClr val="E3A94F"/>
                </a:solidFill>
                <a:latin typeface="Poppins"/>
              </a:rPr>
              <a:t>— Dr Chauki Lazhar, spécialiste des fondements du droit —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12800" y="812800"/>
            <a:ext cx="10566400" cy="698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000" b="1" i="1">
                <a:solidFill>
                  <a:srgbClr val="FFFFFF"/>
                </a:solidFill>
                <a:latin typeface="Archivo"/>
              </a:rPr>
              <a:t>DEUX QUESTIONS AVANT D'ADOPTER UN OUTIL</a:t>
            </a:r>
          </a:p>
        </p:txBody>
      </p:sp>
      <p:sp>
        <p:nvSpPr>
          <p:cNvPr id="4" name="Rectangle 3"/>
          <p:cNvSpPr/>
          <p:nvPr/>
        </p:nvSpPr>
        <p:spPr>
          <a:xfrm>
            <a:off x="812800" y="1879600"/>
            <a:ext cx="1143000" cy="25400"/>
          </a:xfrm>
          <a:prstGeom prst="rect">
            <a:avLst/>
          </a:prstGeom>
          <a:solidFill>
            <a:srgbClr val="E3A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12800" y="2222500"/>
            <a:ext cx="10566400" cy="3822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  <a:spcAft>
                <a:spcPts val="900"/>
              </a:spcAft>
            </a:pPr>
            <a:r>
              <a:rPr sz="1850" b="0" i="0">
                <a:solidFill>
                  <a:srgbClr val="FFFFFF"/>
                </a:solidFill>
                <a:latin typeface="Poppins"/>
              </a:rPr>
              <a:t>1. D'où il vient ? Quelle idée de la réussite il transporte sans le dire ?</a:t>
            </a:r>
          </a:p>
          <a:p>
            <a:pPr algn="l">
              <a:lnSpc>
                <a:spcPct val="142000"/>
              </a:lnSpc>
              <a:spcAft>
                <a:spcPts val="900"/>
              </a:spcAft>
            </a:pPr>
            <a:r>
              <a:rPr sz="1850" b="0" i="0">
                <a:solidFill>
                  <a:srgbClr val="FFFFFF"/>
                </a:solidFill>
                <a:latin typeface="Poppins"/>
              </a:rPr>
              <a:t>2. Qu'est-ce qu'il produit chez les gens ?</a:t>
            </a:r>
          </a:p>
          <a:p>
            <a:pPr algn="l">
              <a:lnSpc>
                <a:spcPct val="142000"/>
              </a:lnSpc>
              <a:spcAft>
                <a:spcPts val="900"/>
              </a:spcAft>
            </a:pPr>
            <a:r>
              <a:rPr sz="1850" b="0" i="0">
                <a:solidFill>
                  <a:srgbClr val="E3A94F"/>
                </a:solidFill>
                <a:latin typeface="Poppins"/>
              </a:rPr>
              <a:t>👉 Et c'est tout. Deux questions, sur n'importe quelle formation, n'importe quelle méthode.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125220" y="2884170"/>
            <a:ext cx="9941560" cy="10896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15720" y="2884170"/>
            <a:ext cx="9560560" cy="10896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600" b="1" i="1">
                <a:solidFill>
                  <a:srgbClr val="131313"/>
                </a:solidFill>
                <a:latin typeface="Archivo"/>
              </a:rPr>
              <a:t>C</a:t>
            </a:r>
            <a:r>
              <a:rPr sz="6600" b="1" i="1">
                <a:solidFill>
                  <a:srgbClr val="131313"/>
                </a:solidFill>
                <a:latin typeface="Archivo"/>
              </a:rPr>
              <a:t>E</a:t>
            </a:r>
            <a:r>
              <a:rPr sz="6600" b="1" i="1">
                <a:solidFill>
                  <a:srgbClr val="131313"/>
                </a:solidFill>
                <a:latin typeface="Archivo"/>
              </a:rPr>
              <a:t> </a:t>
            </a:r>
            <a:r>
              <a:rPr sz="6600" b="1" i="1">
                <a:solidFill>
                  <a:srgbClr val="131313"/>
                </a:solidFill>
                <a:latin typeface="Archivo"/>
              </a:rPr>
              <a:t>Q</a:t>
            </a:r>
            <a:r>
              <a:rPr sz="6600" b="1" i="1">
                <a:solidFill>
                  <a:srgbClr val="161513"/>
                </a:solidFill>
                <a:latin typeface="Archivo"/>
              </a:rPr>
              <a:t>U</a:t>
            </a:r>
            <a:r>
              <a:rPr sz="6600" b="1" i="1">
                <a:solidFill>
                  <a:srgbClr val="221D15"/>
                </a:solidFill>
                <a:latin typeface="Archivo"/>
              </a:rPr>
              <a:t>E</a:t>
            </a:r>
            <a:r>
              <a:rPr sz="6600" b="1" i="1">
                <a:solidFill>
                  <a:srgbClr val="2F2617"/>
                </a:solidFill>
                <a:latin typeface="Archivo"/>
              </a:rPr>
              <a:t> </a:t>
            </a:r>
            <a:r>
              <a:rPr sz="6600" b="1" i="1">
                <a:solidFill>
                  <a:srgbClr val="3B2F18"/>
                </a:solidFill>
                <a:latin typeface="Archivo"/>
              </a:rPr>
              <a:t>T</a:t>
            </a:r>
            <a:r>
              <a:rPr sz="6600" b="1" i="1">
                <a:solidFill>
                  <a:srgbClr val="48371A"/>
                </a:solidFill>
                <a:latin typeface="Archivo"/>
              </a:rPr>
              <a:t>U</a:t>
            </a:r>
            <a:r>
              <a:rPr sz="6600" b="1" i="1">
                <a:solidFill>
                  <a:srgbClr val="54401C"/>
                </a:solidFill>
                <a:latin typeface="Archivo"/>
              </a:rPr>
              <a:t> </a:t>
            </a:r>
            <a:r>
              <a:rPr sz="6600" b="1" i="1">
                <a:solidFill>
                  <a:srgbClr val="60491E"/>
                </a:solidFill>
                <a:latin typeface="Archivo"/>
              </a:rPr>
              <a:t>E</a:t>
            </a:r>
            <a:r>
              <a:rPr sz="6600" b="1" i="1">
                <a:solidFill>
                  <a:srgbClr val="6D5120"/>
                </a:solidFill>
                <a:latin typeface="Archivo"/>
              </a:rPr>
              <a:t>M</a:t>
            </a:r>
            <a:r>
              <a:rPr sz="6600" b="1" i="1">
                <a:solidFill>
                  <a:srgbClr val="795A21"/>
                </a:solidFill>
                <a:latin typeface="Archivo"/>
              </a:rPr>
              <a:t>P</a:t>
            </a:r>
            <a:r>
              <a:rPr sz="6600" b="1" i="1">
                <a:solidFill>
                  <a:srgbClr val="866323"/>
                </a:solidFill>
                <a:latin typeface="Archivo"/>
              </a:rPr>
              <a:t>O</a:t>
            </a:r>
            <a:r>
              <a:rPr sz="6600" b="1" i="1">
                <a:solidFill>
                  <a:srgbClr val="926B25"/>
                </a:solidFill>
                <a:latin typeface="Archivo"/>
              </a:rPr>
              <a:t>R</a:t>
            </a:r>
            <a:r>
              <a:rPr sz="6600" b="1" i="1">
                <a:solidFill>
                  <a:srgbClr val="9F7427"/>
                </a:solidFill>
                <a:latin typeface="Archivo"/>
              </a:rPr>
              <a:t>T</a:t>
            </a:r>
            <a:r>
              <a:rPr sz="6600" b="1" i="1">
                <a:solidFill>
                  <a:srgbClr val="AB7D29"/>
                </a:solidFill>
                <a:latin typeface="Archivo"/>
              </a:rPr>
              <a:t>E</a:t>
            </a:r>
            <a:r>
              <a:rPr sz="6600" b="1" i="1">
                <a:solidFill>
                  <a:srgbClr val="B8862B"/>
                </a:solidFill>
                <a:latin typeface="Archivo"/>
              </a:rPr>
              <a:t>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12800" y="812800"/>
            <a:ext cx="10566400" cy="523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4000"/>
              </a:lnSpc>
              <a:spcAft>
                <a:spcPts val="900"/>
              </a:spcAft>
            </a:pPr>
            <a:r>
              <a:rPr sz="2600" b="0" i="0">
                <a:solidFill>
                  <a:srgbClr val="FFFFFF"/>
                </a:solidFill>
                <a:latin typeface="Poppins"/>
              </a:rPr>
              <a:t>Tu es venu chercher des techniques.</a:t>
            </a:r>
          </a:p>
          <a:p>
            <a:pPr algn="ctr">
              <a:lnSpc>
                <a:spcPct val="134000"/>
              </a:lnSpc>
              <a:spcAft>
                <a:spcPts val="900"/>
              </a:spcAft>
            </a:pPr>
            <a:r>
              <a:rPr sz="2600" b="0" i="0">
                <a:solidFill>
                  <a:srgbClr val="FFFFFF"/>
                </a:solidFill>
                <a:latin typeface="Poppins"/>
              </a:rPr>
              <a:t>Tu repars avec une question</a:t>
            </a:r>
          </a:p>
          <a:p>
            <a:pPr algn="ctr">
              <a:lnSpc>
                <a:spcPct val="134000"/>
              </a:lnSpc>
              <a:spcAft>
                <a:spcPts val="900"/>
              </a:spcAft>
            </a:pPr>
            <a:r>
              <a:rPr sz="2600" b="0" i="0">
                <a:solidFill>
                  <a:srgbClr val="E3A94F"/>
                </a:solidFill>
                <a:latin typeface="Poppins"/>
              </a:rPr>
              <a:t>à te poser avant chaque technique.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12800" y="812800"/>
            <a:ext cx="10566400" cy="698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000" b="1" i="1">
                <a:solidFill>
                  <a:srgbClr val="FFFFFF"/>
                </a:solidFill>
                <a:latin typeface="Archivo"/>
              </a:rPr>
              <a:t>TROIS QUESTIONS, SUR TON ACTIVITÉ ET SUR CHACUN DE TES OUTILS</a:t>
            </a:r>
          </a:p>
        </p:txBody>
      </p:sp>
      <p:sp>
        <p:nvSpPr>
          <p:cNvPr id="4" name="Rectangle 3"/>
          <p:cNvSpPr/>
          <p:nvPr/>
        </p:nvSpPr>
        <p:spPr>
          <a:xfrm>
            <a:off x="812800" y="1879600"/>
            <a:ext cx="1143000" cy="25400"/>
          </a:xfrm>
          <a:prstGeom prst="rect">
            <a:avLst/>
          </a:prstGeom>
          <a:solidFill>
            <a:srgbClr val="E3A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12800" y="2222500"/>
            <a:ext cx="10566400" cy="3822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  <a:spcAft>
                <a:spcPts val="900"/>
              </a:spcAft>
            </a:pPr>
            <a:r>
              <a:rPr sz="1850" b="0" i="0">
                <a:solidFill>
                  <a:srgbClr val="E3A94F"/>
                </a:solidFill>
                <a:latin typeface="Poppins"/>
              </a:rPr>
              <a:t>👉 Est-ce que ça crée de la DÉPENDANCE ?</a:t>
            </a:r>
          </a:p>
          <a:p>
            <a:pPr algn="l">
              <a:lnSpc>
                <a:spcPct val="142000"/>
              </a:lnSpc>
              <a:spcAft>
                <a:spcPts val="900"/>
              </a:spcAft>
            </a:pPr>
            <a:r>
              <a:rPr sz="1850" b="0" i="0">
                <a:solidFill>
                  <a:srgbClr val="E3A94F"/>
                </a:solidFill>
                <a:latin typeface="Poppins"/>
              </a:rPr>
              <a:t>👉 Est-ce que ça crée de l'AVEUGLEMENT ?</a:t>
            </a:r>
          </a:p>
          <a:p>
            <a:pPr algn="l">
              <a:lnSpc>
                <a:spcPct val="142000"/>
              </a:lnSpc>
              <a:spcAft>
                <a:spcPts val="900"/>
              </a:spcAft>
            </a:pPr>
            <a:r>
              <a:rPr sz="1850" b="0" i="0">
                <a:solidFill>
                  <a:srgbClr val="E3A94F"/>
                </a:solidFill>
                <a:latin typeface="Poppins"/>
              </a:rPr>
              <a:t>👉 Est-ce que ça crée de l'EXCÈS ?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12800" y="812800"/>
            <a:ext cx="10566400" cy="523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4000"/>
              </a:lnSpc>
              <a:spcAft>
                <a:spcPts val="900"/>
              </a:spcAft>
            </a:pPr>
            <a:r>
              <a:rPr sz="2600" b="0" i="0">
                <a:solidFill>
                  <a:srgbClr val="FFFFFF"/>
                </a:solidFill>
                <a:latin typeface="Poppins"/>
              </a:rPr>
              <a:t>Trois questions.</a:t>
            </a:r>
          </a:p>
          <a:p>
            <a:pPr algn="ctr">
              <a:lnSpc>
                <a:spcPct val="134000"/>
              </a:lnSpc>
              <a:spcAft>
                <a:spcPts val="900"/>
              </a:spcAft>
            </a:pPr>
            <a:r>
              <a:rPr sz="2600" b="0" i="0">
                <a:solidFill>
                  <a:srgbClr val="FFFFFF"/>
                </a:solidFill>
                <a:latin typeface="Poppins"/>
              </a:rPr>
              <a:t>Aucune compétence religieuse nécessaire.</a:t>
            </a:r>
          </a:p>
          <a:p>
            <a:pPr algn="ctr">
              <a:lnSpc>
                <a:spcPct val="134000"/>
              </a:lnSpc>
              <a:spcAft>
                <a:spcPts val="900"/>
              </a:spcAft>
            </a:pPr>
            <a:r>
              <a:rPr sz="2600" b="0" i="0">
                <a:solidFill>
                  <a:srgbClr val="E3A94F"/>
                </a:solidFill>
                <a:latin typeface="Poppins"/>
              </a:rPr>
              <a:t>Tu peux les poser dès lundi matin.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12800" y="812800"/>
            <a:ext cx="10566400" cy="523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4000"/>
              </a:lnSpc>
              <a:spcAft>
                <a:spcPts val="900"/>
              </a:spcAft>
            </a:pPr>
            <a:r>
              <a:rPr sz="2600" b="0" i="0">
                <a:solidFill>
                  <a:srgbClr val="FFFFFF"/>
                </a:solidFill>
                <a:latin typeface="Poppins"/>
              </a:rPr>
              <a:t>Halal répond à : est-ce que j'ai le droit ?</a:t>
            </a:r>
          </a:p>
          <a:p>
            <a:pPr algn="ctr">
              <a:lnSpc>
                <a:spcPct val="134000"/>
              </a:lnSpc>
              <a:spcAft>
                <a:spcPts val="900"/>
              </a:spcAft>
            </a:pPr>
            <a:r>
              <a:rPr sz="2600" b="0" i="0">
                <a:solidFill>
                  <a:srgbClr val="FFFFFF"/>
                </a:solidFill>
                <a:latin typeface="Poppins"/>
              </a:rPr>
              <a:t>Ça ne répond pas à :</a:t>
            </a:r>
          </a:p>
          <a:p>
            <a:pPr algn="ctr">
              <a:lnSpc>
                <a:spcPct val="134000"/>
              </a:lnSpc>
              <a:spcAft>
                <a:spcPts val="900"/>
              </a:spcAft>
            </a:pPr>
            <a:r>
              <a:rPr sz="2600" b="0" i="0">
                <a:solidFill>
                  <a:srgbClr val="E3A94F"/>
                </a:solidFill>
                <a:latin typeface="Poppins"/>
              </a:rPr>
              <a:t>est-ce que c'est ce que je dois faire ?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879600" y="2884170"/>
            <a:ext cx="8432800" cy="10896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70100" y="2884170"/>
            <a:ext cx="8051800" cy="10896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600" b="1" i="1">
                <a:solidFill>
                  <a:srgbClr val="131313"/>
                </a:solidFill>
                <a:latin typeface="Archivo"/>
              </a:rPr>
              <a:t>S</a:t>
            </a:r>
            <a:r>
              <a:rPr sz="6600" b="1" i="1">
                <a:solidFill>
                  <a:srgbClr val="131313"/>
                </a:solidFill>
                <a:latin typeface="Archivo"/>
              </a:rPr>
              <a:t>O</a:t>
            </a:r>
            <a:r>
              <a:rPr sz="6600" b="1" i="1">
                <a:solidFill>
                  <a:srgbClr val="131313"/>
                </a:solidFill>
                <a:latin typeface="Archivo"/>
              </a:rPr>
              <a:t>Y</a:t>
            </a:r>
            <a:r>
              <a:rPr sz="6600" b="1" i="1">
                <a:solidFill>
                  <a:srgbClr val="131313"/>
                </a:solidFill>
                <a:latin typeface="Archivo"/>
              </a:rPr>
              <a:t>O</a:t>
            </a:r>
            <a:r>
              <a:rPr sz="6600" b="1" i="1">
                <a:solidFill>
                  <a:srgbClr val="201C15"/>
                </a:solidFill>
                <a:latin typeface="Archivo"/>
              </a:rPr>
              <a:t>N</a:t>
            </a:r>
            <a:r>
              <a:rPr sz="6600" b="1" i="1">
                <a:solidFill>
                  <a:srgbClr val="302717"/>
                </a:solidFill>
                <a:latin typeface="Archivo"/>
              </a:rPr>
              <a:t>S</a:t>
            </a:r>
            <a:r>
              <a:rPr sz="6600" b="1" i="1">
                <a:solidFill>
                  <a:srgbClr val="3F3119"/>
                </a:solidFill>
                <a:latin typeface="Archivo"/>
              </a:rPr>
              <a:t> </a:t>
            </a:r>
            <a:r>
              <a:rPr sz="6600" b="1" i="1">
                <a:solidFill>
                  <a:srgbClr val="4E3C1B"/>
                </a:solidFill>
                <a:latin typeface="Archivo"/>
              </a:rPr>
              <a:t>H</a:t>
            </a:r>
            <a:r>
              <a:rPr sz="6600" b="1" i="1">
                <a:solidFill>
                  <a:srgbClr val="5D461D"/>
                </a:solidFill>
                <a:latin typeface="Archivo"/>
              </a:rPr>
              <a:t>O</a:t>
            </a:r>
            <a:r>
              <a:rPr sz="6600" b="1" i="1">
                <a:solidFill>
                  <a:srgbClr val="6C5120"/>
                </a:solidFill>
                <a:latin typeface="Archivo"/>
              </a:rPr>
              <a:t>N</a:t>
            </a:r>
            <a:r>
              <a:rPr sz="6600" b="1" i="1">
                <a:solidFill>
                  <a:srgbClr val="7B5B22"/>
                </a:solidFill>
                <a:latin typeface="Archivo"/>
              </a:rPr>
              <a:t>N</a:t>
            </a:r>
            <a:r>
              <a:rPr sz="6600" b="1" i="1">
                <a:solidFill>
                  <a:srgbClr val="8A6624"/>
                </a:solidFill>
                <a:latin typeface="Archivo"/>
              </a:rPr>
              <a:t>Ê</a:t>
            </a:r>
            <a:r>
              <a:rPr sz="6600" b="1" i="1">
                <a:solidFill>
                  <a:srgbClr val="997026"/>
                </a:solidFill>
                <a:latin typeface="Archivo"/>
              </a:rPr>
              <a:t>T</a:t>
            </a:r>
            <a:r>
              <a:rPr sz="6600" b="1" i="1">
                <a:solidFill>
                  <a:srgbClr val="A87B28"/>
                </a:solidFill>
                <a:latin typeface="Archivo"/>
              </a:rPr>
              <a:t>E</a:t>
            </a:r>
            <a:r>
              <a:rPr sz="6600" b="1" i="1">
                <a:solidFill>
                  <a:srgbClr val="B8862B"/>
                </a:solidFill>
                <a:latin typeface="Archivo"/>
              </a:rPr>
              <a:t>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12800" y="812800"/>
            <a:ext cx="10566400" cy="523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4000"/>
              </a:lnSpc>
              <a:spcAft>
                <a:spcPts val="900"/>
              </a:spcAft>
            </a:pPr>
            <a:r>
              <a:rPr sz="2600" b="0" i="0">
                <a:solidFill>
                  <a:srgbClr val="FFFFFF"/>
                </a:solidFill>
                <a:latin typeface="Poppins"/>
              </a:rPr>
              <a:t>On n'est pas venus vous définir</a:t>
            </a:r>
          </a:p>
          <a:p>
            <a:pPr algn="ctr">
              <a:lnSpc>
                <a:spcPct val="134000"/>
              </a:lnSpc>
              <a:spcAft>
                <a:spcPts val="900"/>
              </a:spcAft>
            </a:pPr>
            <a:r>
              <a:rPr sz="2600" b="0" i="0">
                <a:solidFill>
                  <a:srgbClr val="FFFFFF"/>
                </a:solidFill>
                <a:latin typeface="Poppins"/>
              </a:rPr>
              <a:t>le paradigme de l'entrepreneur musulman.</a:t>
            </a:r>
          </a:p>
          <a:p>
            <a:pPr algn="ctr">
              <a:lnSpc>
                <a:spcPct val="134000"/>
              </a:lnSpc>
              <a:spcAft>
                <a:spcPts val="900"/>
              </a:spcAft>
            </a:pPr>
            <a:r>
              <a:rPr sz="2600" b="0" i="0">
                <a:solidFill>
                  <a:srgbClr val="E3A94F"/>
                </a:solidFill>
                <a:latin typeface="Poppins"/>
              </a:rPr>
              <a:t>On n'en est pas là.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12800" y="812800"/>
            <a:ext cx="10566400" cy="698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000" b="1" i="1">
                <a:solidFill>
                  <a:srgbClr val="FFFFFF"/>
                </a:solidFill>
                <a:latin typeface="Archivo"/>
              </a:rPr>
              <a:t>CE QU'ON A FAIT CE SOIR</a:t>
            </a:r>
          </a:p>
        </p:txBody>
      </p:sp>
      <p:sp>
        <p:nvSpPr>
          <p:cNvPr id="4" name="Rectangle 3"/>
          <p:cNvSpPr/>
          <p:nvPr/>
        </p:nvSpPr>
        <p:spPr>
          <a:xfrm>
            <a:off x="812800" y="1879600"/>
            <a:ext cx="1143000" cy="25400"/>
          </a:xfrm>
          <a:prstGeom prst="rect">
            <a:avLst/>
          </a:prstGeom>
          <a:solidFill>
            <a:srgbClr val="E3A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12800" y="2222500"/>
            <a:ext cx="10566400" cy="3822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  <a:spcAft>
                <a:spcPts val="900"/>
              </a:spcAft>
            </a:pPr>
            <a:r>
              <a:rPr sz="1850" b="0" i="0">
                <a:solidFill>
                  <a:srgbClr val="FFFFFF"/>
                </a:solidFill>
                <a:latin typeface="Poppins"/>
              </a:rPr>
              <a:t>On vous a posé les questions qui nous travaillent</a:t>
            </a:r>
          </a:p>
          <a:p>
            <a:pPr algn="l">
              <a:lnSpc>
                <a:spcPct val="142000"/>
              </a:lnSpc>
              <a:spcAft>
                <a:spcPts val="900"/>
              </a:spcAft>
            </a:pPr>
            <a:r>
              <a:rPr sz="1850" b="0" i="0">
                <a:solidFill>
                  <a:srgbClr val="FFFFFF"/>
                </a:solidFill>
                <a:latin typeface="Poppins"/>
              </a:rPr>
              <a:t>On vous a montré où on en est de notre propre réflexion</a:t>
            </a:r>
          </a:p>
          <a:p>
            <a:pPr algn="l">
              <a:lnSpc>
                <a:spcPct val="142000"/>
              </a:lnSpc>
              <a:spcAft>
                <a:spcPts val="900"/>
              </a:spcAft>
            </a:pPr>
            <a:r>
              <a:rPr sz="1850" b="0" i="0">
                <a:solidFill>
                  <a:srgbClr val="FFFFFF"/>
                </a:solidFill>
                <a:latin typeface="Poppins"/>
              </a:rPr>
              <a:t>On essaie nous-mêmes d'incarner tout ça, et on n'y arrive pas tous les jours</a:t>
            </a:r>
          </a:p>
          <a:p>
            <a:pPr algn="l">
              <a:lnSpc>
                <a:spcPct val="142000"/>
              </a:lnSpc>
              <a:spcAft>
                <a:spcPts val="900"/>
              </a:spcAft>
            </a:pPr>
            <a:r>
              <a:rPr sz="1850" b="0" i="0">
                <a:solidFill>
                  <a:srgbClr val="E3A94F"/>
                </a:solidFill>
                <a:latin typeface="Poppins"/>
              </a:rPr>
              <a:t>👉 C'est un chantier. Pas une conclusion.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12800" y="812800"/>
            <a:ext cx="10566400" cy="523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4000"/>
              </a:lnSpc>
              <a:spcAft>
                <a:spcPts val="900"/>
              </a:spcAft>
            </a:pPr>
            <a:r>
              <a:rPr sz="2600" b="0" i="0">
                <a:solidFill>
                  <a:srgbClr val="FFFFFF"/>
                </a:solidFill>
                <a:latin typeface="Poppins"/>
              </a:rPr>
              <a:t>Un paradigme, ce n'est pas un document</a:t>
            </a:r>
          </a:p>
          <a:p>
            <a:pPr algn="ctr">
              <a:lnSpc>
                <a:spcPct val="134000"/>
              </a:lnSpc>
              <a:spcAft>
                <a:spcPts val="900"/>
              </a:spcAft>
            </a:pPr>
            <a:r>
              <a:rPr sz="2600" b="0" i="0">
                <a:solidFill>
                  <a:srgbClr val="FFFFFF"/>
                </a:solidFill>
                <a:latin typeface="Poppins"/>
              </a:rPr>
              <a:t>qu'on adopte et qu'on applique.</a:t>
            </a:r>
          </a:p>
          <a:p>
            <a:pPr algn="ctr">
              <a:lnSpc>
                <a:spcPct val="134000"/>
              </a:lnSpc>
              <a:spcAft>
                <a:spcPts val="900"/>
              </a:spcAft>
            </a:pPr>
            <a:r>
              <a:rPr sz="2600" b="0" i="0">
                <a:solidFill>
                  <a:srgbClr val="E3A94F"/>
                </a:solidFill>
                <a:latin typeface="Poppins"/>
              </a:rPr>
              <a:t>C'est une remise en question qui ne s'arrête pas.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12800" y="812800"/>
            <a:ext cx="10566400" cy="698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000" b="1" i="1">
                <a:solidFill>
                  <a:srgbClr val="FFFFFF"/>
                </a:solidFill>
                <a:latin typeface="Archivo"/>
              </a:rPr>
              <a:t>ET CE QU'ON NE SAIT PAS ENCORE</a:t>
            </a:r>
          </a:p>
        </p:txBody>
      </p:sp>
      <p:sp>
        <p:nvSpPr>
          <p:cNvPr id="4" name="Rectangle 3"/>
          <p:cNvSpPr/>
          <p:nvPr/>
        </p:nvSpPr>
        <p:spPr>
          <a:xfrm>
            <a:off x="812800" y="1879600"/>
            <a:ext cx="1143000" cy="25400"/>
          </a:xfrm>
          <a:prstGeom prst="rect">
            <a:avLst/>
          </a:prstGeom>
          <a:solidFill>
            <a:srgbClr val="E3A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12800" y="2222500"/>
            <a:ext cx="10566400" cy="3822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  <a:spcAft>
                <a:spcPts val="900"/>
              </a:spcAft>
            </a:pPr>
            <a:r>
              <a:rPr sz="1850" b="0" i="0">
                <a:solidFill>
                  <a:srgbClr val="FFFFFF"/>
                </a:solidFill>
                <a:latin typeface="Poppins"/>
              </a:rPr>
              <a:t>Le prix juste — pas de barème possible, et pourtant le déséquilibre excessif existe</a:t>
            </a:r>
          </a:p>
          <a:p>
            <a:pPr algn="l">
              <a:lnSpc>
                <a:spcPct val="142000"/>
              </a:lnSpc>
              <a:spcAft>
                <a:spcPts val="900"/>
              </a:spcAft>
            </a:pPr>
            <a:r>
              <a:rPr sz="1850" b="0" i="0">
                <a:solidFill>
                  <a:srgbClr val="FFFFFF"/>
                </a:solidFill>
                <a:latin typeface="Poppins"/>
              </a:rPr>
              <a:t>L'abonnement, les places de marché — le droit des transactions n'a pas fini d'y répondre</a:t>
            </a:r>
          </a:p>
          <a:p>
            <a:pPr algn="l">
              <a:lnSpc>
                <a:spcPct val="142000"/>
              </a:lnSpc>
              <a:spcAft>
                <a:spcPts val="900"/>
              </a:spcAft>
            </a:pPr>
            <a:r>
              <a:rPr sz="1850" b="0" i="0">
                <a:solidFill>
                  <a:srgbClr val="FFFFFF"/>
                </a:solidFill>
                <a:latin typeface="Poppins"/>
              </a:rPr>
              <a:t>Et la question qu'on ne tranche pas : que faire quand un marché entier</a:t>
            </a:r>
          </a:p>
          <a:p>
            <a:pPr algn="l">
              <a:lnSpc>
                <a:spcPct val="142000"/>
              </a:lnSpc>
              <a:spcAft>
                <a:spcPts val="900"/>
              </a:spcAft>
            </a:pPr>
            <a:r>
              <a:rPr sz="1850" b="0" i="0">
                <a:solidFill>
                  <a:srgbClr val="FFFFFF"/>
                </a:solidFill>
                <a:latin typeface="Poppins"/>
              </a:rPr>
              <a:t>repose sur une pratique qu'on refuse 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