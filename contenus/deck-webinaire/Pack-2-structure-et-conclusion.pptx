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 / 1 · Le plan de la soirée]  → INSÉRER APRÈS ta slide « Et à la fin : un QUIZ », donc juste avant PARTIE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 / 1 · Le plan de la soirée]  ↑ suite du bloc « 1 · Le plan de la soirée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[03 / 2 · Séparateur partie 1]  → INSÉRER EN REMPLACEMENT de ta slide « PARTIE 1 / POSER LE CADRE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 / 2 · Séparateur partie 2]  → INSÉRER AVANT « ON ARRÊTE LA THÉORIE » — remplace la slide PARTIE 2 du pack précédent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 / 2 · Séparateur partie 3]  → INSÉRER AVANT « CE QUI TE MANQUE N'EST PAS CE QUE TU CROIS » (début du bloc G du pack précédent)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 / 2 · Séparateur partie 4]  → INSÉRER EN REMPLACEMENT de ta slide « PARTIE 3 / LA méthodologie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 / 3 · Résumé des six axes]  → INSÉRER À LA FIN DE LA PARTIE 2, après ton dernier axe et AVANT la partie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 / 3 · Résumé des six axes]  ↑ suite du bloc « 3 · Résumé des six axes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 / 3 · Résumé des six axes]  ↑ suite du bloc « 3 · Résumé des six axes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 / 3 · Résumé des six axes]  ↑ suite du bloc « 3 · Résumé des six axes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 / 4 · Et mes outils actuels ?]  → INSÉRER JUSTE APRÈS le résumé des six axes, en ouverture de la partie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 / 4 · Et mes outils actuels ?]  ↑ suite du bloc « 4 · Et mes outils actuels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 / 4 · Et mes outils actuels ?]  ↑ suite du bloc « 4 · Et mes outils actuels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 / 4 · Et mes outils actuels ?]  ↑ suite du bloc « 4 · Et mes outils actuels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/ 5 · Ce que tu emportes]  → INSÉRER À LA PLACE de ta séquence « CE QUE TU EMPORTES » actuelle (les trois slides 1️⃣ 2️⃣ 3️⃣)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[16 / 5 · Ce que tu emportes]  ↑ suite du bloc « 5 · Ce que tu emportes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 / 5 · Ce que tu emportes]  ↑ suite du bloc « 5 · Ce que tu emportes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[18 / 5 · Ce que tu emportes]  ↑ suite du bloc « 5 · Ce que tu emportes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 / 5 · Ce que tu emportes]  ↑ suite du bloc « 5 · Ce que tu emportes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— ne pas conserver cette page dans le deck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/ 6 · Soyons honnêtes]  → INSÉRER APRÈS « CE QUE TU EMPORTES », avant le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 / 6 · Soyons honnêtes]  ↑ suite du bloc « 6 · Soyons honnêtes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[22 / 6 · Soyons honnêtes]  ↑ suite du bloc « 6 · Soyons honnêtes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[23 / 6 · Soyons honnêtes]  ↑ suite du bloc « 6 · Soyons honnêtes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[24 / 6 · Soyons honnêtes]  ↑ suite du bloc « 6 · Soyons honnêtes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MODE D'EMPLOI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CE FICHIER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Ce sont uniquement les nouvelles slides. Ton deck n'est pas touché.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AVANT CHAQUE BLOC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une page dorée comme celle-ci te dit où le poser.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LES REPÈRES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sont donnés par le TEXTE de tes slides, pas par un numéro de page :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POURQUOI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tes numéros bougent à chaque insertion, le texte ne bouge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0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LE PLAN DE LA SOIRÉE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APRÈS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Et à la fin : un QUIZ. Avec des cadeaux pour ceux qui répondent. »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AVANT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PARTIE 1 / POSER LE CADRE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2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2300" y="2884170"/>
            <a:ext cx="10947400" cy="10896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2800" y="2884170"/>
            <a:ext cx="10566400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1">
                <a:solidFill>
                  <a:srgbClr val="131313"/>
                </a:solidFill>
                <a:latin typeface="Archivo"/>
              </a:rPr>
              <a:t>L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E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 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P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L</a:t>
            </a:r>
            <a:r>
              <a:rPr sz="6600" b="1" i="1">
                <a:solidFill>
                  <a:srgbClr val="1C1914"/>
                </a:solidFill>
                <a:latin typeface="Archivo"/>
              </a:rPr>
              <a:t>A</a:t>
            </a:r>
            <a:r>
              <a:rPr sz="6600" b="1" i="1">
                <a:solidFill>
                  <a:srgbClr val="272115"/>
                </a:solidFill>
                <a:latin typeface="Archivo"/>
              </a:rPr>
              <a:t>N</a:t>
            </a:r>
            <a:r>
              <a:rPr sz="6600" b="1" i="1">
                <a:solidFill>
                  <a:srgbClr val="322817"/>
                </a:solidFill>
                <a:latin typeface="Archivo"/>
              </a:rPr>
              <a:t> </a:t>
            </a:r>
            <a:r>
              <a:rPr sz="6600" b="1" i="1">
                <a:solidFill>
                  <a:srgbClr val="3D3019"/>
                </a:solidFill>
                <a:latin typeface="Archivo"/>
              </a:rPr>
              <a:t>D</a:t>
            </a:r>
            <a:r>
              <a:rPr sz="6600" b="1" i="1">
                <a:solidFill>
                  <a:srgbClr val="48381A"/>
                </a:solidFill>
                <a:latin typeface="Archivo"/>
              </a:rPr>
              <a:t>E</a:t>
            </a:r>
            <a:r>
              <a:rPr sz="6600" b="1" i="1">
                <a:solidFill>
                  <a:srgbClr val="53401C"/>
                </a:solidFill>
                <a:latin typeface="Archivo"/>
              </a:rPr>
              <a:t> </a:t>
            </a:r>
            <a:r>
              <a:rPr sz="6600" b="1" i="1">
                <a:solidFill>
                  <a:srgbClr val="5E471E"/>
                </a:solidFill>
                <a:latin typeface="Archivo"/>
              </a:rPr>
              <a:t>L</a:t>
            </a:r>
            <a:r>
              <a:rPr sz="6600" b="1" i="1">
                <a:solidFill>
                  <a:srgbClr val="6A4F1F"/>
                </a:solidFill>
                <a:latin typeface="Archivo"/>
              </a:rPr>
              <a:t>A</a:t>
            </a:r>
            <a:r>
              <a:rPr sz="6600" b="1" i="1">
                <a:solidFill>
                  <a:srgbClr val="755721"/>
                </a:solidFill>
                <a:latin typeface="Archivo"/>
              </a:rPr>
              <a:t> </a:t>
            </a:r>
            <a:r>
              <a:rPr sz="6600" b="1" i="1">
                <a:solidFill>
                  <a:srgbClr val="805F22"/>
                </a:solidFill>
                <a:latin typeface="Archivo"/>
              </a:rPr>
              <a:t>S</a:t>
            </a:r>
            <a:r>
              <a:rPr sz="6600" b="1" i="1">
                <a:solidFill>
                  <a:srgbClr val="8B6624"/>
                </a:solidFill>
                <a:latin typeface="Archivo"/>
              </a:rPr>
              <a:t>O</a:t>
            </a:r>
            <a:r>
              <a:rPr sz="6600" b="1" i="1">
                <a:solidFill>
                  <a:srgbClr val="966E26"/>
                </a:solidFill>
                <a:latin typeface="Archivo"/>
              </a:rPr>
              <a:t>I</a:t>
            </a:r>
            <a:r>
              <a:rPr sz="6600" b="1" i="1">
                <a:solidFill>
                  <a:srgbClr val="A17627"/>
                </a:solidFill>
                <a:latin typeface="Archivo"/>
              </a:rPr>
              <a:t>R</a:t>
            </a:r>
            <a:r>
              <a:rPr sz="6600" b="1" i="1">
                <a:solidFill>
                  <a:srgbClr val="AC7E29"/>
                </a:solidFill>
                <a:latin typeface="Archivo"/>
              </a:rPr>
              <a:t>É</a:t>
            </a:r>
            <a:r>
              <a:rPr sz="6600" b="1" i="1">
                <a:solidFill>
                  <a:srgbClr val="B8862B"/>
                </a:solidFill>
                <a:latin typeface="Archivo"/>
              </a:rPr>
              <a:t>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QUATRE PARTIES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1. Poser le cadre — c'est quoi un paradigme, et pourquoi le tien n'est pas le tien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2. Les six axes — où ça se voit dans ton agenda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3. Les compétences transversales — ce qu'il te manque vraiment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4. La méthodologie — comment on travaille ça ensemble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SÉPARATEUR PARTIE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PARTIE 1 / POSER LE CADRE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1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20320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700" b="1" i="0">
                <a:solidFill>
                  <a:srgbClr val="E3A94F"/>
                </a:solidFill>
                <a:latin typeface="Poppins"/>
              </a:rPr>
              <a:t>PARTIE 1 SUR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870200"/>
            <a:ext cx="105664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500" b="1" i="1">
                <a:solidFill>
                  <a:srgbClr val="FFFFFF"/>
                </a:solidFill>
                <a:latin typeface="Archivo"/>
              </a:rPr>
              <a:t>POSER LE CADRE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4699000"/>
            <a:ext cx="1905000" cy="3175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SÉPARATEUR PARTIE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PARTIE 2 / LES SIX AXES »  (celle du pack précédent)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1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20320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700" b="1" i="0">
                <a:solidFill>
                  <a:srgbClr val="E3A94F"/>
                </a:solidFill>
                <a:latin typeface="Poppins"/>
              </a:rPr>
              <a:t>PARTIE 2 SUR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870200"/>
            <a:ext cx="105664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500" b="1" i="1">
                <a:solidFill>
                  <a:srgbClr val="FFFFFF"/>
                </a:solidFill>
                <a:latin typeface="Archivo"/>
              </a:rPr>
              <a:t>LES SIX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4699000"/>
            <a:ext cx="1905000" cy="3175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SÉPARATEUR PARTIE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AVANT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CE QUI TE MANQUE N'EST PAS CE QUE TU CROIS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1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20320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700" b="1" i="0">
                <a:solidFill>
                  <a:srgbClr val="E3A94F"/>
                </a:solidFill>
                <a:latin typeface="Poppins"/>
              </a:rPr>
              <a:t>PARTIE 3 SUR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870200"/>
            <a:ext cx="105664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500" b="1" i="1">
                <a:solidFill>
                  <a:srgbClr val="FFFFFF"/>
                </a:solidFill>
                <a:latin typeface="Archivo"/>
              </a:rPr>
              <a:t>LES COMPÉTENCES TRANSVERSALES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4699000"/>
            <a:ext cx="1905000" cy="3175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SÉPARATEUR PARTIE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PARTIE 3 / LA MÉTHODOLOGIE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1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20320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700" b="1" i="0">
                <a:solidFill>
                  <a:srgbClr val="E3A94F"/>
                </a:solidFill>
                <a:latin typeface="Poppins"/>
              </a:rPr>
              <a:t>PARTIE 4 SUR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870200"/>
            <a:ext cx="105664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500" b="1" i="1">
                <a:solidFill>
                  <a:srgbClr val="FFFFFF"/>
                </a:solidFill>
                <a:latin typeface="Archivo"/>
              </a:rPr>
              <a:t>LA MÉTHODOLOGIE TARIQA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4699000"/>
            <a:ext cx="1905000" cy="3175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RÉSUMÉ DES SIX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LES SIX SONT PASSÉS »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DONC APRÈS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Il s'agit de ce que ton dispositif rend probable. »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ET AVANT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D'accord. Et demain, je fais quoi de tout ce que j'ai déjà appris ?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4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25220" y="2884170"/>
            <a:ext cx="9941560" cy="10896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15720" y="2884170"/>
            <a:ext cx="9560560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1">
                <a:solidFill>
                  <a:srgbClr val="131313"/>
                </a:solidFill>
                <a:latin typeface="Archivo"/>
              </a:rPr>
              <a:t>U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N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E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 </a:t>
            </a:r>
            <a:r>
              <a:rPr sz="6600" b="1" i="1">
                <a:solidFill>
                  <a:srgbClr val="161513"/>
                </a:solidFill>
                <a:latin typeface="Archivo"/>
              </a:rPr>
              <a:t>S</a:t>
            </a:r>
            <a:r>
              <a:rPr sz="6600" b="1" i="1">
                <a:solidFill>
                  <a:srgbClr val="221D15"/>
                </a:solidFill>
                <a:latin typeface="Archivo"/>
              </a:rPr>
              <a:t>E</a:t>
            </a:r>
            <a:r>
              <a:rPr sz="6600" b="1" i="1">
                <a:solidFill>
                  <a:srgbClr val="2F2617"/>
                </a:solidFill>
                <a:latin typeface="Archivo"/>
              </a:rPr>
              <a:t>U</a:t>
            </a:r>
            <a:r>
              <a:rPr sz="6600" b="1" i="1">
                <a:solidFill>
                  <a:srgbClr val="3B2F18"/>
                </a:solidFill>
                <a:latin typeface="Archivo"/>
              </a:rPr>
              <a:t>L</a:t>
            </a:r>
            <a:r>
              <a:rPr sz="6600" b="1" i="1">
                <a:solidFill>
                  <a:srgbClr val="48371A"/>
                </a:solidFill>
                <a:latin typeface="Archivo"/>
              </a:rPr>
              <a:t>E</a:t>
            </a:r>
            <a:r>
              <a:rPr sz="6600" b="1" i="1">
                <a:solidFill>
                  <a:srgbClr val="54401C"/>
                </a:solidFill>
                <a:latin typeface="Archivo"/>
              </a:rPr>
              <a:t> </a:t>
            </a:r>
            <a:r>
              <a:rPr sz="6600" b="1" i="1">
                <a:solidFill>
                  <a:srgbClr val="60491E"/>
                </a:solidFill>
                <a:latin typeface="Archivo"/>
              </a:rPr>
              <a:t>Q</a:t>
            </a:r>
            <a:r>
              <a:rPr sz="6600" b="1" i="1">
                <a:solidFill>
                  <a:srgbClr val="6D5120"/>
                </a:solidFill>
                <a:latin typeface="Archivo"/>
              </a:rPr>
              <a:t>U</a:t>
            </a:r>
            <a:r>
              <a:rPr sz="6600" b="1" i="1">
                <a:solidFill>
                  <a:srgbClr val="795A21"/>
                </a:solidFill>
                <a:latin typeface="Archivo"/>
              </a:rPr>
              <a:t>E</a:t>
            </a:r>
            <a:r>
              <a:rPr sz="6600" b="1" i="1">
                <a:solidFill>
                  <a:srgbClr val="866323"/>
                </a:solidFill>
                <a:latin typeface="Archivo"/>
              </a:rPr>
              <a:t>S</a:t>
            </a:r>
            <a:r>
              <a:rPr sz="6600" b="1" i="1">
                <a:solidFill>
                  <a:srgbClr val="926B25"/>
                </a:solidFill>
                <a:latin typeface="Archivo"/>
              </a:rPr>
              <a:t>T</a:t>
            </a:r>
            <a:r>
              <a:rPr sz="6600" b="1" i="1">
                <a:solidFill>
                  <a:srgbClr val="9F7427"/>
                </a:solidFill>
                <a:latin typeface="Archivo"/>
              </a:rPr>
              <a:t>I</a:t>
            </a:r>
            <a:r>
              <a:rPr sz="6600" b="1" i="1">
                <a:solidFill>
                  <a:srgbClr val="AB7D29"/>
                </a:solidFill>
                <a:latin typeface="Archivo"/>
              </a:rPr>
              <a:t>O</a:t>
            </a:r>
            <a:r>
              <a:rPr sz="6600" b="1" i="1">
                <a:solidFill>
                  <a:srgbClr val="B8862B"/>
                </a:solidFill>
                <a:latin typeface="Archivo"/>
              </a:rPr>
              <a:t>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</a:pPr>
            <a:r>
              <a:rPr sz="3900" b="1" i="1">
                <a:solidFill>
                  <a:srgbClr val="FFFFFF"/>
                </a:solidFill>
                <a:latin typeface="Archivo"/>
              </a:rPr>
              <a:t>QU'EST-CE QUE JE CHANGE</a:t>
            </a:r>
          </a:p>
          <a:p>
            <a:pPr algn="ctr">
              <a:lnSpc>
                <a:spcPct val="106000"/>
              </a:lnSpc>
            </a:pPr>
            <a:r>
              <a:rPr sz="3900" b="1" i="1">
                <a:solidFill>
                  <a:srgbClr val="FFFFFF"/>
                </a:solidFill>
                <a:latin typeface="Archivo"/>
              </a:rPr>
              <a:t>CHEZ MOI, DÈS LUNDI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LES SIX AXES, ET L'ACTION QUI VA AVEC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1. La finalité → écris pour quoi tu fais ça, puis ouvre ton agenda</a:t>
            </a: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2. La mesure → une ligne non chiffrable, tout en haut du tableau de bord</a:t>
            </a: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3. Le profit et le risque → qui perd quoi, si ça tourne mal ?</a:t>
            </a: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4. La croissance et la dette → ce rythme, je le tiens encore dans deux ans ?</a:t>
            </a: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5. La concurrence → recommande un concurrent, publiquement</a:t>
            </a:r>
          </a:p>
          <a:p>
            <a:pPr algn="l">
              <a:lnSpc>
                <a:spcPct val="142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6. Le client et l'effet → qu'est-ce que j'installe chez mes clients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Prends-en une.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Une seule.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Celle qui t'a le plus gêné ce soir.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ET MES OUTILS ACTUELS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APRÈS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D'accord. Et demain, je fais quoi de tout ce que j'ai déjà appris ? »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ALORS ON JETTE TOUT ? » et tout le bloc Ghazâlî / Bennabi / méthode en deux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4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</a:pPr>
            <a:r>
              <a:rPr sz="5000" b="1" i="1">
                <a:solidFill>
                  <a:srgbClr val="FFFFFF"/>
                </a:solidFill>
                <a:latin typeface="Archivo"/>
              </a:rPr>
              <a:t>ET TOUT CE QUE J'AI DÉJÀ APPRIS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On ne jette rien.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On règle.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1500"/>
              </a:spcAft>
            </a:pPr>
            <a:r>
              <a:rPr sz="3000" b="1" i="0">
                <a:solidFill>
                  <a:srgbClr val="FFFFFF"/>
                </a:solidFill>
                <a:latin typeface="Oswald"/>
              </a:rPr>
              <a:t>L'IDÉE N'EST PAS DE TOUT REJETER. ON NE PEUT QU'EMPRUNTER. LA QUESTION, C'EST COMMENT.</a:t>
            </a:r>
          </a:p>
          <a:p>
            <a:pPr algn="ctr">
              <a:spcAft>
                <a:spcPts val="1700"/>
              </a:spcAft>
            </a:pPr>
            <a:r>
              <a:rPr sz="1400" b="0" i="1">
                <a:solidFill>
                  <a:srgbClr val="E3A94F"/>
                </a:solidFill>
                <a:latin typeface="Poppins"/>
              </a:rPr>
              <a:t>— Dr Chauki Lazhar, spécialiste des fondements du droit 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DEUX QUESTIONS AVANT D'ADOPTER UN OUTIL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1. D'où il vient ? Quelle idée de la réussite il transporte sans le dire ?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2. Qu'est-ce qu'il produit chez les gens ?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E3A94F"/>
                </a:solidFill>
                <a:latin typeface="Poppins"/>
              </a:rPr>
              <a:t>👉 Et c'est tout. Deux questions, sur n'importe quelle formation, n'importe quelle méthode.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CE QUE TU EMPORTES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ta séquence « CE QUE TU EMPORTES » : le titre et les trois slides 1️⃣ 2️⃣ 3️⃣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5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25220" y="2884170"/>
            <a:ext cx="9941560" cy="10896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15720" y="2884170"/>
            <a:ext cx="9560560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1">
                <a:solidFill>
                  <a:srgbClr val="131313"/>
                </a:solidFill>
                <a:latin typeface="Archivo"/>
              </a:rPr>
              <a:t>C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E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 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Q</a:t>
            </a:r>
            <a:r>
              <a:rPr sz="6600" b="1" i="1">
                <a:solidFill>
                  <a:srgbClr val="161513"/>
                </a:solidFill>
                <a:latin typeface="Archivo"/>
              </a:rPr>
              <a:t>U</a:t>
            </a:r>
            <a:r>
              <a:rPr sz="6600" b="1" i="1">
                <a:solidFill>
                  <a:srgbClr val="221D15"/>
                </a:solidFill>
                <a:latin typeface="Archivo"/>
              </a:rPr>
              <a:t>E</a:t>
            </a:r>
            <a:r>
              <a:rPr sz="6600" b="1" i="1">
                <a:solidFill>
                  <a:srgbClr val="2F2617"/>
                </a:solidFill>
                <a:latin typeface="Archivo"/>
              </a:rPr>
              <a:t> </a:t>
            </a:r>
            <a:r>
              <a:rPr sz="6600" b="1" i="1">
                <a:solidFill>
                  <a:srgbClr val="3B2F18"/>
                </a:solidFill>
                <a:latin typeface="Archivo"/>
              </a:rPr>
              <a:t>T</a:t>
            </a:r>
            <a:r>
              <a:rPr sz="6600" b="1" i="1">
                <a:solidFill>
                  <a:srgbClr val="48371A"/>
                </a:solidFill>
                <a:latin typeface="Archivo"/>
              </a:rPr>
              <a:t>U</a:t>
            </a:r>
            <a:r>
              <a:rPr sz="6600" b="1" i="1">
                <a:solidFill>
                  <a:srgbClr val="54401C"/>
                </a:solidFill>
                <a:latin typeface="Archivo"/>
              </a:rPr>
              <a:t> </a:t>
            </a:r>
            <a:r>
              <a:rPr sz="6600" b="1" i="1">
                <a:solidFill>
                  <a:srgbClr val="60491E"/>
                </a:solidFill>
                <a:latin typeface="Archivo"/>
              </a:rPr>
              <a:t>E</a:t>
            </a:r>
            <a:r>
              <a:rPr sz="6600" b="1" i="1">
                <a:solidFill>
                  <a:srgbClr val="6D5120"/>
                </a:solidFill>
                <a:latin typeface="Archivo"/>
              </a:rPr>
              <a:t>M</a:t>
            </a:r>
            <a:r>
              <a:rPr sz="6600" b="1" i="1">
                <a:solidFill>
                  <a:srgbClr val="795A21"/>
                </a:solidFill>
                <a:latin typeface="Archivo"/>
              </a:rPr>
              <a:t>P</a:t>
            </a:r>
            <a:r>
              <a:rPr sz="6600" b="1" i="1">
                <a:solidFill>
                  <a:srgbClr val="866323"/>
                </a:solidFill>
                <a:latin typeface="Archivo"/>
              </a:rPr>
              <a:t>O</a:t>
            </a:r>
            <a:r>
              <a:rPr sz="6600" b="1" i="1">
                <a:solidFill>
                  <a:srgbClr val="926B25"/>
                </a:solidFill>
                <a:latin typeface="Archivo"/>
              </a:rPr>
              <a:t>R</a:t>
            </a:r>
            <a:r>
              <a:rPr sz="6600" b="1" i="1">
                <a:solidFill>
                  <a:srgbClr val="9F7427"/>
                </a:solidFill>
                <a:latin typeface="Archivo"/>
              </a:rPr>
              <a:t>T</a:t>
            </a:r>
            <a:r>
              <a:rPr sz="6600" b="1" i="1">
                <a:solidFill>
                  <a:srgbClr val="AB7D29"/>
                </a:solidFill>
                <a:latin typeface="Archivo"/>
              </a:rPr>
              <a:t>E</a:t>
            </a:r>
            <a:r>
              <a:rPr sz="6600" b="1" i="1">
                <a:solidFill>
                  <a:srgbClr val="B8862B"/>
                </a:solidFill>
                <a:latin typeface="Archivo"/>
              </a:rPr>
              <a:t>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Tu es venu chercher des techniques.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Tu repars avec une question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à te poser avant chaque technique.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TROIS QUESTIONS, SUR TON ACTIVITÉ ET SUR CHACUN DE TES OUTILS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E3A94F"/>
                </a:solidFill>
                <a:latin typeface="Poppins"/>
              </a:rPr>
              <a:t>👉 Est-ce que ça crée de la DÉPENDANCE ?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E3A94F"/>
                </a:solidFill>
                <a:latin typeface="Poppins"/>
              </a:rPr>
              <a:t>👉 Est-ce que ça crée de l'AVEUGLEMENT ?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E3A94F"/>
                </a:solidFill>
                <a:latin typeface="Poppins"/>
              </a:rPr>
              <a:t>👉 Est-ce que ça crée de l'EXCÈS 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Trois questions.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Aucune compétence religieuse nécessaire.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Tu peux les poser dès lundi matin.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Halal répond à : est-ce que j'ai le droit ?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Ça ne répond pas à :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est-ce que c'est ce que je dois faire 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762000"/>
            <a:ext cx="1028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414"/>
                </a:solidFill>
                <a:latin typeface="Poppins"/>
              </a:rPr>
              <a:t>À INSÉRER DANS TON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587500"/>
            <a:ext cx="10287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200" b="1" i="1">
                <a:solidFill>
                  <a:srgbClr val="141414"/>
                </a:solidFill>
                <a:latin typeface="Archivo"/>
              </a:rPr>
              <a:t>SOYONS HONNÊTES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3175000"/>
            <a:ext cx="1651000" cy="50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3556000"/>
            <a:ext cx="10287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APRÈS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le bloc « CE QUE TU EMPORTES » que tu viens de poser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REMPLACE aussi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ET CE QU'ON NE SAIT PAS ENCORE »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41414"/>
                </a:solidFill>
                <a:latin typeface="Poppins"/>
              </a:rPr>
              <a:t>AVANT ta slide</a:t>
            </a:r>
          </a:p>
          <a:p>
            <a:pPr algn="l">
              <a:lnSpc>
                <a:spcPct val="134000"/>
              </a:lnSpc>
              <a:spcAft>
                <a:spcPts val="1300"/>
              </a:spcAft>
            </a:pPr>
            <a:r>
              <a:rPr sz="1900" b="0" i="0">
                <a:solidFill>
                  <a:srgbClr val="141414"/>
                </a:solidFill>
                <a:latin typeface="Poppins"/>
              </a:rPr>
              <a:t>« LE QUIZ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5905500"/>
            <a:ext cx="10287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141414"/>
                </a:solidFill>
                <a:latin typeface="Poppins"/>
              </a:rPr>
              <a:t>Les 5 slides qui suivent forment ce bloc. Cette page-ci ne va pas dans le deck.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79600" y="2884170"/>
            <a:ext cx="8432800" cy="10896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70100" y="2884170"/>
            <a:ext cx="8051800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1">
                <a:solidFill>
                  <a:srgbClr val="131313"/>
                </a:solidFill>
                <a:latin typeface="Archivo"/>
              </a:rPr>
              <a:t>S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O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Y</a:t>
            </a:r>
            <a:r>
              <a:rPr sz="6600" b="1" i="1">
                <a:solidFill>
                  <a:srgbClr val="131313"/>
                </a:solidFill>
                <a:latin typeface="Archivo"/>
              </a:rPr>
              <a:t>O</a:t>
            </a:r>
            <a:r>
              <a:rPr sz="6600" b="1" i="1">
                <a:solidFill>
                  <a:srgbClr val="201C15"/>
                </a:solidFill>
                <a:latin typeface="Archivo"/>
              </a:rPr>
              <a:t>N</a:t>
            </a:r>
            <a:r>
              <a:rPr sz="6600" b="1" i="1">
                <a:solidFill>
                  <a:srgbClr val="302717"/>
                </a:solidFill>
                <a:latin typeface="Archivo"/>
              </a:rPr>
              <a:t>S</a:t>
            </a:r>
            <a:r>
              <a:rPr sz="6600" b="1" i="1">
                <a:solidFill>
                  <a:srgbClr val="3F3119"/>
                </a:solidFill>
                <a:latin typeface="Archivo"/>
              </a:rPr>
              <a:t> </a:t>
            </a:r>
            <a:r>
              <a:rPr sz="6600" b="1" i="1">
                <a:solidFill>
                  <a:srgbClr val="4E3C1B"/>
                </a:solidFill>
                <a:latin typeface="Archivo"/>
              </a:rPr>
              <a:t>H</a:t>
            </a:r>
            <a:r>
              <a:rPr sz="6600" b="1" i="1">
                <a:solidFill>
                  <a:srgbClr val="5D461D"/>
                </a:solidFill>
                <a:latin typeface="Archivo"/>
              </a:rPr>
              <a:t>O</a:t>
            </a:r>
            <a:r>
              <a:rPr sz="6600" b="1" i="1">
                <a:solidFill>
                  <a:srgbClr val="6C5120"/>
                </a:solidFill>
                <a:latin typeface="Archivo"/>
              </a:rPr>
              <a:t>N</a:t>
            </a:r>
            <a:r>
              <a:rPr sz="6600" b="1" i="1">
                <a:solidFill>
                  <a:srgbClr val="7B5B22"/>
                </a:solidFill>
                <a:latin typeface="Archivo"/>
              </a:rPr>
              <a:t>N</a:t>
            </a:r>
            <a:r>
              <a:rPr sz="6600" b="1" i="1">
                <a:solidFill>
                  <a:srgbClr val="8A6624"/>
                </a:solidFill>
                <a:latin typeface="Archivo"/>
              </a:rPr>
              <a:t>Ê</a:t>
            </a:r>
            <a:r>
              <a:rPr sz="6600" b="1" i="1">
                <a:solidFill>
                  <a:srgbClr val="997026"/>
                </a:solidFill>
                <a:latin typeface="Archivo"/>
              </a:rPr>
              <a:t>T</a:t>
            </a:r>
            <a:r>
              <a:rPr sz="6600" b="1" i="1">
                <a:solidFill>
                  <a:srgbClr val="A87B28"/>
                </a:solidFill>
                <a:latin typeface="Archivo"/>
              </a:rPr>
              <a:t>E</a:t>
            </a:r>
            <a:r>
              <a:rPr sz="6600" b="1" i="1">
                <a:solidFill>
                  <a:srgbClr val="B8862B"/>
                </a:solidFill>
                <a:latin typeface="Archivo"/>
              </a:rPr>
              <a:t>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On n'est pas venus vous définir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le paradigme de l'entrepreneur musulman.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On n'en est pas là.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CE QU'ON A FAIT CE SOIR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On vous a posé les questions qui nous travaillent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On vous a montré où on en est de notre propre réflexion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On essaie nous-mêmes d'incarner tout ça, et on n'y arrive pas tous les jours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E3A94F"/>
                </a:solidFill>
                <a:latin typeface="Poppins"/>
              </a:rPr>
              <a:t>👉 C'est un chantier. Pas une conclusion.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523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Un paradigme, ce n'est pas un document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FFFFFF"/>
                </a:solidFill>
                <a:latin typeface="Poppins"/>
              </a:rPr>
              <a:t>qu'on adopte et qu'on applique.</a:t>
            </a:r>
          </a:p>
          <a:p>
            <a:pPr algn="ctr">
              <a:lnSpc>
                <a:spcPct val="134000"/>
              </a:lnSpc>
              <a:spcAft>
                <a:spcPts val="900"/>
              </a:spcAft>
            </a:pPr>
            <a:r>
              <a:rPr sz="2600" b="0" i="0">
                <a:solidFill>
                  <a:srgbClr val="E3A94F"/>
                </a:solidFill>
                <a:latin typeface="Poppins"/>
              </a:rPr>
              <a:t>C'est une remise en question qui ne s'arrête pas.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812800"/>
            <a:ext cx="105664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1">
                <a:solidFill>
                  <a:srgbClr val="FFFFFF"/>
                </a:solidFill>
                <a:latin typeface="Archivo"/>
              </a:rPr>
              <a:t>ET CE QU'ON NE SAIT PAS ENCORE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79600"/>
            <a:ext cx="1143000" cy="25400"/>
          </a:xfrm>
          <a:prstGeom prst="rect">
            <a:avLst/>
          </a:prstGeom>
          <a:solidFill>
            <a:srgbClr val="E3A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2222500"/>
            <a:ext cx="10566400" cy="3822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Le prix juste — pas de barème possible, et pourtant le déséquilibre excessif existe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L'abonnement, les places de marché — le droit des transactions n'a pas fini d'y répondre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Et la question qu'on ne tranche pas : que faire quand un marché entier</a:t>
            </a:r>
          </a:p>
          <a:p>
            <a:pPr algn="l">
              <a:lnSpc>
                <a:spcPct val="142000"/>
              </a:lnSpc>
              <a:spcAft>
                <a:spcPts val="900"/>
              </a:spcAft>
            </a:pPr>
            <a:r>
              <a:rPr sz="1850" b="0" i="0">
                <a:solidFill>
                  <a:srgbClr val="FFFFFF"/>
                </a:solidFill>
                <a:latin typeface="Poppins"/>
              </a:rPr>
              <a:t>repose sur une pratique qu'on refuse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