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 / A · Programme]  → INSÉRER EN REMPLACEMENT de tes trois slides 1️⃣ 2️⃣ 3️⃣ qui suivent « CE SOIR, TU REPARS AVEC TROIS CHOSES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 / A · Programme]  ↑ suite du bloc « A · Programme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 / A · Programme]  ↑ suite du bloc « A · Programme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 / B · Laïcité cérébrale]  → INSÉRER APRÈS ta slide « On a tous appris à vérifier le comment. Personne ne nous a appris à vérifier le vers quoi.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 / B · Laïcité cérébrale]  ↑ suite du bloc « B · Laïcité cérébrale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 / B · Laïcité cérébrale]  ↑ suite du bloc « B · Laïcité cérébrale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[07 / B · Laïcité cérébrale]  ↑ suite du bloc « B · Laïcité cérébrale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 / B · Laïcité cérébrale]  ↑ suite du bloc « B · Laïcité cérébrale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 / B · Laïcité cérébrale]  ↑ suite du bloc « B · Laïcité cérébrale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 / B · Laïcité cérébrale]  ↑ suite du bloc « B · Laïcité cérébrale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 / B · Laïcité cérébrale]  ↑ suite du bloc « B · Laïcité cérébrale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 / C · Syndrome de la réplication]  → INSÉRER APRÈS ta slide « Tu en as un. La question n'est pas si. La question est lequel.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 / C · Syndrome de la réplication]  ↑ suite du bloc « C · Syndrome de la réplication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 / C · Syndrome de la réplication]  ↑ suite du bloc « C · Syndrome de la réplication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 / C · Syndrome de la réplication]  ↑ suite du bloc « C · Syndrome de la réplication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[16 / C · Syndrome de la réplication]  ↑ suite du bloc « C · Syndrome de la réplication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 / C · Syndrome de la réplication]  ↑ suite du bloc « C · Syndrome de la réplication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 / C · Syndrome de la réplication]  ↑ suite du bloc « C · Syndrome de la réplication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 / D · Le filtre]  → INSÉRER APRÈS ta slide « MAIS MOI J'AI DÉJÀ NETTOYÉ », donc AVANT ta slide VS « LE FILTRE / LE PARADIGME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 / D · Le filtre]  ↑ suite du bloc « D · Le filtre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 / D · Le filtre]  ↑ suite du bloc « D · Le filtre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 / D · Le filtre]  ↑ suite du bloc « D · Le filtre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[23 / D bis · Le filtre]  → INSÉRER APRÈS ta slide « Alors il n'y a rien chez nous ? Si. Énormément.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[24 / E · Transition]  → INSÉRER AVANT ta slide « ON ARRÊTE LA THÉORIE ». Ta PARTIE 2 n'existe pas : c'est celle-ci.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/ E bis · Transition]  → INSÉRER ENTRE ta slide « ON ARRÊTE LA THÉORIE » et ta slide « SIX ENDROITS OÙ ÇA SE VOIT DANS TON AGENDA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[26 / E bis · Transition]  ↑ suite du bloc « E bis · Transition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 / F · Axe 1, le moteur]  → INSÉRER AVANT ta slide Milton Friedman « LA RESPONSABILITÉ SOCIALE DE L'ENTREPRISE…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[28 / F · Axe 1, le moteur]  ↑ suite du bloc « F · Axe 1, le moteur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 / F bis · Axe 1, le Riḍā]  → INSÉRER AVANT ta slide du verset 6:162 « Dis : en vérité, ma prière… » — tu l'as déjà, je ne la redonne pas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/ F ter · Axe 1, le Riḍā]  → INSÉRER APRÈS ta slide du verset 6:162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 / G · Compétences transversales]  → INSÉRER ENTRE ta slide « Ce qu'on jette, ce n'est pas l'efficacité. C'est le mensonge. » et ta slide « LA MÉTHODE, EN UNE PAGE ». Et remonte ta slide PARTIE 3 juste après ce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[32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[34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[37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[38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[39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[41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[42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[43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[44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[46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[47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[49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[51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[53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[54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[55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[56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[57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[58 / G · Compétences transversales]  ↑ suite du bloc « G · Compétences transversales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1️⃣ CE QUE NOTRE DÎN DIT DU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Pas de ton produit. Pas de ton financement.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Du business lui-même : à quoi il sert, quand il est réussi, ce qu'il te demande.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2️⃣ SIX DÉCISIONS QUE TU PRENDRAS AUTREMENT DÈS LUNDI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Comment tu fixes ton prix. Ce que tu fais quand un concurrent s'installe.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Ce que tu proposes à un client qui va mieux. Quand tu décides de grandir.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Pour chacune : ce que tu changes concrètement, dès cette semaine.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3️⃣ NOTRE MÉTHODOLOGIE POUR ENTREPRENDRE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Six piliers, et les techniques modernes qui s'y branchent —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marketing digital, vente, IA — une fois orientées par le bon cap.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Pas une philosophie. Un mode d'emploi.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2300" y="2884170"/>
            <a:ext cx="1094740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884170"/>
            <a:ext cx="1056640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L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A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 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L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A</a:t>
            </a:r>
            <a:r>
              <a:rPr sz="6600" b="1" i="1">
                <a:solidFill>
                  <a:srgbClr val="1C1914"/>
                </a:solidFill>
                <a:latin typeface="Archivo"/>
              </a:rPr>
              <a:t>Ï</a:t>
            </a:r>
            <a:r>
              <a:rPr sz="6600" b="1" i="1">
                <a:solidFill>
                  <a:srgbClr val="272115"/>
                </a:solidFill>
                <a:latin typeface="Archivo"/>
              </a:rPr>
              <a:t>C</a:t>
            </a:r>
            <a:r>
              <a:rPr sz="6600" b="1" i="1">
                <a:solidFill>
                  <a:srgbClr val="322817"/>
                </a:solidFill>
                <a:latin typeface="Archivo"/>
              </a:rPr>
              <a:t>I</a:t>
            </a:r>
            <a:r>
              <a:rPr sz="6600" b="1" i="1">
                <a:solidFill>
                  <a:srgbClr val="3D3019"/>
                </a:solidFill>
                <a:latin typeface="Archivo"/>
              </a:rPr>
              <a:t>T</a:t>
            </a:r>
            <a:r>
              <a:rPr sz="6600" b="1" i="1">
                <a:solidFill>
                  <a:srgbClr val="48381A"/>
                </a:solidFill>
                <a:latin typeface="Archivo"/>
              </a:rPr>
              <a:t>É</a:t>
            </a:r>
            <a:r>
              <a:rPr sz="6600" b="1" i="1">
                <a:solidFill>
                  <a:srgbClr val="53401C"/>
                </a:solidFill>
                <a:latin typeface="Archivo"/>
              </a:rPr>
              <a:t> </a:t>
            </a:r>
            <a:r>
              <a:rPr sz="6600" b="1" i="1">
                <a:solidFill>
                  <a:srgbClr val="5E471E"/>
                </a:solidFill>
                <a:latin typeface="Archivo"/>
              </a:rPr>
              <a:t>C</a:t>
            </a:r>
            <a:r>
              <a:rPr sz="6600" b="1" i="1">
                <a:solidFill>
                  <a:srgbClr val="6A4F1F"/>
                </a:solidFill>
                <a:latin typeface="Archivo"/>
              </a:rPr>
              <a:t>É</a:t>
            </a:r>
            <a:r>
              <a:rPr sz="6600" b="1" i="1">
                <a:solidFill>
                  <a:srgbClr val="755721"/>
                </a:solidFill>
                <a:latin typeface="Archivo"/>
              </a:rPr>
              <a:t>R</a:t>
            </a:r>
            <a:r>
              <a:rPr sz="6600" b="1" i="1">
                <a:solidFill>
                  <a:srgbClr val="805F22"/>
                </a:solidFill>
                <a:latin typeface="Archivo"/>
              </a:rPr>
              <a:t>É</a:t>
            </a:r>
            <a:r>
              <a:rPr sz="6600" b="1" i="1">
                <a:solidFill>
                  <a:srgbClr val="8B6624"/>
                </a:solidFill>
                <a:latin typeface="Archivo"/>
              </a:rPr>
              <a:t>B</a:t>
            </a:r>
            <a:r>
              <a:rPr sz="6600" b="1" i="1">
                <a:solidFill>
                  <a:srgbClr val="966E26"/>
                </a:solidFill>
                <a:latin typeface="Archivo"/>
              </a:rPr>
              <a:t>R</a:t>
            </a:r>
            <a:r>
              <a:rPr sz="6600" b="1" i="1">
                <a:solidFill>
                  <a:srgbClr val="A17627"/>
                </a:solidFill>
                <a:latin typeface="Archivo"/>
              </a:rPr>
              <a:t>A</a:t>
            </a:r>
            <a:r>
              <a:rPr sz="6600" b="1" i="1">
                <a:solidFill>
                  <a:srgbClr val="AC7E29"/>
                </a:solidFill>
                <a:latin typeface="Archivo"/>
              </a:rPr>
              <a:t>L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Tu pries.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Tu jeûnes.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Et tu ouvres ton business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Et à ce moment-là, sans t'en rendre compte,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tu as fermé une porte.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DEUX TIROIRS, ET ON N'OUVRE JAMAIS LES DEUX EN MÊME TEMPS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Le tiroir du dîn — la prière, le jeûne, le licite et l'illicite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Le tiroir du business — le prix, la marge, la croissance, la concurrence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On vérifie que le second ne contredit pas le premier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Mais on ne demande jamais au premier ce qu'il a à dire sur le second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Ce n'est pas de l'hypocrisie.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C'est une habitude de séparation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qu'on a prise sans la décider.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Sauf que notre dîn n'a pas un avis sur le business.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Il a une vision de la vie.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Et le business est dedans.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Oswald"/>
              </a:rPr>
              <a:t>OÙ ON VA CHERCHER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9200"/>
            <a:ext cx="6985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Elon Musk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Alex Hormozi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Un podcast américain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Des méthodes qui ont dix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57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A94F"/>
                </a:solidFill>
                <a:latin typeface="Oswald"/>
              </a:rPr>
              <a:t>CE QU'ON A CHEZ NOUS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5700" y="2489200"/>
            <a:ext cx="6985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57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ʿAbd ar-Rahmān ibn ʿAwf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ʿUthmān ibn ʿAffān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Quatorze siècles de fiqh al-muʿāmalāt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Une bibliothèque qu'on n'a pas ouverte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0" y="3048000"/>
            <a:ext cx="1016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500" b="1" i="1">
                <a:solidFill>
                  <a:srgbClr val="FFFFFF"/>
                </a:solidFill>
                <a:latin typeface="Archivo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Ce n'est pas un procès de ceux qu'on écoute.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C'est une question :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pourquoi on ne lit jamais les nôtres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5000" b="1" i="1">
                <a:solidFill>
                  <a:srgbClr val="FFFFFF"/>
                </a:solidFill>
                <a:latin typeface="Archivo"/>
              </a:rPr>
              <a:t>LE SYNDROME DE LA RÉPLICATION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On prend un modèle qui vient d'ailleurs.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On en retire ce qui est visiblement interdit.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Et on croit qu'on l'a fait nôtre.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3900" b="1" i="1">
                <a:solidFill>
                  <a:srgbClr val="FFFFFF"/>
                </a:solidFill>
                <a:latin typeface="Archivo"/>
              </a:rPr>
              <a:t>LE CAS LE PLUS EMBLÉMATIQUE</a:t>
            </a:r>
          </a:p>
          <a:p>
            <a:pPr algn="ctr">
              <a:lnSpc>
                <a:spcPct val="106000"/>
              </a:lnSpc>
            </a:pPr>
            <a:r>
              <a:rPr sz="3900" b="1" i="1">
                <a:solidFill>
                  <a:srgbClr val="FFFFFF"/>
                </a:solidFill>
                <a:latin typeface="Archivo"/>
              </a:rPr>
              <a:t>LE DÉVELOPPEMENT PERSONNEL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Oswald"/>
              </a:rPr>
              <a:t>CE QU'ON A ENLEVÉ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9200"/>
            <a:ext cx="6985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La loi d'attraction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Le vocabulaire ésotérique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La visualisation créatrice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On a ajouté bismillah en 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57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A94F"/>
                </a:solidFill>
                <a:latin typeface="Oswald"/>
              </a:rPr>
              <a:t>CE QUI N'A PAS BOUGÉ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5700" y="2489200"/>
            <a:ext cx="6985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57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Tout est organisé autour d'un seul centre : toi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Tu es un projet inachevé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Ta responsabilité est de te perfectionner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Le sens se trouve à l'intérieur de toi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0" y="3048000"/>
            <a:ext cx="1016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500" b="1" i="1">
                <a:solidFill>
                  <a:srgbClr val="FFFFFF"/>
                </a:solidFill>
                <a:latin typeface="Archivo"/>
              </a:rPr>
              <a:t>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Dieu n'y est pas absent parce qu'on l'aurait chassé.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Il n'y est pas parce que l'architecture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n'a pas prévu de place pour Lui.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ET LES OUTILS, ON LES AVAIT DÉJÀ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Se lever avant l'aube — le fajr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Se priver volontairement pour reprendre la main — le jeûne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La gratitude — le shukr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Le bilan de soi — la muhāsaba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La réflexion — le tafakkur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On ne t'a pas vendu une méthode nouvelle.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On t'a revendu la tienne,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en lui retirant son destinataire.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88360" y="2884170"/>
            <a:ext cx="541528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78860" y="2884170"/>
            <a:ext cx="503428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L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E</a:t>
            </a:r>
            <a:r>
              <a:rPr sz="6600" b="1" i="1">
                <a:solidFill>
                  <a:srgbClr val="191713"/>
                </a:solidFill>
                <a:latin typeface="Archivo"/>
              </a:rPr>
              <a:t> </a:t>
            </a:r>
            <a:r>
              <a:rPr sz="6600" b="1" i="1">
                <a:solidFill>
                  <a:srgbClr val="332917"/>
                </a:solidFill>
                <a:latin typeface="Archivo"/>
              </a:rPr>
              <a:t>F</a:t>
            </a:r>
            <a:r>
              <a:rPr sz="6600" b="1" i="1">
                <a:solidFill>
                  <a:srgbClr val="4E3C1B"/>
                </a:solidFill>
                <a:latin typeface="Archivo"/>
              </a:rPr>
              <a:t>I</a:t>
            </a:r>
            <a:r>
              <a:rPr sz="6600" b="1" i="1">
                <a:solidFill>
                  <a:srgbClr val="684E1F"/>
                </a:solidFill>
                <a:latin typeface="Archivo"/>
              </a:rPr>
              <a:t>L</a:t>
            </a:r>
            <a:r>
              <a:rPr sz="6600" b="1" i="1">
                <a:solidFill>
                  <a:srgbClr val="836123"/>
                </a:solidFill>
                <a:latin typeface="Archivo"/>
              </a:rPr>
              <a:t>T</a:t>
            </a:r>
            <a:r>
              <a:rPr sz="6600" b="1" i="1">
                <a:solidFill>
                  <a:srgbClr val="9D7327"/>
                </a:solidFill>
                <a:latin typeface="Archivo"/>
              </a:rPr>
              <a:t>R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CE RÉFLEXE, ON L'A TOUS APPRIS, ET IL EST BON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Une pratique se présente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Tu demandes : est-ce que c'est licite ?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Selon la réponse, tu gardes ou tu jettes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Il a protégé des milliers d'entrepreneurs. Rien ici ne vise à l'affaiblir.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Mais il a une limite,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et elle est structurelle.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Il opère sur les actes, un par un.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Jamais sur le cadre qui les produit.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Et pendant ce temps, on a tout ce qu'il faut.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On ne l'a simplement jamais sorti de la bibliothèque.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2032000"/>
            <a:ext cx="10566400" cy="762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 i="0">
                <a:solidFill>
                  <a:srgbClr val="E3A94F"/>
                </a:solidFill>
                <a:latin typeface="Poppins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70200"/>
            <a:ext cx="10566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5500" b="1" i="1">
                <a:solidFill>
                  <a:srgbClr val="FFFFFF"/>
                </a:solidFill>
                <a:latin typeface="Archivo"/>
              </a:rPr>
              <a:t>LES SIX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4699000"/>
            <a:ext cx="1905000" cy="3175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Tout ce qu'on vient de dire ne vaut rien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si tu ne peux pas le voir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dans ton agenda de la semaine dernière.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Alors regardons où ça se voit.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Six endroits précis.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884170"/>
            <a:ext cx="1117600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8500" y="2884170"/>
            <a:ext cx="1079500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L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E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 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M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O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T</a:t>
            </a:r>
            <a:r>
              <a:rPr sz="6600" b="1" i="1">
                <a:solidFill>
                  <a:srgbClr val="191713"/>
                </a:solidFill>
                <a:latin typeface="Archivo"/>
              </a:rPr>
              <a:t>E</a:t>
            </a:r>
            <a:r>
              <a:rPr sz="6600" b="1" i="1">
                <a:solidFill>
                  <a:srgbClr val="221D15"/>
                </a:solidFill>
                <a:latin typeface="Archivo"/>
              </a:rPr>
              <a:t>U</a:t>
            </a:r>
            <a:r>
              <a:rPr sz="6600" b="1" i="1">
                <a:solidFill>
                  <a:srgbClr val="2A2316"/>
                </a:solidFill>
                <a:latin typeface="Archivo"/>
              </a:rPr>
              <a:t>R</a:t>
            </a:r>
            <a:r>
              <a:rPr sz="6600" b="1" i="1">
                <a:solidFill>
                  <a:srgbClr val="332917"/>
                </a:solidFill>
                <a:latin typeface="Archivo"/>
              </a:rPr>
              <a:t> </a:t>
            </a:r>
            <a:r>
              <a:rPr sz="6600" b="1" i="1">
                <a:solidFill>
                  <a:srgbClr val="3C2F19"/>
                </a:solidFill>
                <a:latin typeface="Archivo"/>
              </a:rPr>
              <a:t>D</a:t>
            </a:r>
            <a:r>
              <a:rPr sz="6600" b="1" i="1">
                <a:solidFill>
                  <a:srgbClr val="45361A"/>
                </a:solidFill>
                <a:latin typeface="Archivo"/>
              </a:rPr>
              <a:t>E</a:t>
            </a:r>
            <a:r>
              <a:rPr sz="6600" b="1" i="1">
                <a:solidFill>
                  <a:srgbClr val="4E3C1B"/>
                </a:solidFill>
                <a:latin typeface="Archivo"/>
              </a:rPr>
              <a:t> </a:t>
            </a:r>
            <a:r>
              <a:rPr sz="6600" b="1" i="1">
                <a:solidFill>
                  <a:srgbClr val="57421C"/>
                </a:solidFill>
                <a:latin typeface="Archivo"/>
              </a:rPr>
              <a:t>L</a:t>
            </a:r>
            <a:r>
              <a:rPr sz="6600" b="1" i="1">
                <a:solidFill>
                  <a:srgbClr val="5F481E"/>
                </a:solidFill>
                <a:latin typeface="Archivo"/>
              </a:rPr>
              <a:t>A</a:t>
            </a:r>
            <a:r>
              <a:rPr sz="6600" b="1" i="1">
                <a:solidFill>
                  <a:srgbClr val="684E1F"/>
                </a:solidFill>
                <a:latin typeface="Archivo"/>
              </a:rPr>
              <a:t> </a:t>
            </a:r>
            <a:r>
              <a:rPr sz="6600" b="1" i="1">
                <a:solidFill>
                  <a:srgbClr val="715420"/>
                </a:solidFill>
                <a:latin typeface="Archivo"/>
              </a:rPr>
              <a:t>M</a:t>
            </a:r>
            <a:r>
              <a:rPr sz="6600" b="1" i="1">
                <a:solidFill>
                  <a:srgbClr val="7A5A22"/>
                </a:solidFill>
                <a:latin typeface="Archivo"/>
              </a:rPr>
              <a:t>O</a:t>
            </a:r>
            <a:r>
              <a:rPr sz="6600" b="1" i="1">
                <a:solidFill>
                  <a:srgbClr val="836123"/>
                </a:solidFill>
                <a:latin typeface="Archivo"/>
              </a:rPr>
              <a:t>D</a:t>
            </a:r>
            <a:r>
              <a:rPr sz="6600" b="1" i="1">
                <a:solidFill>
                  <a:srgbClr val="8B6724"/>
                </a:solidFill>
                <a:latin typeface="Archivo"/>
              </a:rPr>
              <a:t>E</a:t>
            </a:r>
            <a:r>
              <a:rPr sz="6600" b="1" i="1">
                <a:solidFill>
                  <a:srgbClr val="946D25"/>
                </a:solidFill>
                <a:latin typeface="Archivo"/>
              </a:rPr>
              <a:t>R</a:t>
            </a:r>
            <a:r>
              <a:rPr sz="6600" b="1" i="1">
                <a:solidFill>
                  <a:srgbClr val="9D7327"/>
                </a:solidFill>
                <a:latin typeface="Archivo"/>
              </a:rPr>
              <a:t>N</a:t>
            </a:r>
            <a:r>
              <a:rPr sz="6600" b="1" i="1">
                <a:solidFill>
                  <a:srgbClr val="A67928"/>
                </a:solidFill>
                <a:latin typeface="Archivo"/>
              </a:rPr>
              <a:t>I</a:t>
            </a:r>
            <a:r>
              <a:rPr sz="6600" b="1" i="1">
                <a:solidFill>
                  <a:srgbClr val="AF7F29"/>
                </a:solidFill>
                <a:latin typeface="Archivo"/>
              </a:rPr>
              <a:t>T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100" b="0" i="0">
                <a:solidFill>
                  <a:srgbClr val="FFFFFF"/>
                </a:solidFill>
                <a:latin typeface="Poppins"/>
              </a:rPr>
              <a:t>Toute civilisation tourne autour d'un moteur.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100" b="0" i="0">
                <a:solidFill>
                  <a:srgbClr val="FFFFFF"/>
                </a:solidFill>
                <a:latin typeface="Poppins"/>
              </a:rPr>
              <a:t>Le nôtre s'appelait la recherche de Son agrément.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100" b="0" i="0">
                <a:solidFill>
                  <a:srgbClr val="E3A94F"/>
                </a:solidFill>
                <a:latin typeface="Poppins"/>
              </a:rPr>
              <a:t>Celui qu'on nous a donné s'appelle l'accumulation.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5000" b="1" i="1">
                <a:solidFill>
                  <a:srgbClr val="FFFFFF"/>
                </a:solidFill>
                <a:latin typeface="Archivo"/>
              </a:rPr>
              <a:t>NOUS, LE BUT, C'EST LE RIḌĀ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100" b="0" i="0">
                <a:solidFill>
                  <a:srgbClr val="FFFFFF"/>
                </a:solidFill>
                <a:latin typeface="Poppins"/>
              </a:rPr>
              <a:t>Le commerce est un des chemins qui y mènent.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100" b="0" i="0">
                <a:solidFill>
                  <a:srgbClr val="FFFFFF"/>
                </a:solidFill>
                <a:latin typeface="Poppins"/>
              </a:rPr>
              <a:t>L'argent est un moyen puissant d'y avancer.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100" b="0" i="0">
                <a:solidFill>
                  <a:srgbClr val="E3A94F"/>
                </a:solidFill>
                <a:latin typeface="Poppins"/>
              </a:rPr>
              <a:t>Ce n'est pas un renoncement. C'est un changement de rang.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5000" b="1" i="1">
                <a:solidFill>
                  <a:srgbClr val="FFFFFF"/>
                </a:solidFill>
                <a:latin typeface="Archivo"/>
              </a:rPr>
              <a:t>CE QUI TE MANQUE N'EST PAS CE QUE TU CROIS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Tu penses qu'il te manque une compétence métier.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Presque jamais.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Oswald"/>
              </a:rPr>
              <a:t>L'EXPERTISE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9200"/>
            <a:ext cx="6985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Elle est propre à ton métier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Le couscous, le béton, le code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C'est souvent ce que tu maîtrises le mieux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Elle ne suffit jamais à elle seule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57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A94F"/>
                </a:solidFill>
                <a:latin typeface="Oswald"/>
              </a:rPr>
              <a:t>LES COMPÉTENCES TRANSVERSALES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5700" y="2489200"/>
            <a:ext cx="6985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57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Elles servent quel que soit le métier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Vendre, se faire connaître, décider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C'est presque toujours ce qui bloque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Elles ne dépendent d'aucun secteur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0" y="3048000"/>
            <a:ext cx="1016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500" b="1" i="1">
                <a:solidFill>
                  <a:srgbClr val="FFFFFF"/>
                </a:solidFill>
                <a:latin typeface="Archivo"/>
              </a:rPr>
              <a:t>→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Le meilleur pâtissier du quartier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peut fermer boutique.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Ce n'est pas la pâtisserie qui l'a tué.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QUATRE COMPÉTENCES, QUEL QUE SOIT TON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1. Le marketing digital — être trouvé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2. La vente — être choisi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3. Le dîn — connaître les règles du jeu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4. L'IA — augmenter ta portée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Et les quatre changent de nature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selon le paradigme qui les tient.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884170"/>
            <a:ext cx="1117600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8500" y="2884170"/>
            <a:ext cx="1079500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1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.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 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L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E</a:t>
            </a:r>
            <a:r>
              <a:rPr sz="6600" b="1" i="1">
                <a:solidFill>
                  <a:srgbClr val="141413"/>
                </a:solidFill>
                <a:latin typeface="Archivo"/>
              </a:rPr>
              <a:t> </a:t>
            </a:r>
            <a:r>
              <a:rPr sz="6600" b="1" i="1">
                <a:solidFill>
                  <a:srgbClr val="1E1A14"/>
                </a:solidFill>
                <a:latin typeface="Archivo"/>
              </a:rPr>
              <a:t>M</a:t>
            </a:r>
            <a:r>
              <a:rPr sz="6600" b="1" i="1">
                <a:solidFill>
                  <a:srgbClr val="272116"/>
                </a:solidFill>
                <a:latin typeface="Archivo"/>
              </a:rPr>
              <a:t>A</a:t>
            </a:r>
            <a:r>
              <a:rPr sz="6600" b="1" i="1">
                <a:solidFill>
                  <a:srgbClr val="312817"/>
                </a:solidFill>
                <a:latin typeface="Archivo"/>
              </a:rPr>
              <a:t>R</a:t>
            </a:r>
            <a:r>
              <a:rPr sz="6600" b="1" i="1">
                <a:solidFill>
                  <a:srgbClr val="3B2E18"/>
                </a:solidFill>
                <a:latin typeface="Archivo"/>
              </a:rPr>
              <a:t>K</a:t>
            </a:r>
            <a:r>
              <a:rPr sz="6600" b="1" i="1">
                <a:solidFill>
                  <a:srgbClr val="44351A"/>
                </a:solidFill>
                <a:latin typeface="Archivo"/>
              </a:rPr>
              <a:t>E</a:t>
            </a:r>
            <a:r>
              <a:rPr sz="6600" b="1" i="1">
                <a:solidFill>
                  <a:srgbClr val="4E3C1B"/>
                </a:solidFill>
                <a:latin typeface="Archivo"/>
              </a:rPr>
              <a:t>T</a:t>
            </a:r>
            <a:r>
              <a:rPr sz="6600" b="1" i="1">
                <a:solidFill>
                  <a:srgbClr val="57421D"/>
                </a:solidFill>
                <a:latin typeface="Archivo"/>
              </a:rPr>
              <a:t>I</a:t>
            </a:r>
            <a:r>
              <a:rPr sz="6600" b="1" i="1">
                <a:solidFill>
                  <a:srgbClr val="61491E"/>
                </a:solidFill>
                <a:latin typeface="Archivo"/>
              </a:rPr>
              <a:t>N</a:t>
            </a:r>
            <a:r>
              <a:rPr sz="6600" b="1" i="1">
                <a:solidFill>
                  <a:srgbClr val="6B501F"/>
                </a:solidFill>
                <a:latin typeface="Archivo"/>
              </a:rPr>
              <a:t>G</a:t>
            </a:r>
            <a:r>
              <a:rPr sz="6600" b="1" i="1">
                <a:solidFill>
                  <a:srgbClr val="745721"/>
                </a:solidFill>
                <a:latin typeface="Archivo"/>
              </a:rPr>
              <a:t> </a:t>
            </a:r>
            <a:r>
              <a:rPr sz="6600" b="1" i="1">
                <a:solidFill>
                  <a:srgbClr val="7E5D22"/>
                </a:solidFill>
                <a:latin typeface="Archivo"/>
              </a:rPr>
              <a:t>D</a:t>
            </a:r>
            <a:r>
              <a:rPr sz="6600" b="1" i="1">
                <a:solidFill>
                  <a:srgbClr val="876424"/>
                </a:solidFill>
                <a:latin typeface="Archivo"/>
              </a:rPr>
              <a:t>I</a:t>
            </a:r>
            <a:r>
              <a:rPr sz="6600" b="1" i="1">
                <a:solidFill>
                  <a:srgbClr val="916B25"/>
                </a:solidFill>
                <a:latin typeface="Archivo"/>
              </a:rPr>
              <a:t>G</a:t>
            </a:r>
            <a:r>
              <a:rPr sz="6600" b="1" i="1">
                <a:solidFill>
                  <a:srgbClr val="9B7126"/>
                </a:solidFill>
                <a:latin typeface="Archivo"/>
              </a:rPr>
              <a:t>I</a:t>
            </a:r>
            <a:r>
              <a:rPr sz="6600" b="1" i="1">
                <a:solidFill>
                  <a:srgbClr val="A47828"/>
                </a:solidFill>
                <a:latin typeface="Archivo"/>
              </a:rPr>
              <a:t>T</a:t>
            </a:r>
            <a:r>
              <a:rPr sz="6600" b="1" i="1">
                <a:solidFill>
                  <a:srgbClr val="AE7F29"/>
                </a:solidFill>
                <a:latin typeface="Archivo"/>
              </a:rPr>
              <a:t>A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Le monde où tu vends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est déjà numérique.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Que ça te plaise ou non.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CE QUI SE PASSE QUAND TU NE PARLES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Ton client cherche ton métier, et il trouve quelqu'un d'autre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Ton concurrent explique ce qu'est un bon produit — et c'est le sien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Celui qui parle le plus fort devient la référence, même s'il est moins bon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Ne pas communiquer, c'est aussi communiquer.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« Je ne veux pas me mettre en avant. »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Vérifie que c'est de l'humilité,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et pas une peur qui a trouvé un joli nom.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ORIENTÉ PAR LE BON PARADIGME, ÇA DONNE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La légitimité vient de l'expertise, pas de la capacité à convaincre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Ne pas tout montrer pour se faire connaître — le principe du voile s'applique ici aussi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Une promesse vraie ET adaptée au palier de celui qui l'écoute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On se rend trouvable. On ne se transforme pas en produit.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85440" y="2884170"/>
            <a:ext cx="642112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75940" y="2884170"/>
            <a:ext cx="604012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2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.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 </a:t>
            </a:r>
            <a:r>
              <a:rPr sz="6600" b="1" i="1">
                <a:solidFill>
                  <a:srgbClr val="231E15"/>
                </a:solidFill>
                <a:latin typeface="Archivo"/>
              </a:rPr>
              <a:t>L</a:t>
            </a:r>
            <a:r>
              <a:rPr sz="6600" b="1" i="1">
                <a:solidFill>
                  <a:srgbClr val="392D18"/>
                </a:solidFill>
                <a:latin typeface="Archivo"/>
              </a:rPr>
              <a:t>A</a:t>
            </a:r>
            <a:r>
              <a:rPr sz="6600" b="1" i="1">
                <a:solidFill>
                  <a:srgbClr val="4E3C1B"/>
                </a:solidFill>
                <a:latin typeface="Archivo"/>
              </a:rPr>
              <a:t> </a:t>
            </a:r>
            <a:r>
              <a:rPr sz="6600" b="1" i="1">
                <a:solidFill>
                  <a:srgbClr val="634B1E"/>
                </a:solidFill>
                <a:latin typeface="Archivo"/>
              </a:rPr>
              <a:t>V</a:t>
            </a:r>
            <a:r>
              <a:rPr sz="6600" b="1" i="1">
                <a:solidFill>
                  <a:srgbClr val="785921"/>
                </a:solidFill>
                <a:latin typeface="Archivo"/>
              </a:rPr>
              <a:t>E</a:t>
            </a:r>
            <a:r>
              <a:rPr sz="6600" b="1" i="1">
                <a:solidFill>
                  <a:srgbClr val="8D6824"/>
                </a:solidFill>
                <a:latin typeface="Archivo"/>
              </a:rPr>
              <a:t>N</a:t>
            </a:r>
            <a:r>
              <a:rPr sz="6600" b="1" i="1">
                <a:solidFill>
                  <a:srgbClr val="A27727"/>
                </a:solidFill>
                <a:latin typeface="Archivo"/>
              </a:rPr>
              <a:t>T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Il faut qu'on parle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de ce mot qui te dérange.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CE QU'ON SE DIT TOUS, PLUS OU MOINS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« Vendre, c'est forcer la main »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« Si le produit est bon, il se vend tout seul »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« Je ne veux pas être ce commercial-là »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Et pendant ce temps, personne n'achète.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La manipulation, c'est de faire faire à quelqu'un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ce qui te sert à toi.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Ce n'est pas la même chose que convaincre.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100" b="0" i="0">
                <a:solidFill>
                  <a:srgbClr val="FFFFFF"/>
                </a:solidFill>
                <a:latin typeface="Poppins"/>
              </a:rPr>
              <a:t>Si tu es convaincu que ton offre aide vraiment la personne en face,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100" b="0" i="0">
                <a:solidFill>
                  <a:srgbClr val="FFFFFF"/>
                </a:solidFill>
                <a:latin typeface="Poppins"/>
              </a:rPr>
              <a:t>ne rien faire pour l'aider à franchir le pas,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100" b="0" i="0">
                <a:solidFill>
                  <a:srgbClr val="E3A94F"/>
                </a:solidFill>
                <a:latin typeface="Poppins"/>
              </a:rPr>
              <a:t>ce n'est pas de la délicatesse. C'est une trahison par timidité.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DEUX QUESTIONS, AVANT CHAQUE MÉCANIQUE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1. Est-ce que c'est vrai ?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2. Est-ce que ça sert vraiment cette personne-là ?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Deux oui : tu peux pousser fort. Un seul non : on jette.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88360" y="2884170"/>
            <a:ext cx="5415280" cy="108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78860" y="2884170"/>
            <a:ext cx="5034280" cy="1089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 i="1">
                <a:solidFill>
                  <a:srgbClr val="131313"/>
                </a:solidFill>
                <a:latin typeface="Archivo"/>
              </a:rPr>
              <a:t>3</a:t>
            </a:r>
            <a:r>
              <a:rPr sz="6600" b="1" i="1">
                <a:solidFill>
                  <a:srgbClr val="131313"/>
                </a:solidFill>
                <a:latin typeface="Archivo"/>
              </a:rPr>
              <a:t>.</a:t>
            </a:r>
            <a:r>
              <a:rPr sz="6600" b="1" i="1">
                <a:solidFill>
                  <a:srgbClr val="191713"/>
                </a:solidFill>
                <a:latin typeface="Archivo"/>
              </a:rPr>
              <a:t> </a:t>
            </a:r>
            <a:r>
              <a:rPr sz="6600" b="1" i="1">
                <a:solidFill>
                  <a:srgbClr val="332917"/>
                </a:solidFill>
                <a:latin typeface="Archivo"/>
              </a:rPr>
              <a:t>L</a:t>
            </a:r>
            <a:r>
              <a:rPr sz="6600" b="1" i="1">
                <a:solidFill>
                  <a:srgbClr val="4E3C1B"/>
                </a:solidFill>
                <a:latin typeface="Archivo"/>
              </a:rPr>
              <a:t>E</a:t>
            </a:r>
            <a:r>
              <a:rPr sz="6600" b="1" i="1">
                <a:solidFill>
                  <a:srgbClr val="684E1F"/>
                </a:solidFill>
                <a:latin typeface="Archivo"/>
              </a:rPr>
              <a:t> </a:t>
            </a:r>
            <a:r>
              <a:rPr sz="6600" b="1" i="1">
                <a:solidFill>
                  <a:srgbClr val="836123"/>
                </a:solidFill>
                <a:latin typeface="Archivo"/>
              </a:rPr>
              <a:t>D</a:t>
            </a:r>
            <a:r>
              <a:rPr sz="6600" b="1" i="1">
                <a:solidFill>
                  <a:srgbClr val="9D7327"/>
                </a:solidFill>
                <a:latin typeface="Archivo"/>
              </a:rPr>
              <a:t>Î</a:t>
            </a:r>
            <a:r>
              <a:rPr sz="6600" b="1" i="1">
                <a:solidFill>
                  <a:srgbClr val="B8862B"/>
                </a:solidFill>
                <a:latin typeface="Archivo"/>
              </a:rPr>
              <a:t>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Les règles du jeu.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Pas un supplément d'âme :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une compétence technique.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CE QU'UN ENTREPRENEUR DEVRAIT SAVOIR NOMMER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Le gharar — l'aléa, ce que ton client ne peut pas évaluer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Le tadlîs — dissimuler le défaut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Le ghubn — le déséquilibre excessif, même consenti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L'iqāla — défaire une vente à la demande de celui qui regrette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Tu n'as pas besoin d'être savant.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Tu as besoin de savoir à qui demander,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et de savoir que la question existe.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5000" b="1" i="1">
                <a:solidFill>
                  <a:srgbClr val="FFFFFF"/>
                </a:solidFill>
                <a:latin typeface="Archivo"/>
              </a:rPr>
              <a:t>4. L'INTELLIGENCE ARTIFICIELLE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Un outil donne de la vitesse.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Pas une direction.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Et un outil sans direction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t'emmène simplement plus vite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là où tu ne voulais pas aller.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Oswald"/>
              </a:rPr>
              <a:t>ÉTEINDRE SON CERVEAU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9200"/>
            <a:ext cx="6985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Tu demandes quoi penser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Tu ne sais plus pourquoi tu fais ce que tu fais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Ton jugement se déplace dans la machine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C'est le levier de l'aveuglement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5700" y="1524000"/>
            <a:ext cx="5143500" cy="82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A94F"/>
                </a:solidFill>
                <a:latin typeface="Oswald"/>
              </a:rPr>
              <a:t>AUGMENTER SA PORTÉE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5700" y="2489200"/>
            <a:ext cx="6985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5700" y="2794000"/>
            <a:ext cx="5143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Tu sais ce que tu veux dire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Elle te fait aller dix fois plus vite pour le dire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Ton jugement reste chez toi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FCFCF"/>
                </a:solidFill>
                <a:latin typeface="Poppins"/>
              </a:rPr>
              <a:t>C'est le levier de l'impact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0" y="3048000"/>
            <a:ext cx="1016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500" b="1" i="1">
                <a:solidFill>
                  <a:srgbClr val="FFFFFF"/>
                </a:solidFill>
                <a:latin typeface="Archivo"/>
              </a:rPr>
              <a:t>→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Le risque n'est pas qu'elle écrive à ta place.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C'est qu'elle décide à ta place.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1">
                <a:solidFill>
                  <a:srgbClr val="FFFFFF"/>
                </a:solidFill>
                <a:latin typeface="Archivo"/>
              </a:rPr>
              <a:t>CE QU'ELLE FAIT VRAIMENT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879600"/>
            <a:ext cx="1143000" cy="25400"/>
          </a:xfrm>
          <a:prstGeom prst="rect">
            <a:avLst/>
          </a:prstGeom>
          <a:solidFill>
            <a:srgbClr val="E3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222500"/>
            <a:ext cx="10566400" cy="382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Elle t'oblige à formuler — et formuler est le travail que la plupart évitent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Elle produit du générique, donc elle rend ton point de vue plus précieux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FFFFFF"/>
                </a:solidFill>
                <a:latin typeface="Poppins"/>
              </a:rPr>
              <a:t>Elle exécute pendant que tu réfléchis, jamais l'inverse</a:t>
            </a:r>
          </a:p>
          <a:p>
            <a:pPr algn="l">
              <a:lnSpc>
                <a:spcPct val="142000"/>
              </a:lnSpc>
              <a:spcAft>
                <a:spcPts val="900"/>
              </a:spcAft>
            </a:pPr>
            <a:r>
              <a:rPr sz="1850" b="0" i="0">
                <a:solidFill>
                  <a:srgbClr val="E3A94F"/>
                </a:solidFill>
                <a:latin typeface="Poppins"/>
              </a:rPr>
              <a:t>👉 Et elle fabrique aussi de la fausse preuve. La frontière avec le tadlîs est à un clic.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566400" cy="523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Six axes pour le cap.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FFFFFF"/>
                </a:solidFill>
                <a:latin typeface="Poppins"/>
              </a:rPr>
              <a:t>Quatre compétences pour avancer.</a:t>
            </a:r>
          </a:p>
          <a:p>
            <a:pPr algn="ctr">
              <a:lnSpc>
                <a:spcPct val="134000"/>
              </a:lnSpc>
              <a:spcAft>
                <a:spcPts val="900"/>
              </a:spcAft>
            </a:pPr>
            <a:r>
              <a:rPr sz="2600" b="0" i="0">
                <a:solidFill>
                  <a:srgbClr val="E3A94F"/>
                </a:solidFill>
                <a:latin typeface="Poppins"/>
              </a:rPr>
              <a:t>Reste à savoir dans quel ordre.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